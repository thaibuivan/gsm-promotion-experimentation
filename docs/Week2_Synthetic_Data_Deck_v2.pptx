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Báo Cáo Kỹ Thuật: Quy Trình Sinh Dữ Liệu Giả Lập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560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00B4D8"/>
                </a:solidFill>
              </a:rPr>
              <a:t>Synthetic Data Design &amp; Structural Causal Model (SCM)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8E0F4"/>
                </a:solidFill>
              </a:rPr>
              <a:t>Dự án: GSM Promotion Experimentation  |  Tuần 2  |  Intern: Data Science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01  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22960"/>
            <a:ext cx="5303520" cy="539496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❓ Vấn đề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>
                <a:solidFill>
                  <a:srgbClr val="C8E0F4"/>
                </a:solidFill>
              </a:rPr>
              <a:t>• Dữ liệu quan sát (Observational Data) chứa Biến Nhiễu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Giờ cao điểm → ít phát Voucher nhưng khách vẫn đi nhiều</a:t>
            </a:r>
          </a:p>
          <a:p>
            <a:pPr lvl="1"/>
            <a:r>
              <a:rPr sz="1300">
                <a:solidFill>
                  <a:srgbClr val="FF9F1C"/>
                </a:solidFill>
              </a:rPr>
              <a:t>  - → Gây ra Spurious Correlation (Tương quan ảo)</a:t>
            </a:r>
          </a:p>
          <a:p>
            <a:pPr/>
            <a:r>
              <a:rPr sz="1400">
                <a:solidFill>
                  <a:srgbClr val="C8E0F4"/>
                </a:solidFill>
              </a:rPr>
              <a:t>• Không thể đo True ITE từ dữ liệu thực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Một người không thể vừa nhận vừa không nhận Voucher cùng lúc</a:t>
            </a:r>
          </a:p>
          <a:p>
            <a:pPr lvl="1"/>
            <a:r>
              <a:rPr sz="1300">
                <a:solidFill>
                  <a:srgbClr val="FF9F1C"/>
                </a:solidFill>
              </a:rPr>
              <a:t>  - → Fundamental Problem of Causal Inference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822960"/>
            <a:ext cx="5394960" cy="539496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868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D6A0"/>
                </a:solidFill>
              </a:rPr>
              <a:t>✅ Giải pháp: Structural Causal Model (SCM)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37160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>
                <a:solidFill>
                  <a:srgbClr val="C8E0F4"/>
                </a:solidFill>
              </a:rPr>
              <a:t>• Mô phỏng 20,000 khách hàng với Raw Features thực tế</a:t>
            </a:r>
          </a:p>
          <a:p>
            <a:pPr/>
            <a:r>
              <a:rPr sz="1400">
                <a:solidFill>
                  <a:srgbClr val="C8E0F4"/>
                </a:solidFill>
              </a:rPr>
              <a:t>• Lập trình cứng (Hardcode) True ITE vào dữ liệu</a:t>
            </a:r>
          </a:p>
          <a:p>
            <a:pPr lvl="1"/>
            <a:r>
              <a:rPr sz="1300">
                <a:solidFill>
                  <a:srgbClr val="06D6A0"/>
                </a:solidFill>
              </a:rPr>
              <a:t>  - → Môi trường kiểm thử chuẩn mực cho A/B Testing</a:t>
            </a:r>
          </a:p>
          <a:p>
            <a:pPr/>
            <a:r>
              <a:rPr sz="1400">
                <a:solidFill>
                  <a:srgbClr val="C8E0F4"/>
                </a:solidFill>
              </a:rPr>
              <a:t>• 3 thành phần thiết kế cốt lõi: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① Mô phỏng đặc điểm hành vi (Raw Features)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② Tích hợp Biến Nhiễu (Confounders)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③ Thiết lập Hiệu ứng Dị thể (HTE) theo Luật Nhân quả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20,000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Khách hàng mô phỏng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7258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7258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8698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8698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Raw Features thiết kế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4476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94476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85916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85916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Biến Kết quả (y_obs, y_rand)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81694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81694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3134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3134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Ground Truth (true_ite)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2_complex_data_generation.ipynb 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Cell 1-2: Import &amp; Tổng quan kiến trúc SCM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02  Mô Phỏng Hành Vi Khách Hàng (DGP)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8E0F4"/>
                </a:solidFill>
              </a:rPr>
              <a:t>Behavioral Proxies — không cần khai báo nhân khẩu học thực tế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97280"/>
            <a:ext cx="3017520" cy="41148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59" y="1115568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Tên biến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1097280"/>
            <a:ext cx="3108960" cy="41148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39" y="111556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Phân phối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097280"/>
            <a:ext cx="5029200" cy="41148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12280" y="1115568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Ý nghĩa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536192"/>
            <a:ext cx="301752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0" y="1536192"/>
            <a:ext cx="310896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766560" y="1536192"/>
            <a:ext cx="502920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159105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is_urban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159105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Bernoulli (p=0.7)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39712" y="159105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70% nội thành / 30% ngoại 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130552"/>
            <a:ext cx="301752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74720" y="2130552"/>
            <a:ext cx="310896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66560" y="2130552"/>
            <a:ext cx="502920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218541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fare_obs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2" y="218541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Log-normal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9712" y="218541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Proxy cho Thu nhập. Cuốc sân bay ×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2724912"/>
            <a:ext cx="301752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74720" y="2724912"/>
            <a:ext cx="310896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766560" y="2724912"/>
            <a:ext cx="502920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" y="277977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is_airport_trip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47872" y="277977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Bernoulli (p=0.05)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39712" y="277977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5% khách. Tự động nhân cước × 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319272"/>
            <a:ext cx="301752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74720" y="3319272"/>
            <a:ext cx="310896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66560" y="3319272"/>
            <a:ext cx="502920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3192" y="337413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is_rush_hour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47872" y="337413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Phái sinh từ preferred_hour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337413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Đi làm giờ 7-9h &amp; 17-19h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3913632"/>
            <a:ext cx="301752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74720" y="3913632"/>
            <a:ext cx="310896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766560" y="3913632"/>
            <a:ext cx="502920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3192" y="396849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preferred_hour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47872" y="396849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Weighted Prob (EDA T1)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96849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Đỉnh chóp vào giờ cao điểm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4507992"/>
            <a:ext cx="301752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474720" y="4507992"/>
            <a:ext cx="310896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766560" y="4507992"/>
            <a:ext cx="502920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3192" y="4562855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is_rain_rider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47872" y="4562855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Bernoulli (p=0.20)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4562855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Thích đi trời mưa → nhu cầu cao bất thường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5102352"/>
            <a:ext cx="301752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474720" y="5102352"/>
            <a:ext cx="310896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766560" y="5102352"/>
            <a:ext cx="502920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93192" y="515721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recency_days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47872" y="515721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Poisson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9712" y="515721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Số ngày kể từ lần cuối đặt xe (0-30)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5696712"/>
            <a:ext cx="301752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474720" y="5696712"/>
            <a:ext cx="310896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766560" y="5696712"/>
            <a:ext cx="502920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93192" y="5751575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monthly_rides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47872" y="5751575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Poisson (tuỳ income &amp; age)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39712" y="5751575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Tần suất đi xe tháng trước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2_complex_data_generation.ipynb  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Cell 3: UserSimulator.__init__() — xem phần phân phối từng biến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03  Tích Hợp Biến Nhiễu (Confounders)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8E0F4"/>
                </a:solidFill>
              </a:rPr>
              <a:t>Biến Nhiễu = Yếu tố tác động ĐỒNG THỜI lên Treatment (phát Voucher) VÀ Outcome (số chuyến)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77724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15568"/>
            <a:ext cx="111556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Nếu KHÔNG có Biến Nhiễu: Dữ liệu quá 'sạch' → Mô hình Uplift học không ra gì.
Nếu CÓ Biến Nhiễu: Dữ liệu phức tạp y hệt đời thực → Kiểm tra được độ chính xác của Model.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965960"/>
            <a:ext cx="5486400" cy="420624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🌆  is_rush_hour (Nhu cầu theo Giờ)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Treatment ↓: Giờ cao điểm → App CẮT Voucher (tài xế khan hiếm)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Outcome ↑: Khách vẫn PHẢI đi làm dù không có mã giảm</a:t>
            </a:r>
          </a:p>
          <a:p>
            <a:pPr/>
            <a:r>
              <a:rPr sz="1300">
                <a:solidFill>
                  <a:srgbClr val="FF9F1C"/>
                </a:solidFill>
              </a:rPr>
              <a:t>• Hậu quả nếu không kiểm soát:</a:t>
            </a:r>
          </a:p>
          <a:p>
            <a:pPr lvl="1"/>
            <a:r>
              <a:rPr sz="1300">
                <a:solidFill>
                  <a:srgbClr val="FF4D6D"/>
                </a:solidFill>
              </a:rPr>
              <a:t>  - Model nghĩ: 'Không Voucher → nhiều chuyến hơn' (NGƯỢC hoàn toàn!)</a:t>
            </a:r>
          </a:p>
          <a:p>
            <a:pPr/>
            <a:r>
              <a:rPr sz="1300">
                <a:solidFill>
                  <a:srgbClr val="00B4D8"/>
                </a:solidFill>
              </a:rPr>
              <a:t>• Cách xử lý trong thí nghiệm:</a:t>
            </a:r>
          </a:p>
          <a:p>
            <a:pPr lvl="1"/>
            <a:r>
              <a:rPr sz="1300">
                <a:solidFill>
                  <a:srgbClr val="06D6A0"/>
                </a:solidFill>
              </a:rPr>
              <a:t>  - Randomize (A/B Test) loại bỏ ảnh hưởng này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965960"/>
            <a:ext cx="5486400" cy="420624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01168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🌧️  is_rain_rider (Cú sốc Thời tiết)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4688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Treatment ↓: Trời mưa → nền tảng TẮT Voucher (surge pricing)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Outcome ↑: Nhu cầu đặt xe tăng đột biến vì mưa</a:t>
            </a:r>
          </a:p>
          <a:p>
            <a:pPr/>
            <a:r>
              <a:rPr sz="1300">
                <a:solidFill>
                  <a:srgbClr val="FF9F1C"/>
                </a:solidFill>
              </a:rPr>
              <a:t>• Hậu quả nếu không kiểm soát:</a:t>
            </a:r>
          </a:p>
          <a:p>
            <a:pPr lvl="1"/>
            <a:r>
              <a:rPr sz="1300">
                <a:solidFill>
                  <a:srgbClr val="FF4D6D"/>
                </a:solidFill>
              </a:rPr>
              <a:t>  - Thấy 'Ít Voucher → đi xe nhiều' → Rút kết luận SAI</a:t>
            </a:r>
          </a:p>
          <a:p>
            <a:pPr/>
            <a:r>
              <a:rPr sz="1300">
                <a:solidFill>
                  <a:srgbClr val="00B4D8"/>
                </a:solidFill>
              </a:rPr>
              <a:t>• Cách xử lý trong thí nghiệm:</a:t>
            </a:r>
          </a:p>
          <a:p>
            <a:pPr lvl="1"/>
            <a:r>
              <a:rPr sz="1300">
                <a:solidFill>
                  <a:srgbClr val="06D6A0"/>
                </a:solidFill>
              </a:rPr>
              <a:t>  - Đưa is_rain_rider vào làm Covariate trong mô hình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20%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Tỷ lệ Rain Riders trong dataset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7258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7258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8698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8698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Tỷ lệ Airport Business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4476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4476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~30%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5916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Tỷ lệ ngoại ô (Persuadables chính)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1694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1694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73134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~45%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3134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Rush Hour users (Sure-things chính)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2_complex_data_generation.ipynb 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Cell 4: _inject_confounders() — biến nhiễu tác động lên treatment_obs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04  Thiết Lập Hiệu Ứng Dị Thể (HTE)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685800"/>
            <a:ext cx="11548872" cy="77724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9F1C"/>
                </a:solidFill>
              </a:rPr>
              <a:t>ITE = 2.0 (Base)  −  1.5 × is_airport  −  1.0 × is_rush_hour  +  1.0 × (1 − is_urban)  +  0.5 × is_rain_rider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572768"/>
            <a:ext cx="5486400" cy="4617720"/>
          </a:xfrm>
          <a:prstGeom prst="rect">
            <a:avLst/>
          </a:prstGeom>
          <a:solidFill>
            <a:srgbClr val="2A1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1848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4D6D"/>
                </a:solidFill>
              </a:rPr>
              <a:t>🔴  Nhóm Kháng Sale (Sure-things)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5212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Airport Business  →  ITE ≈ +0.5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Khách ra sân bay bắt buộc phải đi</a:t>
            </a:r>
          </a:p>
          <a:p>
            <a:pPr lvl="1"/>
            <a:r>
              <a:rPr sz="1300">
                <a:solidFill>
                  <a:srgbClr val="FF4D6D"/>
                </a:solidFill>
              </a:rPr>
              <a:t>  - Voucher là tiền vứt qua cửa sổ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Urban Cash (Rush Hour)  →  ITE ≈ +1.0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Đi làm hàng ngày, dù không có mã vẫn đi</a:t>
            </a:r>
          </a:p>
          <a:p>
            <a:pPr lvl="1"/>
            <a:r>
              <a:rPr sz="1300">
                <a:solidFill>
                  <a:srgbClr val="FF4D6D"/>
                </a:solidFill>
              </a:rPr>
              <a:t>  - Cannibalization Effect cực cao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Rain Riders  →  ITE ≈ +1.5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Nhu cầu phát sinh từ thời tiết, không phải giá</a:t>
            </a:r>
          </a:p>
          <a:p>
            <a:pPr lvl="1"/>
            <a:r>
              <a:rPr sz="1300">
                <a:solidFill>
                  <a:srgbClr val="FF4D6D"/>
                </a:solidFill>
              </a:rPr>
              <a:t>  - Tặng Voucher không kích thêm được chuyến</a:t>
            </a:r>
          </a:p>
        </p:txBody>
      </p:sp>
      <p:sp>
        <p:nvSpPr>
          <p:cNvPr id="9" name="Rectangle 8"/>
          <p:cNvSpPr/>
          <p:nvPr/>
        </p:nvSpPr>
        <p:spPr>
          <a:xfrm>
            <a:off x="6382512" y="1572768"/>
            <a:ext cx="5486400" cy="4617720"/>
          </a:xfrm>
          <a:prstGeom prst="rect">
            <a:avLst/>
          </a:prstGeom>
          <a:solidFill>
            <a:srgbClr val="082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61848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D6A0"/>
                </a:solidFill>
              </a:rPr>
              <a:t>🟢  Nhóm Nhạy Cảm Giá (Persuadables)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2103120"/>
            <a:ext cx="5212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Suburban Occasionals  →  ITE ≈ +3.0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Khách ngoại ô, ít đi xe vì không có mã</a:t>
            </a:r>
          </a:p>
          <a:p>
            <a:pPr lvl="1"/>
            <a:r>
              <a:rPr sz="1300">
                <a:solidFill>
                  <a:srgbClr val="06D6A0"/>
                </a:solidFill>
              </a:rPr>
              <a:t>  - Voucher thực sự kéo họ ra đường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Urban Credit Card  →  ITE ≈ +2.5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Khách đi chơi cuối tuần, nhạy cảm với giá</a:t>
            </a:r>
          </a:p>
          <a:p>
            <a:pPr lvl="1"/>
            <a:r>
              <a:rPr sz="1300">
                <a:solidFill>
                  <a:srgbClr val="06D6A0"/>
                </a:solidFill>
              </a:rPr>
              <a:t>  - ROI dương trong kết quả A/B Test</a:t>
            </a:r>
          </a:p>
          <a:p>
            <a:pPr/>
            <a:r>
              <a:rPr sz="1300">
                <a:solidFill>
                  <a:srgbClr val="00B4D8"/>
                </a:solidFill>
              </a:rPr>
              <a:t>• → Voucher đúng là kích thích hành vi của nhóm này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79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ITE = +0.5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Airport Business (kháng cao nhất)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7258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7258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8698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ITE = +1.0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8698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Urban Cash (đi làm)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4476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94476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85916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ITE = +2.5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5916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Urban Credit Card (nhạy cảm giá)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81694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81694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3134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ITE = +3.0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3134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Suburban Occasionals (nhạy nhất)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2_complex_data_generation.ipynb 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Cell 5: _compute_ite() — phương trình Causal Rules + true_ite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05  Sinh Biến Kết Quả (Outcome Generation)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731520"/>
            <a:ext cx="5486400" cy="283464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① y_obs  — Môi trường Tự nhiên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5212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Số chuyến đi dựa HOÀN TOÀN vào đặc điểm khách hàng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Chưa có Voucher can thiệp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Bị nhiễu bởi treatment_obs (phát Voucher không ngẫu nhiên)</a:t>
            </a:r>
          </a:p>
          <a:p>
            <a:pPr/>
            <a:r>
              <a:rPr sz="1300">
                <a:solidFill>
                  <a:srgbClr val="FF9F1C"/>
                </a:solidFill>
              </a:rPr>
              <a:t>• Dùng để demo Simpson's Paradox / Selection Bias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731520"/>
            <a:ext cx="5486400" cy="283464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65392" y="777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D6A0"/>
                </a:solidFill>
              </a:rPr>
              <a:t>② y_rand  — Môi trường A/B Test (RCT)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392" y="1280160"/>
            <a:ext cx="5212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Tung đồng xu: 50% treatment_rand = 1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y_rand = y_obs + ITE × treatment  +  Poisson Noise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Poisson Distribution: đảm bảo số chuyến là số nguyên dương</a:t>
            </a:r>
          </a:p>
          <a:p>
            <a:pPr/>
            <a:r>
              <a:rPr sz="1300">
                <a:solidFill>
                  <a:srgbClr val="06D6A0"/>
                </a:solidFill>
              </a:rPr>
              <a:t>• → Tiêu chuẩn vàng để đánh giá Uplift Model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3703320"/>
            <a:ext cx="11548872" cy="141732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3749039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⭐  true_ite  — Ground Truth (Điểm cốt lõi của Synthetic Data)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251960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Là ITE thật sự của từng cá nhân — không bao giờ quan sát được trong dữ liệu thực</a:t>
            </a:r>
          </a:p>
          <a:p>
            <a:pPr/>
            <a:r>
              <a:rPr sz="1300">
                <a:solidFill>
                  <a:srgbClr val="06D6A0"/>
                </a:solidFill>
              </a:rPr>
              <a:t>• Lưu trữ trong dataset để kiểm chứng kết quả A/B Test: ROI thực tế vs. ITE thiết kế có khớp?</a:t>
            </a:r>
          </a:p>
          <a:p>
            <a:pPr/>
            <a:r>
              <a:rPr sz="1300">
                <a:solidFill>
                  <a:srgbClr val="FF9F1C"/>
                </a:solidFill>
              </a:rPr>
              <a:t>• → LỢI THẾ độc nhất của Synthetic Data: có thể validate toàn bộ pipeline thống kê!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y_obs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Môi trường quan sát (bị nhiễu)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7258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7258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8698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y_rand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8698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RCT: phân bổ Voucher ngẫu nhiên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4476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4476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true_ite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5916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Ground Truth ITE từng cá nhân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1694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1694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73134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Poisson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3134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Phân phối nhiễu ngẫu nhiên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2_complex_data_generation.ipynb 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Cell 6-7: generate_outcomes() + visualize_distributions()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06  Tính Liền Mạch Của Dự Án &amp; Hướng Tiếp Theo</a:t>
            </a:r>
          </a:p>
        </p:txBody>
      </p:sp>
      <p:sp>
        <p:nvSpPr>
          <p:cNvPr id="4" name="Rectangle 3"/>
          <p:cNvSpPr/>
          <p:nvPr/>
        </p:nvSpPr>
        <p:spPr>
          <a:xfrm>
            <a:off x="256032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9184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Tuần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Synthetic 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✔ Thiết kế SCM, gài luật HTE vào Raw Features, tạo Ground Truth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508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06040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79192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8CAA3"/>
                </a:solidFill>
              </a:rPr>
              <a:t>Tuần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9192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K-Means (5 cụm)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6040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97480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✔ K-Means tự tìm ra 5 nhóm phản ánh đúng quy luật HTE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18888" y="1508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56048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0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9F1C"/>
                </a:solidFill>
              </a:rPr>
              <a:t>Tuần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A/B Test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56048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47488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✔ ROI 5 nhóm khớp với luật nhân quả → Validate DGP thành công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8896" y="1508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06056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79208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E0F4"/>
                </a:solidFill>
              </a:rPr>
              <a:t>Tuần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AA Test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06056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97496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✔ Kiểm tra phân bổ ngẫu nhiên hợp lệ (AA Sanity Check)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18904" y="1508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56064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29216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6D6A0"/>
                </a:solidFill>
              </a:rPr>
              <a:t>Tuần 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9216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Báo cáo tổng kết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56064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47504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✔ Tổng hợp toàn bộ pipeline, chuẩn bị cho hướng nghiên cứu tiếp theo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5897880"/>
            <a:ext cx="11548872" cy="804672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943600"/>
            <a:ext cx="11155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Kết luận: Thiết kế DGP của Tuần 2 không phải sinh dữ liệu ngẫu nhiên — đây là một Phòng Thí Nghiệm Nhân Quả (Causal Laboratory) chuẩn mực, tạo nền tảng vững chắc cho A/B Testing và phân tích Causal Inference.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1_confounding_demo.ipynb  +  2_complex_data_generation.ipynb 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Chay tuan tu 2 notebooks de thay toan bo pipeline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