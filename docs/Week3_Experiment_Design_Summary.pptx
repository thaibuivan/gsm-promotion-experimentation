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3: EXPERIMENT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Thiết kế Thử nghiệm Kích hoạt Lại Khách hàng Ngủ đông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Bối cảnh &amp; Vấn đề (Rationale)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Nguy cơ Rời bỏ của Regular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Tệp Khách hàng Giá trị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Regular Users (4-6 chuyến/tháng) là tệp có giá trị nhất nhưng dễ rơi vào trạng thái "Ngủ đông" sau 5-10 ngày không mở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Vấn đề của Chiến dịch Cũ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Phát mã đại trà (Time-based) gây ra hiệu ứng Cannibalization (Tặng tiền cho người vốn đã định đặt xe).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Giải pháp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Chuyển sang nhắm mục tiêu theo phân khúc (User-segment-based) để tối ưu hóa ngân sách và đo lường Causal Effect.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Giả thuyết &amp; Estimand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Định lượng Tác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 thuyết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Gửi Push Notification kèm Voucher 15% sẽ phá vỡ "quán tính" của khách hàng, kích thích họ mở app và đặt xe trở lại.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ATE (Average Treatment Effect)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Sự chênh lệch số chuyến đi trung bình/user trong 14 ngày giữa nhóm nhận Voucher và nhóm Không nhận.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Tập Mục tiêu (Target Population)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Dựa trên PCA &amp;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Tiêu chí Chọn vào (Inclusion)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100">
                <a:solidFill>
                  <a:srgbClr val="FFFFFF"/>
                </a:solidFill>
              </a:rPr>
              <a:t>• Persona 1: Suburban Card (N=2,792)</a:t>
            </a:r>
          </a:p>
          <a:p>
            <a:r>
              <a:rPr lang="vi-VN" sz="1100">
                <a:solidFill>
                  <a:srgbClr val="FFFFFF"/>
                </a:solidFill>
              </a:rPr>
              <a:t>  ROI +20.7% | ATE +1.04 chuyến | P=6.6e-7</a:t>
            </a:r>
          </a:p>
          <a:p>
            <a:r>
              <a:rPr lang="vi-VN" sz="1100">
                <a:solidFill>
                  <a:srgbClr val="FFFFFF"/>
                </a:solidFill>
              </a:rPr>
              <a:t>  → Triển khai ngay (100% dùng thẻ)</a:t>
            </a:r>
          </a:p>
          <a:p>
            <a:endParaRPr lang="vi-VN" sz="1100">
              <a:solidFill>
                <a:srgbClr val="FFFFFF"/>
              </a:solidFill>
            </a:endParaRPr>
          </a:p>
          <a:p>
            <a:r>
              <a:rPr lang="vi-VN" sz="1100">
                <a:solidFill>
                  <a:srgbClr val="FFFFFF"/>
                </a:solidFill>
              </a:rPr>
              <a:t>• Persona 2: Suburban Cash (N=5,061)</a:t>
            </a:r>
          </a:p>
          <a:p>
            <a:r>
              <a:rPr lang="vi-VN" sz="1100">
                <a:solidFill>
                  <a:srgbClr val="FFFFFF"/>
                </a:solidFill>
              </a:rPr>
              <a:t>  ROI +24.7% | ATE +0.79 chuyến | P≈0</a:t>
            </a:r>
          </a:p>
          <a:p>
            <a:r>
              <a:rPr lang="vi-VN" sz="1100">
                <a:solidFill>
                  <a:srgbClr val="FFFFFF"/>
                </a:solidFill>
              </a:rPr>
              <a:t>  → Cần tích hợp Cash Payment trước</a:t>
            </a:r>
          </a:p>
          <a:p>
            <a:endParaRPr lang="vi-VN" sz="1100">
              <a:solidFill>
                <a:srgbClr val="FFFFFF"/>
              </a:solidFill>
            </a:endParaRPr>
          </a:p>
          <a:p>
            <a:r>
              <a:rPr lang="vi-VN" sz="1100">
                <a:solidFill>
                  <a:srgbClr val="FFFFFF"/>
                </a:solidFill>
              </a:rPr>
              <a:t>• Trạng thái ngủ đông: recency_days 5–14 ngày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Tiêu chí Loại trừ (Exclusion)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100">
                <a:solidFill>
                  <a:srgbClr val="FFFFFF"/>
                </a:solidFill>
              </a:rPr>
              <a:t>• Airport Business (ROI −18.0%)</a:t>
            </a:r>
          </a:p>
          <a:p>
            <a:r>
              <a:rPr lang="vi-VN" sz="1100">
                <a:solidFill>
                  <a:srgbClr val="FFFFFF"/>
                </a:solidFill>
              </a:rPr>
              <a:t>  Kháng Sale — chi phí Voucher không bù nổi</a:t>
            </a:r>
          </a:p>
          <a:p>
            <a:endParaRPr lang="vi-VN" sz="1100">
              <a:solidFill>
                <a:srgbClr val="FFFFFF"/>
              </a:solidFill>
            </a:endParaRPr>
          </a:p>
          <a:p>
            <a:r>
              <a:rPr lang="vi-VN" sz="1100">
                <a:solidFill>
                  <a:srgbClr val="FFFFFF"/>
                </a:solidFill>
              </a:rPr>
              <a:t>• Urban Regulars (ROI −40.7%)</a:t>
            </a:r>
          </a:p>
          <a:p>
            <a:r>
              <a:rPr lang="vi-VN" sz="1100">
                <a:solidFill>
                  <a:srgbClr val="FFFFFF"/>
                </a:solidFill>
              </a:rPr>
              <a:t>  Cannibalization — đằng nào họ cũng đi</a:t>
            </a:r>
          </a:p>
          <a:p>
            <a:endParaRPr lang="vi-VN" sz="1100">
              <a:solidFill>
                <a:srgbClr val="FFFFFF"/>
              </a:solidFill>
            </a:endParaRPr>
          </a:p>
          <a:p>
            <a:r>
              <a:rPr lang="vi-VN" sz="1100">
                <a:solidFill>
                  <a:srgbClr val="FFFFFF"/>
                </a:solidFill>
              </a:rPr>
              <a:t>• Rain Riders (ROI −38.9%)</a:t>
            </a:r>
          </a:p>
          <a:p>
            <a:r>
              <a:rPr lang="vi-VN" sz="1100">
                <a:solidFill>
                  <a:srgbClr val="FFFFFF"/>
                </a:solidFill>
              </a:rPr>
              <a:t>  Nhu cầu phụ thuộc thời tiết, không phải giá</a:t>
            </a:r>
          </a:p>
          <a:p>
            <a:endParaRPr lang="vi-VN" sz="1100">
              <a:solidFill>
                <a:srgbClr val="FFFFFF"/>
              </a:solidFill>
            </a:endParaRPr>
          </a:p>
          <a:p>
            <a:r>
              <a:rPr lang="vi-VN" sz="1100">
                <a:solidFill>
                  <a:srgbClr val="FFFFFF"/>
                </a:solidFill>
              </a:rPr>
              <a:t>• Đã nhận Voucher trong 14 ngày → Voucher Fatigue</a:t>
            </a:r>
          </a:p>
        </p:txBody>
      </p:sp>
      <p:pic>
        <p:nvPicPr>
          <p:cNvPr id="19" name="Picture 18" descr="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74520"/>
            <a:ext cx="4206240" cy="3198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Thiết kế Can thiệp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Treatment vs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Nhóm Can thiệp (Treatment)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Hệ thống gửi Push Notification cá nhân hóa.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Hiển thị In-app Banner nhắc nhở.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Tự động áp mã giảm 15% khi thanh toán.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Nhóm Đối chứng (Control)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nhận thông báo, không có Banner.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chạy bất kỳ chiến dịch nào song song để tránh lây nhiễm.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Hệ thống Chỉ số Đánh giá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Metrics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728708"/>
            <a:ext cx="3931920" cy="502920"/>
          </a:xfrm>
          <a:prstGeom prst="rect">
            <a:avLst/>
          </a:prstGeom>
          <a:noFill/>
        </p:spPr>
        <p:txBody>
          <a:bodyPr wrap="square" tIns="190500">
            <a:spAutoFit/>
          </a:bodyPr>
          <a:lstStyle/>
          <a:p>
            <a:r>
              <a:rPr dirty="0" err="1">
                <a:solidFill>
                  <a:srgbClr val="FFFFFF"/>
                </a:solidFill>
              </a:rPr>
              <a:t>Chỉ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số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Đánh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giá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Tổng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thể</a:t>
            </a:r>
            <a:r>
              <a:rPr dirty="0">
                <a:solidFill>
                  <a:srgbClr val="FFFFFF"/>
                </a:solidFill>
              </a:rPr>
              <a:t> (OEC)</a:t>
            </a:r>
          </a:p>
          <a:p>
            <a:r>
              <a:rPr dirty="0">
                <a:solidFill>
                  <a:srgbClr val="FFFFFF"/>
                </a:solidFill>
              </a:rPr>
              <a:t>• Absolute Uplift (ATE)</a:t>
            </a:r>
          </a:p>
          <a:p>
            <a:r>
              <a:rPr dirty="0">
                <a:solidFill>
                  <a:srgbClr val="FFFFFF"/>
                </a:solidFill>
              </a:rPr>
              <a:t>• Relative Uplift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146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dirty="0"/>
              <a:t>Incremental Rides (Số chuyến tăng thêm / User / 14 ngày)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728708"/>
            <a:ext cx="3931920" cy="502920"/>
          </a:xfrm>
          <a:prstGeom prst="rect">
            <a:avLst/>
          </a:prstGeom>
          <a:noFill/>
        </p:spPr>
        <p:txBody>
          <a:bodyPr wrap="square" tIns="190500">
            <a:spAutoFit/>
          </a:bodyPr>
          <a:lstStyle/>
          <a:p>
            <a:r>
              <a:rPr dirty="0" err="1">
                <a:solidFill>
                  <a:srgbClr val="FFFFFF"/>
                </a:solidFill>
              </a:rPr>
              <a:t>Chỉ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số</a:t>
            </a:r>
            <a:r>
              <a:rPr dirty="0">
                <a:solidFill>
                  <a:srgbClr val="FFFFFF"/>
                </a:solidFill>
              </a:rPr>
              <a:t> Bảo </a:t>
            </a:r>
            <a:r>
              <a:rPr dirty="0" err="1">
                <a:solidFill>
                  <a:srgbClr val="FFFFFF"/>
                </a:solidFill>
              </a:rPr>
              <a:t>vệ</a:t>
            </a:r>
            <a:r>
              <a:rPr dirty="0">
                <a:solidFill>
                  <a:srgbClr val="FFFFFF"/>
                </a:solidFill>
              </a:rPr>
              <a:t> Lợi </a:t>
            </a:r>
            <a:r>
              <a:rPr dirty="0" err="1">
                <a:solidFill>
                  <a:srgbClr val="FFFFFF"/>
                </a:solidFill>
              </a:rPr>
              <a:t>nhuận</a:t>
            </a:r>
            <a:r>
              <a:rPr dirty="0">
                <a:solidFill>
                  <a:srgbClr val="FFFFFF"/>
                </a:solidFill>
              </a:rPr>
              <a:t> (Economics)</a:t>
            </a:r>
          </a:p>
          <a:p>
            <a:r>
              <a:rPr dirty="0">
                <a:solidFill>
                  <a:srgbClr val="FFFFFF"/>
                </a:solidFill>
              </a:rPr>
              <a:t>• Incremental Net Revenue.</a:t>
            </a:r>
          </a:p>
          <a:p>
            <a:r>
              <a:rPr dirty="0">
                <a:solidFill>
                  <a:srgbClr val="FFFFFF"/>
                </a:solidFill>
              </a:rPr>
              <a:t>• ROI (</a:t>
            </a:r>
            <a:r>
              <a:rPr dirty="0" err="1">
                <a:solidFill>
                  <a:srgbClr val="FFFFFF"/>
                </a:solidFill>
              </a:rPr>
              <a:t>Đảm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bảo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tỷ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suất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sinh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lời</a:t>
            </a:r>
            <a:r>
              <a:rPr dirty="0">
                <a:solidFill>
                  <a:srgbClr val="FFFFFF"/>
                </a:solidFill>
              </a:rPr>
              <a:t> &gt; 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96032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dirty="0"/>
              <a:t>• Profit Margin per Ride (Lợi nhuận &gt; 0)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dirty="0"/>
              <a:t>• Complaint Rate &lt; 2% (Tránh Spam)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6. Cỡ mẫu &amp; Power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Đảm bảo Ý nghĩa Thống kê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06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Thông số Thiết lập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Statistical Power: 80%.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Mức Ý nghĩa (Alpha): 5%.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Minimum Detectable Effect (MDE): +0.112 chuyến/user.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Yêu cầu tối thiểu 1,250 users mỗi nhóm.</a:t>
            </a:r>
          </a:p>
          <a:p>
            <a:r>
              <a:rPr>
                <a:solidFill>
                  <a:srgbClr val="FFFFFF"/>
                </a:solidFill>
              </a:rPr>
              <a:t>• Tập dữ liệu hiện có 2,792 users (Suburban Card), hoàn toàn vượt qua bài kiểm 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7. Biến Nhiễu &amp; Luật Quyết định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Bảo vệ Tính toàn vẹn của Thử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07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Confounders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11186"/>
            <a:ext cx="37490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 dirty="0">
                <a:solidFill>
                  <a:schemeClr val="bg1"/>
                </a:solidFill>
              </a:rPr>
              <a:t>• PCA: 11 chiều → 9 chiều (95.25% </a:t>
            </a:r>
            <a:r>
              <a:rPr lang="vi-VN" sz="1200" dirty="0" err="1">
                <a:solidFill>
                  <a:schemeClr val="bg1"/>
                </a:solidFill>
              </a:rPr>
              <a:t>Variance</a:t>
            </a:r>
            <a:r>
              <a:rPr lang="vi-VN" sz="1200" dirty="0">
                <a:solidFill>
                  <a:schemeClr val="bg1"/>
                </a:solidFill>
              </a:rPr>
              <a:t>)</a:t>
            </a:r>
          </a:p>
          <a:p>
            <a:r>
              <a:rPr lang="vi-VN" sz="1200" dirty="0">
                <a:solidFill>
                  <a:schemeClr val="bg1"/>
                </a:solidFill>
              </a:rPr>
              <a:t>  Loại bỏ đa cộng tuyến trước K-</a:t>
            </a:r>
            <a:r>
              <a:rPr lang="vi-VN" sz="1200" dirty="0" err="1">
                <a:solidFill>
                  <a:schemeClr val="bg1"/>
                </a:solidFill>
              </a:rPr>
              <a:t>Means</a:t>
            </a:r>
            <a:endParaRPr lang="vi-VN" sz="1200" dirty="0">
              <a:solidFill>
                <a:schemeClr val="bg1"/>
              </a:solidFill>
            </a:endParaRPr>
          </a:p>
          <a:p>
            <a:endParaRPr lang="vi-VN" sz="1200" dirty="0">
              <a:solidFill>
                <a:schemeClr val="bg1"/>
              </a:solidFill>
            </a:endParaRPr>
          </a:p>
          <a:p>
            <a:r>
              <a:rPr lang="vi-VN" sz="1200" dirty="0">
                <a:solidFill>
                  <a:schemeClr val="bg1"/>
                </a:solidFill>
              </a:rPr>
              <a:t>• K=5 xác nhận bằng </a:t>
            </a:r>
            <a:r>
              <a:rPr lang="vi-VN" sz="1200" dirty="0" err="1">
                <a:solidFill>
                  <a:schemeClr val="bg1"/>
                </a:solidFill>
              </a:rPr>
              <a:t>Null</a:t>
            </a:r>
            <a:r>
              <a:rPr lang="vi-VN" sz="1200" dirty="0">
                <a:solidFill>
                  <a:schemeClr val="bg1"/>
                </a:solidFill>
              </a:rPr>
              <a:t> </a:t>
            </a:r>
            <a:r>
              <a:rPr lang="vi-VN" sz="1200" dirty="0" err="1">
                <a:solidFill>
                  <a:schemeClr val="bg1"/>
                </a:solidFill>
              </a:rPr>
              <a:t>Simulation</a:t>
            </a:r>
            <a:endParaRPr lang="vi-VN" sz="1200" dirty="0">
              <a:solidFill>
                <a:schemeClr val="bg1"/>
              </a:solidFill>
            </a:endParaRPr>
          </a:p>
          <a:p>
            <a:r>
              <a:rPr lang="vi-VN" sz="1200" dirty="0">
                <a:solidFill>
                  <a:schemeClr val="bg1"/>
                </a:solidFill>
              </a:rPr>
              <a:t>  </a:t>
            </a:r>
            <a:r>
              <a:rPr lang="vi-VN" sz="1200" dirty="0" err="1">
                <a:solidFill>
                  <a:schemeClr val="bg1"/>
                </a:solidFill>
              </a:rPr>
              <a:t>Gap</a:t>
            </a:r>
            <a:r>
              <a:rPr lang="vi-VN" sz="1200" dirty="0">
                <a:solidFill>
                  <a:schemeClr val="bg1"/>
                </a:solidFill>
              </a:rPr>
              <a:t> </a:t>
            </a:r>
            <a:r>
              <a:rPr lang="vi-VN" sz="1200" dirty="0" err="1">
                <a:solidFill>
                  <a:schemeClr val="bg1"/>
                </a:solidFill>
              </a:rPr>
              <a:t>Silhouette</a:t>
            </a:r>
            <a:r>
              <a:rPr lang="vi-VN" sz="1200" dirty="0">
                <a:solidFill>
                  <a:schemeClr val="bg1"/>
                </a:solidFill>
              </a:rPr>
              <a:t> tại K=5 = 0.10 (cao nhất K=2..7)</a:t>
            </a:r>
          </a:p>
          <a:p>
            <a:endParaRPr lang="vi-VN" sz="1200" dirty="0">
              <a:solidFill>
                <a:schemeClr val="bg1"/>
              </a:solidFill>
            </a:endParaRPr>
          </a:p>
          <a:p>
            <a:r>
              <a:rPr lang="vi-VN" sz="1200" dirty="0">
                <a:solidFill>
                  <a:schemeClr val="bg1"/>
                </a:solidFill>
              </a:rPr>
              <a:t>• </a:t>
            </a:r>
            <a:r>
              <a:rPr lang="vi-VN" sz="1200" dirty="0" err="1">
                <a:solidFill>
                  <a:schemeClr val="bg1"/>
                </a:solidFill>
              </a:rPr>
              <a:t>Stratified</a:t>
            </a:r>
            <a:r>
              <a:rPr lang="vi-VN" sz="1200" dirty="0">
                <a:solidFill>
                  <a:schemeClr val="bg1"/>
                </a:solidFill>
              </a:rPr>
              <a:t> </a:t>
            </a:r>
            <a:r>
              <a:rPr lang="vi-VN" sz="1200" dirty="0" err="1">
                <a:solidFill>
                  <a:schemeClr val="bg1"/>
                </a:solidFill>
              </a:rPr>
              <a:t>Randomization</a:t>
            </a:r>
            <a:r>
              <a:rPr lang="vi-VN" sz="1200" dirty="0">
                <a:solidFill>
                  <a:schemeClr val="bg1"/>
                </a:solidFill>
              </a:rPr>
              <a:t> cân bằng:</a:t>
            </a:r>
          </a:p>
          <a:p>
            <a:r>
              <a:rPr lang="vi-VN" sz="1200" dirty="0">
                <a:solidFill>
                  <a:schemeClr val="bg1"/>
                </a:solidFill>
              </a:rPr>
              <a:t>  Loại khách, Khu vực sống, Ngày ngủ đông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Luật Ra Quyết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Thí nghiệm thành công khi: P-value &lt; 0.05 VÀ ROI &gt; 0. Kết quả: Suburban Card (+20.7%) và Suburban Cash (+24.7%) đều đạt ngưỡng.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4587AD-D05E-A3C6-687A-FA8091F1C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182761"/>
            <a:ext cx="4526280" cy="2982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888</Words>
  <Application>Microsoft Office PowerPoint</Application>
  <PresentationFormat>On-screen Show (4:3)</PresentationFormat>
  <Paragraphs>102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Bui Van Thai</cp:lastModifiedBy>
  <cp:revision>5</cp:revision>
  <dcterms:created xsi:type="dcterms:W3CDTF">2013-01-27T09:14:16Z</dcterms:created>
  <dcterms:modified xsi:type="dcterms:W3CDTF">2026-08-12T09:36:09Z</dcterms:modified>
  <cp:category/>
</cp:coreProperties>
</file>