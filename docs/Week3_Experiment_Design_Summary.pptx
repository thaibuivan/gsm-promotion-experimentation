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BÁO CÁO TUẦN 3: EXPERIMENT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3840480"/>
            <a:ext cx="1828800" cy="457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023360"/>
            <a:ext cx="8229600" cy="9144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defRPr sz="1800">
                <a:solidFill>
                  <a:srgbClr val="38BDF8"/>
                </a:solidFill>
                <a:latin typeface="Segoe UI"/>
              </a:defRPr>
            </a:pPr>
            <a:r>
              <a:t>Thiết kế Thử nghiệm Kích hoạt Lại Khách hàng Ngủ đông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1. Bối cảnh &amp; Vấn đề (Rationale)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Nguy cơ Rời bỏ của Regular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01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240792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Tệp Khách hàng Giá trị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Regular Users (4-6 chuyến/tháng) là tệp có giá trị nhất nhưng dễ rơi vào trạng thái "Ngủ đông" sau 5-10 ngày không mở app.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0520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42360" y="2194560"/>
            <a:ext cx="240792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5092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Vấn đề của Chiến dịch Cũ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92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Phát mã đại trà (Time-based) gây ra hiệu ứng Cannibalization (Tặng tiền cho người vốn đã định đặt xe).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70320" y="1645920"/>
            <a:ext cx="268224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7480" y="2194560"/>
            <a:ext cx="240792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16040" y="1691640"/>
            <a:ext cx="259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Giải pháp v2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6040" y="2286000"/>
            <a:ext cx="25908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Chuyển sang nhắm mục tiêu theo phân khúc (User-segment-based) để tối ưu hóa ngân sách và đo lường Causal Effect.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2. Giả thuyết &amp; Estimand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Định lượng Tác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Giả thuyết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Gửi Push Notification kèm Voucher 15% sẽ phá vỡ "quán tính" của khách hàng, kích thích họ mở app và đặt xe trở lại.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ATE (Average Treatment Effect)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Sự chênh lệch số chuyến đi trung bình/user trong 14 ngày giữa nhóm nhận Voucher và nhóm Không nhận.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3. Tập Mục tiêu (Target Population)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Lựa chọn Dựa trên K-Means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Tiêu chí Chọn vào (Inclusion)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Chỉ chọn nhóm Nhạy cảm giá (Persuadables): Suburban Card.</a:t>
            </a:r>
          </a:p>
          <a:p>
            <a:r>
              <a:rPr>
                <a:solidFill>
                  <a:srgbClr val="FFFFFF"/>
                </a:solidFill>
              </a:rPr>
              <a:t>• Đã ngủ đông từ 5-14 ngày.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F472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472B6"/>
                </a:solidFill>
                <a:latin typeface="Segoe UI"/>
              </a:defRPr>
            </a:pPr>
            <a:r>
              <a:t>Tiêu chí Loại trừ (Exclusion)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Khách đi sân bay (Kháng sale) Urban Regulars, và Suburban Cash.</a:t>
            </a:r>
          </a:p>
          <a:p>
            <a:r>
              <a:rPr>
                <a:solidFill>
                  <a:srgbClr val="FFFFFF"/>
                </a:solidFill>
              </a:rPr>
              <a:t>• Khách đã nhận Voucher trong 14 ngày qua.</a:t>
            </a:r>
          </a:p>
        </p:txBody>
      </p:sp>
      <p:pic>
        <p:nvPicPr>
          <p:cNvPr id="19" name="Picture 18" descr="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74520"/>
            <a:ext cx="4206240" cy="31989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4. Thiết kế Can thiệp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Treatment vs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Nhóm Can thiệp (Treatment)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Hệ thống gửi Push Notification cá nhân hóa.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Hiển thị In-app Banner nhắc nhở.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Tự động áp mã giảm 15% khi thanh toán.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Nhóm Đối chứng (Control)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nhận thông báo, không có Banner.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Không chạy bất kỳ chiến dịch nào song song để tránh lây nhiễm.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5. Hệ thống Chỉ số Đánh giá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Metrics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 tIns="190500">
            <a:spAutoFit/>
          </a:bodyPr>
          <a:lstStyle/>
          <a:p>
            <a:r>
              <a:rPr dirty="0" err="1">
                <a:solidFill>
                  <a:srgbClr val="FFFFFF"/>
                </a:solidFill>
              </a:rPr>
              <a:t>Chỉ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số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Đánh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giá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Tổng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thể</a:t>
            </a:r>
            <a:r>
              <a:rPr dirty="0">
                <a:solidFill>
                  <a:srgbClr val="FFFFFF"/>
                </a:solidFill>
              </a:rPr>
              <a:t> (OEC)</a:t>
            </a:r>
          </a:p>
          <a:p>
            <a:r>
              <a:rPr dirty="0">
                <a:solidFill>
                  <a:srgbClr val="FFFFFF"/>
                </a:solidFill>
              </a:rPr>
              <a:t>• Absolute Uplift (ATE)</a:t>
            </a:r>
          </a:p>
          <a:p>
            <a:r>
              <a:rPr dirty="0">
                <a:solidFill>
                  <a:srgbClr val="FFFFFF"/>
                </a:solidFill>
              </a:rPr>
              <a:t>• Relative Uplift (%)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5146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Incremental Rides per User (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chuyến</a:t>
            </a:r>
            <a:r>
              <a:rPr dirty="0"/>
              <a:t> </a:t>
            </a:r>
            <a:r>
              <a:rPr dirty="0" err="1"/>
              <a:t>đi</a:t>
            </a:r>
            <a:r>
              <a:rPr dirty="0"/>
              <a:t> </a:t>
            </a:r>
            <a:r>
              <a:rPr dirty="0" err="1"/>
              <a:t>tăng</a:t>
            </a:r>
            <a:r>
              <a:rPr dirty="0"/>
              <a:t> </a:t>
            </a:r>
            <a:r>
              <a:rPr dirty="0" err="1"/>
              <a:t>thêm</a:t>
            </a:r>
            <a:r>
              <a:rPr dirty="0"/>
              <a:t> </a:t>
            </a:r>
            <a:r>
              <a:rPr dirty="0" err="1"/>
              <a:t>trên</a:t>
            </a:r>
            <a:r>
              <a:rPr dirty="0"/>
              <a:t> </a:t>
            </a:r>
            <a:r>
              <a:rPr dirty="0" err="1"/>
              <a:t>mỗi</a:t>
            </a:r>
            <a:r>
              <a:rPr dirty="0"/>
              <a:t> User </a:t>
            </a:r>
            <a:r>
              <a:rPr dirty="0" err="1"/>
              <a:t>trong</a:t>
            </a:r>
            <a:r>
              <a:rPr dirty="0"/>
              <a:t> </a:t>
            </a:r>
            <a:r>
              <a:rPr dirty="0" err="1"/>
              <a:t>vòng</a:t>
            </a:r>
            <a:r>
              <a:rPr dirty="0"/>
              <a:t> 14 </a:t>
            </a:r>
            <a:r>
              <a:rPr dirty="0" err="1"/>
              <a:t>ngày</a:t>
            </a:r>
            <a:r>
              <a:rPr dirty="0"/>
              <a:t>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 tIns="190500">
            <a:spAutoFit/>
          </a:bodyPr>
          <a:lstStyle/>
          <a:p>
            <a:r>
              <a:rPr dirty="0" err="1">
                <a:solidFill>
                  <a:srgbClr val="FFFFFF"/>
                </a:solidFill>
              </a:rPr>
              <a:t>Chỉ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số</a:t>
            </a:r>
            <a:r>
              <a:rPr dirty="0">
                <a:solidFill>
                  <a:srgbClr val="FFFFFF"/>
                </a:solidFill>
              </a:rPr>
              <a:t> Bảo </a:t>
            </a:r>
            <a:r>
              <a:rPr dirty="0" err="1">
                <a:solidFill>
                  <a:srgbClr val="FFFFFF"/>
                </a:solidFill>
              </a:rPr>
              <a:t>vệ</a:t>
            </a:r>
            <a:r>
              <a:rPr dirty="0">
                <a:solidFill>
                  <a:srgbClr val="FFFFFF"/>
                </a:solidFill>
              </a:rPr>
              <a:t> Lợi </a:t>
            </a:r>
            <a:r>
              <a:rPr dirty="0" err="1">
                <a:solidFill>
                  <a:srgbClr val="FFFFFF"/>
                </a:solidFill>
              </a:rPr>
              <a:t>nhuận</a:t>
            </a:r>
            <a:r>
              <a:rPr dirty="0">
                <a:solidFill>
                  <a:srgbClr val="FFFFFF"/>
                </a:solidFill>
              </a:rPr>
              <a:t> (Economics)</a:t>
            </a:r>
          </a:p>
          <a:p>
            <a:r>
              <a:rPr dirty="0">
                <a:solidFill>
                  <a:srgbClr val="FFFFFF"/>
                </a:solidFill>
              </a:rPr>
              <a:t>• Incremental Net Revenue.</a:t>
            </a:r>
          </a:p>
          <a:p>
            <a:r>
              <a:rPr dirty="0">
                <a:solidFill>
                  <a:srgbClr val="FFFFFF"/>
                </a:solidFill>
              </a:rPr>
              <a:t>• ROI (</a:t>
            </a:r>
            <a:r>
              <a:rPr dirty="0" err="1">
                <a:solidFill>
                  <a:srgbClr val="FFFFFF"/>
                </a:solidFill>
              </a:rPr>
              <a:t>Đảm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bảo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tỷ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suất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sinh</a:t>
            </a:r>
            <a:r>
              <a:rPr dirty="0">
                <a:solidFill>
                  <a:srgbClr val="FFFFFF"/>
                </a:solidFill>
              </a:rPr>
              <a:t> </a:t>
            </a:r>
            <a:r>
              <a:rPr dirty="0" err="1">
                <a:solidFill>
                  <a:srgbClr val="FFFFFF"/>
                </a:solidFill>
              </a:rPr>
              <a:t>lời</a:t>
            </a:r>
            <a:r>
              <a:rPr dirty="0">
                <a:solidFill>
                  <a:srgbClr val="FFFFFF"/>
                </a:solidFill>
              </a:rPr>
              <a:t> &gt; 0).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6032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Profit Margin per Ride (Lợi </a:t>
            </a:r>
            <a:r>
              <a:rPr dirty="0" err="1"/>
              <a:t>nhuận</a:t>
            </a:r>
            <a:r>
              <a:rPr dirty="0"/>
              <a:t>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âm</a:t>
            </a:r>
            <a:r>
              <a:rPr dirty="0"/>
              <a:t>).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rPr dirty="0"/>
              <a:t>• User Complaint Rate &lt; 2% (</a:t>
            </a:r>
            <a:r>
              <a:rPr dirty="0" err="1"/>
              <a:t>Đảm</a:t>
            </a:r>
            <a:r>
              <a:rPr dirty="0"/>
              <a:t> </a:t>
            </a:r>
            <a:r>
              <a:rPr dirty="0" err="1"/>
              <a:t>bảo</a:t>
            </a:r>
            <a:r>
              <a:rPr dirty="0"/>
              <a:t> Push </a:t>
            </a: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bị</a:t>
            </a:r>
            <a:r>
              <a:rPr dirty="0"/>
              <a:t> </a:t>
            </a:r>
            <a:r>
              <a:rPr dirty="0" err="1"/>
              <a:t>đánh</a:t>
            </a:r>
            <a:r>
              <a:rPr dirty="0"/>
              <a:t> </a:t>
            </a:r>
            <a:r>
              <a:rPr dirty="0" err="1"/>
              <a:t>dấu</a:t>
            </a:r>
            <a:r>
              <a:rPr dirty="0"/>
              <a:t> Spam).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6. Cỡ mẫu &amp; Power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Đảm bảo Ý nghĩa Thống kê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2194560"/>
            <a:ext cx="374904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Thông số Thiết lập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Statistical Power: 80%.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Mức Ý nghĩa (Alpha): 5%.</a:t>
            </a:r>
          </a:p>
          <a:p>
            <a:pPr>
              <a:spcAft>
                <a:spcPts val="600"/>
              </a:spcAft>
              <a:defRPr sz="1500">
                <a:solidFill>
                  <a:srgbClr val="FFFFFF"/>
                </a:solidFill>
                <a:latin typeface="Segoe UI"/>
              </a:defRPr>
            </a:pPr>
            <a:r>
              <a:t>• Minimum Detectable Effect (MDE): +0.112 chuyến/user.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1645920"/>
            <a:ext cx="4023360" cy="411480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983480" y="2194560"/>
            <a:ext cx="3749040" cy="36576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92040" y="1691640"/>
            <a:ext cx="3931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  <a:latin typeface="Segoe UI"/>
              </a:defRPr>
            </a:pPr>
            <a:r>
              <a:t>Kết quả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86000"/>
            <a:ext cx="3931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solidFill>
                  <a:srgbClr val="FFFFFF"/>
                </a:solidFill>
              </a:rPr>
              <a:t>• Yêu cầu tối thiểu 1,250 users mỗi nhóm.</a:t>
            </a:r>
          </a:p>
          <a:p>
            <a:r>
              <a:rPr>
                <a:solidFill>
                  <a:srgbClr val="FFFFFF"/>
                </a:solidFill>
              </a:rPr>
              <a:t>• Tập dữ liệu hiện có 2,718 users, hoàn toàn vượt qua bài kiểm tra.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3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7772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Segoe UI"/>
              </a:defRPr>
            </a:pPr>
            <a:r>
              <a:t>7. Biến Nhiễu &amp; Luật Quyết định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B800"/>
                </a:solidFill>
                <a:latin typeface="Segoe UI"/>
              </a:defRPr>
            </a:pPr>
            <a:r>
              <a:t>Bảo vệ Tính toàn vẹn của Thử nghiệm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28600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6217920"/>
            <a:ext cx="8778240" cy="365760"/>
          </a:xfrm>
          <a:prstGeom prst="rect">
            <a:avLst/>
          </a:prstGeom>
          <a:solidFill>
            <a:srgbClr val="1C4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6217920"/>
            <a:ext cx="73152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GSM Promotion Experimentation • Báo cáo Chuyên môn • Data Science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6583680"/>
            <a:ext cx="8778240" cy="274320"/>
          </a:xfrm>
          <a:prstGeom prst="rect">
            <a:avLst/>
          </a:prstGeom>
          <a:solidFill>
            <a:srgbClr val="070D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6583680"/>
            <a:ext cx="45720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900">
                <a:solidFill>
                  <a:srgbClr val="38BDF8"/>
                </a:solidFill>
                <a:latin typeface="Segoe UI"/>
              </a:defRPr>
            </a:pPr>
            <a:r>
              <a:t>Project: Uplift Modeling &amp; Causal Inference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6583680"/>
            <a:ext cx="128016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46304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1828800"/>
            <a:ext cx="3566160" cy="36576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B800"/>
                </a:solidFill>
                <a:latin typeface="Segoe UI"/>
              </a:defRPr>
            </a:pPr>
            <a:r>
              <a:t>Kiểm soát Confounders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7452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Áp dụng Phân bổ ngẫu nhiên theo tầng (Stratified Randomization) để cân bằng các biến nhiễu như: Loại khách, Khu vực sống.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80"/>
            <a:ext cx="3840480" cy="2240280"/>
          </a:xfrm>
          <a:prstGeom prst="roundRect">
            <a:avLst/>
          </a:prstGeom>
          <a:solidFill>
            <a:srgbClr val="17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206240"/>
            <a:ext cx="356616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3886200"/>
            <a:ext cx="3749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  <a:latin typeface="Segoe UI"/>
              </a:defRPr>
            </a:pPr>
            <a:r>
              <a:t>Luật Ra Quyết định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374904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  <a:latin typeface="Segoe UI"/>
              </a:defRPr>
            </a:pPr>
            <a:r>
              <a:t>• Thí nghiệm thành công khi: P-value &lt; 0.05 VÀ Incremental Rides &gt; MDE VÀ Lợi nhuận Margin Dương.</a:t>
            </a:r>
          </a:p>
        </p:txBody>
      </p:sp>
      <p:pic>
        <p:nvPicPr>
          <p:cNvPr id="19" name="Picture 18" descr="elb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86000"/>
            <a:ext cx="4206240" cy="3381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753</Words>
  <Application>Microsoft Office PowerPoint</Application>
  <PresentationFormat>On-screen Show (4:3)</PresentationFormat>
  <Paragraphs>80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Hy Lê</cp:lastModifiedBy>
  <cp:revision>4</cp:revision>
  <dcterms:created xsi:type="dcterms:W3CDTF">2013-01-27T09:14:16Z</dcterms:created>
  <dcterms:modified xsi:type="dcterms:W3CDTF">2026-08-10T08:23:41Z</dcterms:modified>
  <cp:category/>
</cp:coreProperties>
</file>