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>
            <a:r>
              <a:rPr>
                <a:solidFill>
                  <a:srgbClr val="FFFFFF"/>
                </a:solidFill>
              </a:rPr>
              <a:t>BÁO CÁO TUẦN 5: UPLIFT MODELING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840480"/>
            <a:ext cx="1828800" cy="4572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023360"/>
            <a:ext cx="822960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>
                <a:solidFill>
                  <a:srgbClr val="FFFFFF"/>
                </a:solidFill>
              </a:rPr>
              <a:t>Ước lượng Heterogeneous Treatment Effect và Profit-aware Targeting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1. Tại sao cần Uplift Modeling?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Giải bài toán Ăn thịt Doanh thu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01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Hiệu ứng Cannibalization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Một số user vốn vẫn có nhu cầu đi xe dù không nhận voucher.</a:t>
            </a:r>
          </a:p>
          <a:p>
            <a:r>
              <a:rPr>
                <a:solidFill>
                  <a:srgbClr val="FFFFFF"/>
                </a:solidFill>
              </a:rPr>
              <a:t>• Phát voucher cho nhóm này có thể tạo promotion waste/cannibalization.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Giải pháp Uplift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Ước lượng CATE cho từng user/nhóm user.</a:t>
            </a:r>
          </a:p>
          <a:p>
            <a:r>
              <a:rPr>
                <a:solidFill>
                  <a:srgbClr val="FFFFFF"/>
                </a:solidFill>
              </a:rPr>
              <a:t>• Tìm nhóm có incremental response cao hơn khi nhận voucher.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2. R-Learner &amp; Phân phối CATE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Ước lượng treatment effect dị thể ở cấp user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02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R-Learner (XGBoost-based)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Residualize outcome và treatment để ước lượng HTE.</a:t>
            </a:r>
          </a:p>
          <a:p>
            <a:r>
              <a:rPr>
                <a:solidFill>
                  <a:srgbClr val="FFFFFF"/>
                </a:solidFill>
              </a:rPr>
              <a:t>• Train/Validation/Test = 60/20/20; Test giữ riêng cho final evaluation.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Biểu đồ Phân phối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Phân phối predicted CATE cho thấy response không đồng nhất giữa các user trong synthetic sandbox.</a:t>
            </a:r>
          </a:p>
        </p:txBody>
      </p:sp>
      <p:pic>
        <p:nvPicPr>
          <p:cNvPr id="19" name="Picture 18" descr="week7_uplift_modeling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4206240" cy="23472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3. Đánh giá Mô hình (Qini Curve)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Positive ranking signal so với Random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03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Đường cong Qini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Đo khả năng xếp hạng user theo incremental response.</a:t>
            </a:r>
          </a:p>
          <a:p>
            <a:r>
              <a:rPr>
                <a:solidFill>
                  <a:srgbClr val="FFFFFF"/>
                </a:solidFill>
              </a:rPr>
              <a:t>• Đường model nằm trên random baseline cho thấy ranking signal trong synthetic test set.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B800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Kết luận Đánh giá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R-Learner cho thấy positive ranking signal trên held-out synthetic test set.</a:t>
            </a:r>
          </a:p>
          <a:p>
            <a:r>
              <a:rPr>
                <a:solidFill>
                  <a:srgbClr val="FFFFFF"/>
                </a:solidFill>
              </a:rPr>
              <a:t>• CATE level calibration vẫn imperfect và cần theo dõi.</a:t>
            </a:r>
          </a:p>
        </p:txBody>
      </p:sp>
      <p:pic>
        <p:nvPicPr>
          <p:cNvPr id="19" name="Picture 18" descr="week7_uplift_modelin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4206240" cy="27427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4. Từ Uplift sang Profit-aware Targeting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Decision Layer: Expected Value &gt; 0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04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6304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28800"/>
            <a:ext cx="356616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0876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Quyết định phát mã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2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Không chỉ tối ưu CATE mà tính cả incremental contribution và expected burn.</a:t>
            </a:r>
          </a:p>
          <a:p>
            <a:r>
              <a:rPr>
                <a:solidFill>
                  <a:srgbClr val="FFFFFF"/>
                </a:solidFill>
              </a:rPr>
              <a:t>• Target user khi Expected Incremental Profit &gt; 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80"/>
            <a:ext cx="3840480" cy="224028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356616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86200"/>
            <a:ext cx="3749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472B6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Tỷ lệ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51960"/>
            <a:ext cx="3749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Profit Targeting chọn 888/4,000 users (22.2%).</a:t>
            </a:r>
          </a:p>
          <a:p>
            <a:r>
              <a:rPr>
                <a:solidFill>
                  <a:srgbClr val="FFFFFF"/>
                </a:solidFill>
              </a:rPr>
              <a:t>• Predicted Profit ≈ $7.9k; Synthetic Benchmark ≈ $7.1k.</a:t>
            </a:r>
          </a:p>
        </p:txBody>
      </p:sp>
      <p:pic>
        <p:nvPicPr>
          <p:cNvPr id="19" name="Picture 18" descr="week7_uplift_modelin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286000"/>
            <a:ext cx="4206240" cy="35591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5. Profit-aware Decision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High CATE không đồng nghĩa High Profit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05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374904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Expected Value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EV_i = Predicted CATE_i × Margin per Ride_i − Expected Burn_i.</a:t>
            </a:r>
          </a:p>
          <a:p>
            <a:r>
              <a:rPr>
                <a:solidFill>
                  <a:srgbClr val="FFFFFF"/>
                </a:solidFill>
              </a:rPr>
              <a:t>• Target khi EV_i &gt; 0 dưới economics assumptions hiện tại.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46320" y="1645920"/>
            <a:ext cx="402336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3480" y="2194560"/>
            <a:ext cx="3749040" cy="3657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69164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286000"/>
            <a:ext cx="3931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User có uplift cao vẫn có thể không profitable nếu voucher cost lớn.</a:t>
            </a:r>
          </a:p>
          <a:p>
            <a:r>
              <a:rPr>
                <a:solidFill>
                  <a:srgbClr val="FFFFFF"/>
                </a:solidFill>
              </a:rPr>
              <a:t>• Policy layer cần tối ưu economics, không chỉ response.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0"/>
            <a:ext cx="137160" cy="68580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6. Đề xuất 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Simulation Evidence → Real-world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88720"/>
            <a:ext cx="228600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6217920"/>
            <a:ext cx="8778240" cy="365760"/>
          </a:xfrm>
          <a:prstGeom prst="rect">
            <a:avLst/>
          </a:prstGeom>
          <a:solidFill>
            <a:srgbClr val="1C4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7315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GSM Promotion Experimentation • Báo cáo Chuyên môn • Data Science Team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6583680"/>
            <a:ext cx="8778240" cy="274320"/>
          </a:xfrm>
          <a:prstGeom prst="rect">
            <a:avLst/>
          </a:prstGeom>
          <a:solidFill>
            <a:srgbClr val="07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83680"/>
            <a:ext cx="457200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900">
                <a:solidFill>
                  <a:srgbClr val="38BDF8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Project: Uplift Modeling &amp; Causal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583680"/>
            <a:ext cx="128016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Segoe UI"/>
              </a:defRPr>
            </a:pPr>
            <a:r>
              <a:rPr>
                <a:solidFill>
                  <a:srgbClr val="FFFFFF"/>
                </a:solidFill>
              </a:rPr>
              <a:t>06 /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194560"/>
            <a:ext cx="2407920" cy="36576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1. Profit-based Targeting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Trong synthetic sandbox, ưu tiên users có Expected Incremental Profit &gt; 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0520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42360" y="2194560"/>
            <a:ext cx="24079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092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2. R-Learner 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092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Dùng heterogeneous response để hỗ trợ targeting, không chỉ dựa vào behavioral segmentation.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70320" y="1645920"/>
            <a:ext cx="2682240" cy="4114800"/>
          </a:xfrm>
          <a:prstGeom prst="roundRect">
            <a:avLst/>
          </a:prstGeom>
          <a:solidFill>
            <a:srgbClr val="17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07480" y="2194560"/>
            <a:ext cx="2407920" cy="36576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6040" y="1691640"/>
            <a:ext cx="259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3. Validation tiếp theo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6040" y="2286000"/>
            <a:ext cx="2590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solidFill>
                  <a:srgbClr val="FFFFFF"/>
                </a:solidFill>
              </a:rPr>
              <a:t>• Kết quả hiện là simulation evidence; real policy cần randomized experiment trên data GSM thật.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