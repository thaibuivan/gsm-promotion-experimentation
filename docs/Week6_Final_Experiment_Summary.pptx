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BÁO CÁO TUẦN 6: FINAL RCT RESULTS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0" y="3840480"/>
            <a:ext cx="1828800" cy="45720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023360"/>
            <a:ext cx="8229600" cy="9144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1800">
                <a:solidFill>
                  <a:srgbClr val="38BDF8"/>
                </a:solidFill>
                <a:latin typeface="Segoe UI"/>
              </a:defRPr>
            </a:pPr>
            <a:r>
              <a:t>Sự bùng nổ của Hiệu ứng Dị thể (HTE)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0"/>
            <a:ext cx="137160" cy="6858000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Segoe UI"/>
              </a:defRPr>
            </a:pPr>
            <a:r>
              <a:t>1. Tóm tắt Thực thi (Executive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FB800"/>
                </a:solidFill>
                <a:latin typeface="Segoe UI"/>
              </a:defRPr>
            </a:pPr>
            <a:r>
              <a:t>Bức tranh Tổng thể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88720"/>
            <a:ext cx="2286000" cy="36576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6217920"/>
            <a:ext cx="8778240" cy="365760"/>
          </a:xfrm>
          <a:prstGeom prst="rect">
            <a:avLst/>
          </a:prstGeom>
          <a:solidFill>
            <a:srgbClr val="1C4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217920"/>
            <a:ext cx="73152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Segoe UI"/>
              </a:defRPr>
            </a:pPr>
            <a:r>
              <a:t>GSM Promotion Experimentation • Báo cáo Chuyên môn • Data Science Team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6583680"/>
            <a:ext cx="8778240" cy="274320"/>
          </a:xfrm>
          <a:prstGeom prst="rect">
            <a:avLst/>
          </a:prstGeom>
          <a:solidFill>
            <a:srgbClr val="070D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83680"/>
            <a:ext cx="457200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900">
                <a:solidFill>
                  <a:srgbClr val="38BDF8"/>
                </a:solidFill>
                <a:latin typeface="Segoe UI"/>
              </a:defRPr>
            </a:pPr>
            <a:r>
              <a:t>Project: Uplift Modeling &amp; Causal Inference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6583680"/>
            <a:ext cx="128016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01 / 06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1645920"/>
            <a:ext cx="4023360" cy="4114800"/>
          </a:xfrm>
          <a:prstGeom prst="roundRect">
            <a:avLst/>
          </a:prstGeom>
          <a:solidFill>
            <a:srgbClr val="17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2194560"/>
            <a:ext cx="3749040" cy="36576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1691640"/>
            <a:ext cx="3931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B800"/>
                </a:solidFill>
                <a:latin typeface="Segoe UI"/>
              </a:defRPr>
            </a:pPr>
            <a:r>
              <a:t>Sự thật Bất ngờ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286000"/>
            <a:ext cx="39319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Segoe UI"/>
              </a:defRPr>
            </a:pPr>
            <a:r>
              <a:t>• Chiến dịch thử nghiệm đã vạch trần một sự thật quan trọng về Hiệu ứng Dị thể (Heterogeneous Treatment Effect).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846320" y="1645920"/>
            <a:ext cx="4023360" cy="4114800"/>
          </a:xfrm>
          <a:prstGeom prst="roundRect">
            <a:avLst/>
          </a:prstGeom>
          <a:solidFill>
            <a:srgbClr val="17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983480" y="2194560"/>
            <a:ext cx="3749040" cy="36576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92040" y="1691640"/>
            <a:ext cx="3931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4D399"/>
                </a:solidFill>
                <a:latin typeface="Segoe UI"/>
              </a:defRPr>
            </a:pPr>
            <a:r>
              <a:t>Thay đổi Chiến lược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92040" y="2286000"/>
            <a:ext cx="39319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Segoe UI"/>
              </a:defRPr>
            </a:pPr>
            <a:r>
              <a:t>• Dừng ngay lập tức việc phát Voucher đại trà. Chuyển hướng toàn bộ ngân sách sang nhóm khách hàng thực sự sinh lời.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0"/>
            <a:ext cx="137160" cy="6858000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Segoe UI"/>
              </a:defRPr>
            </a:pPr>
            <a:r>
              <a:t>2. Định vị Phân khúc (Targeting)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FB800"/>
                </a:solidFill>
                <a:latin typeface="Segoe UI"/>
              </a:defRPr>
            </a:pPr>
            <a:r>
              <a:t>4 Cụm Hành vi K-Means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88720"/>
            <a:ext cx="2286000" cy="36576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6217920"/>
            <a:ext cx="8778240" cy="365760"/>
          </a:xfrm>
          <a:prstGeom prst="rect">
            <a:avLst/>
          </a:prstGeom>
          <a:solidFill>
            <a:srgbClr val="1C4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217920"/>
            <a:ext cx="73152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Segoe UI"/>
              </a:defRPr>
            </a:pPr>
            <a:r>
              <a:t>GSM Promotion Experimentation • Báo cáo Chuyên môn • Data Science Team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6583680"/>
            <a:ext cx="8778240" cy="274320"/>
          </a:xfrm>
          <a:prstGeom prst="rect">
            <a:avLst/>
          </a:prstGeom>
          <a:solidFill>
            <a:srgbClr val="070D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83680"/>
            <a:ext cx="457200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900">
                <a:solidFill>
                  <a:srgbClr val="38BDF8"/>
                </a:solidFill>
                <a:latin typeface="Segoe UI"/>
              </a:defRPr>
            </a:pPr>
            <a:r>
              <a:t>Project: Uplift Modeling &amp; Causal Inference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6583680"/>
            <a:ext cx="128016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02 / 06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1645920"/>
            <a:ext cx="4023360" cy="4114800"/>
          </a:xfrm>
          <a:prstGeom prst="roundRect">
            <a:avLst/>
          </a:prstGeom>
          <a:solidFill>
            <a:srgbClr val="17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2194560"/>
            <a:ext cx="3749040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1691640"/>
            <a:ext cx="3931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  <a:latin typeface="Segoe UI"/>
              </a:defRPr>
            </a:pPr>
            <a:r>
              <a:t>Nhóm Đi làm (Commuters)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286000"/>
            <a:ext cx="39319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Segoe UI"/>
              </a:defRPr>
            </a:pPr>
            <a:r>
              <a:t>• Urban Commuters và Suburban Commuters: Có tính chất thiết yếu, cầu không co giãn với giá.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846320" y="1645920"/>
            <a:ext cx="4023360" cy="4114800"/>
          </a:xfrm>
          <a:prstGeom prst="roundRect">
            <a:avLst/>
          </a:prstGeom>
          <a:solidFill>
            <a:srgbClr val="17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983480" y="2194560"/>
            <a:ext cx="3749040" cy="36576"/>
          </a:xfrm>
          <a:prstGeom prst="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92040" y="1691640"/>
            <a:ext cx="3931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472B6"/>
                </a:solidFill>
                <a:latin typeface="Segoe UI"/>
              </a:defRPr>
            </a:pPr>
            <a:r>
              <a:t>Nhóm Tự do (Occasionals)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92040" y="2286000"/>
            <a:ext cx="39319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Segoe UI"/>
              </a:defRPr>
            </a:pPr>
            <a:r>
              <a:t>• Urban Credit Card và Suburban Occasionals: Khách đi chơi, độ nhạy cảm với khuyến mãi cực kỳ cao.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0"/>
            <a:ext cx="137160" cy="6858000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Segoe UI"/>
              </a:defRPr>
            </a:pPr>
            <a:r>
              <a:t>3. Thiết kế Thí nghiệm (Experiment Design)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FB800"/>
                </a:solidFill>
                <a:latin typeface="Segoe UI"/>
              </a:defRPr>
            </a:pPr>
            <a:r>
              <a:t>Randomized Controlled Trial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88720"/>
            <a:ext cx="2286000" cy="36576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6217920"/>
            <a:ext cx="8778240" cy="365760"/>
          </a:xfrm>
          <a:prstGeom prst="rect">
            <a:avLst/>
          </a:prstGeom>
          <a:solidFill>
            <a:srgbClr val="1C4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217920"/>
            <a:ext cx="73152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Segoe UI"/>
              </a:defRPr>
            </a:pPr>
            <a:r>
              <a:t>GSM Promotion Experimentation • Báo cáo Chuyên môn • Data Science Team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6583680"/>
            <a:ext cx="8778240" cy="274320"/>
          </a:xfrm>
          <a:prstGeom prst="rect">
            <a:avLst/>
          </a:prstGeom>
          <a:solidFill>
            <a:srgbClr val="070D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83680"/>
            <a:ext cx="457200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900">
                <a:solidFill>
                  <a:srgbClr val="38BDF8"/>
                </a:solidFill>
                <a:latin typeface="Segoe UI"/>
              </a:defRPr>
            </a:pPr>
            <a:r>
              <a:t>Project: Uplift Modeling &amp; Causal Inference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6583680"/>
            <a:ext cx="128016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03 / 06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1645920"/>
            <a:ext cx="4023360" cy="4114800"/>
          </a:xfrm>
          <a:prstGeom prst="roundRect">
            <a:avLst/>
          </a:prstGeom>
          <a:solidFill>
            <a:srgbClr val="17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2194560"/>
            <a:ext cx="3749040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1691640"/>
            <a:ext cx="3931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  <a:latin typeface="Segoe UI"/>
              </a:defRPr>
            </a:pPr>
            <a:r>
              <a:t>Can thiệp (Treatment)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286000"/>
            <a:ext cx="39319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Segoe UI"/>
              </a:defRPr>
            </a:pPr>
            <a:r>
              <a:t>• Tặng Voucher 25% cho một nửa số khách hàng được chọn ngẫu nhiên.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846320" y="1645920"/>
            <a:ext cx="4023360" cy="4114800"/>
          </a:xfrm>
          <a:prstGeom prst="roundRect">
            <a:avLst/>
          </a:prstGeom>
          <a:solidFill>
            <a:srgbClr val="17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983480" y="2194560"/>
            <a:ext cx="3749040" cy="36576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92040" y="1691640"/>
            <a:ext cx="3931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B800"/>
                </a:solidFill>
                <a:latin typeface="Segoe UI"/>
              </a:defRPr>
            </a:pPr>
            <a:r>
              <a:t>Đo lường OEC &amp; Guardrail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92040" y="2286000"/>
            <a:ext cx="39319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Segoe UI"/>
              </a:defRPr>
            </a:pPr>
            <a:r>
              <a:t>• OEC: Số chuyến đi gia tăng (Incremental Rides).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Segoe UI"/>
              </a:defRPr>
            </a:pPr>
            <a:r>
              <a:t>• Guardrail: Tỷ suất Hoàn vốn (ROI) chiến dịch &gt; 0.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0"/>
            <a:ext cx="137160" cy="6858000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Segoe UI"/>
              </a:defRPr>
            </a:pPr>
            <a:r>
              <a:t>4. Phân tích HTE: Cái bẫy Lợi nhuận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FB800"/>
                </a:solidFill>
                <a:latin typeface="Segoe UI"/>
              </a:defRPr>
            </a:pPr>
            <a:r>
              <a:t>Nhóm Suburban Commuters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88720"/>
            <a:ext cx="2286000" cy="36576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6217920"/>
            <a:ext cx="8778240" cy="365760"/>
          </a:xfrm>
          <a:prstGeom prst="rect">
            <a:avLst/>
          </a:prstGeom>
          <a:solidFill>
            <a:srgbClr val="1C4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217920"/>
            <a:ext cx="73152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Segoe UI"/>
              </a:defRPr>
            </a:pPr>
            <a:r>
              <a:t>GSM Promotion Experimentation • Báo cáo Chuyên môn • Data Science Team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6583680"/>
            <a:ext cx="8778240" cy="274320"/>
          </a:xfrm>
          <a:prstGeom prst="rect">
            <a:avLst/>
          </a:prstGeom>
          <a:solidFill>
            <a:srgbClr val="070D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83680"/>
            <a:ext cx="457200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900">
                <a:solidFill>
                  <a:srgbClr val="38BDF8"/>
                </a:solidFill>
                <a:latin typeface="Segoe UI"/>
              </a:defRPr>
            </a:pPr>
            <a:r>
              <a:t>Project: Uplift Modeling &amp; Causal Inference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6583680"/>
            <a:ext cx="128016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04 / 06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1645920"/>
            <a:ext cx="4023360" cy="4114800"/>
          </a:xfrm>
          <a:prstGeom prst="roundRect">
            <a:avLst/>
          </a:prstGeom>
          <a:solidFill>
            <a:srgbClr val="17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2194560"/>
            <a:ext cx="3749040" cy="36576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1691640"/>
            <a:ext cx="3931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B800"/>
                </a:solidFill>
                <a:latin typeface="Segoe UI"/>
              </a:defRPr>
            </a:pPr>
            <a:r>
              <a:t>Kết quả Đo lường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286000"/>
            <a:ext cx="39319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Segoe UI"/>
              </a:defRPr>
            </a:pPr>
            <a:r>
              <a:t>• Số chuyến đi có tăng nhẹ (+0.84 chuyến, p &lt; 0.05).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846320" y="1645920"/>
            <a:ext cx="4023360" cy="4114800"/>
          </a:xfrm>
          <a:prstGeom prst="roundRect">
            <a:avLst/>
          </a:prstGeom>
          <a:solidFill>
            <a:srgbClr val="17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983480" y="2194560"/>
            <a:ext cx="3749040" cy="36576"/>
          </a:xfrm>
          <a:prstGeom prst="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92040" y="1691640"/>
            <a:ext cx="3931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472B6"/>
                </a:solidFill>
                <a:latin typeface="Segoe UI"/>
              </a:defRPr>
            </a:pPr>
            <a:r>
              <a:t>Cannibalization (Ăn thịt doanh thu)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92040" y="2286000"/>
            <a:ext cx="39319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Segoe UI"/>
              </a:defRPr>
            </a:pPr>
            <a:r>
              <a:t>• Việc trợ giá 25% cho những người đằng nào cũng phải đi làm dẫn đến doanh thu tăng thêm không bù nổi chi phí. ROI âm hoặc hòa vốn.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0"/>
            <a:ext cx="137160" cy="6858000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Segoe UI"/>
              </a:defRPr>
            </a:pPr>
            <a:r>
              <a:t>5. Phân tích HTE: Mỏ vàng Thực sự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FB800"/>
                </a:solidFill>
                <a:latin typeface="Segoe UI"/>
              </a:defRPr>
            </a:pPr>
            <a:r>
              <a:t>Nhóm Urban Credit Card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88720"/>
            <a:ext cx="2286000" cy="36576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6217920"/>
            <a:ext cx="8778240" cy="365760"/>
          </a:xfrm>
          <a:prstGeom prst="rect">
            <a:avLst/>
          </a:prstGeom>
          <a:solidFill>
            <a:srgbClr val="1C4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217920"/>
            <a:ext cx="73152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Segoe UI"/>
              </a:defRPr>
            </a:pPr>
            <a:r>
              <a:t>GSM Promotion Experimentation • Báo cáo Chuyên môn • Data Science Team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6583680"/>
            <a:ext cx="8778240" cy="274320"/>
          </a:xfrm>
          <a:prstGeom prst="rect">
            <a:avLst/>
          </a:prstGeom>
          <a:solidFill>
            <a:srgbClr val="070D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83680"/>
            <a:ext cx="457200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900">
                <a:solidFill>
                  <a:srgbClr val="38BDF8"/>
                </a:solidFill>
                <a:latin typeface="Segoe UI"/>
              </a:defRPr>
            </a:pPr>
            <a:r>
              <a:t>Project: Uplift Modeling &amp; Causal Inference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6583680"/>
            <a:ext cx="128016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05 / 06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1645920"/>
            <a:ext cx="4023360" cy="4114800"/>
          </a:xfrm>
          <a:prstGeom prst="roundRect">
            <a:avLst/>
          </a:prstGeom>
          <a:solidFill>
            <a:srgbClr val="17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2194560"/>
            <a:ext cx="3749040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1691640"/>
            <a:ext cx="3931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  <a:latin typeface="Segoe UI"/>
              </a:defRPr>
            </a:pPr>
            <a:r>
              <a:t>Bùng nổ Nhu cầu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286000"/>
            <a:ext cx="39319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Segoe UI"/>
              </a:defRPr>
            </a:pPr>
            <a:r>
              <a:t>• Khách nội thành đi chơi cực kỳ khoái khuyến mãi. Voucher đã kích hoạt số chuyến đi tăng vọt (+0.91 đến 2.5 chuyến).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846320" y="1645920"/>
            <a:ext cx="4023360" cy="4114800"/>
          </a:xfrm>
          <a:prstGeom prst="roundRect">
            <a:avLst/>
          </a:prstGeom>
          <a:solidFill>
            <a:srgbClr val="17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983480" y="2194560"/>
            <a:ext cx="3749040" cy="36576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92040" y="1691640"/>
            <a:ext cx="3931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4D399"/>
                </a:solidFill>
                <a:latin typeface="Segoe UI"/>
              </a:defRPr>
            </a:pPr>
            <a:r>
              <a:t>Super ROI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92040" y="2286000"/>
            <a:ext cx="39319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Segoe UI"/>
              </a:defRPr>
            </a:pPr>
            <a:r>
              <a:t>• Lợi nhuận ròng tăng đột biến, tỷ suất ROI vượt mốc 100%. Đây là tệp khách hàng "gánh" toàn bộ chiến dịch.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0"/>
            <a:ext cx="137160" cy="6858000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Segoe UI"/>
              </a:defRPr>
            </a:pPr>
            <a:r>
              <a:t>6. Lộ trình Triển khai Kế tiếp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FB800"/>
                </a:solidFill>
                <a:latin typeface="Segoe UI"/>
              </a:defRPr>
            </a:pPr>
            <a:r>
              <a:t>Hành động (Next Steps)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88720"/>
            <a:ext cx="2286000" cy="36576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6217920"/>
            <a:ext cx="8778240" cy="365760"/>
          </a:xfrm>
          <a:prstGeom prst="rect">
            <a:avLst/>
          </a:prstGeom>
          <a:solidFill>
            <a:srgbClr val="1C4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217920"/>
            <a:ext cx="73152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Segoe UI"/>
              </a:defRPr>
            </a:pPr>
            <a:r>
              <a:t>GSM Promotion Experimentation • Báo cáo Chuyên môn • Data Science Team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6583680"/>
            <a:ext cx="8778240" cy="274320"/>
          </a:xfrm>
          <a:prstGeom prst="rect">
            <a:avLst/>
          </a:prstGeom>
          <a:solidFill>
            <a:srgbClr val="070D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83680"/>
            <a:ext cx="457200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900">
                <a:solidFill>
                  <a:srgbClr val="38BDF8"/>
                </a:solidFill>
                <a:latin typeface="Segoe UI"/>
              </a:defRPr>
            </a:pPr>
            <a:r>
              <a:t>Project: Uplift Modeling &amp; Causal Inference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6583680"/>
            <a:ext cx="128016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06 / 06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1645920"/>
            <a:ext cx="2682240" cy="4114800"/>
          </a:xfrm>
          <a:prstGeom prst="roundRect">
            <a:avLst/>
          </a:prstGeom>
          <a:solidFill>
            <a:srgbClr val="17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2194560"/>
            <a:ext cx="2407920" cy="36576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1691640"/>
            <a:ext cx="2590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B800"/>
                </a:solidFill>
                <a:latin typeface="Segoe UI"/>
              </a:defRPr>
            </a:pPr>
            <a:r>
              <a:t>1. Stop Mass Marketing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286000"/>
            <a:ext cx="259080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Segoe UI"/>
              </a:defRPr>
            </a:pPr>
            <a:r>
              <a:t>• Chặn toàn bộ Voucher đối với nhóm Commuters để bảo toàn lợi nhuận biên (Profit Margin).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05200" y="1645920"/>
            <a:ext cx="2682240" cy="4114800"/>
          </a:xfrm>
          <a:prstGeom prst="roundRect">
            <a:avLst/>
          </a:prstGeom>
          <a:solidFill>
            <a:srgbClr val="17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42360" y="2194560"/>
            <a:ext cx="2407920" cy="36576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50920" y="1691640"/>
            <a:ext cx="2590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4D399"/>
                </a:solidFill>
                <a:latin typeface="Segoe UI"/>
              </a:defRPr>
            </a:pPr>
            <a:r>
              <a:t>2. Roll-out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50920" y="2286000"/>
            <a:ext cx="259080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Segoe UI"/>
              </a:defRPr>
            </a:pPr>
            <a:r>
              <a:t>• Chạy chiến dịch tự động tặng Voucher 25% cho tệp Urban Credit Card vào khung giờ thấp điểm.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70320" y="1645920"/>
            <a:ext cx="2682240" cy="4114800"/>
          </a:xfrm>
          <a:prstGeom prst="roundRect">
            <a:avLst/>
          </a:prstGeom>
          <a:solidFill>
            <a:srgbClr val="17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507480" y="2194560"/>
            <a:ext cx="2407920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16040" y="1691640"/>
            <a:ext cx="2590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  <a:latin typeface="Segoe UI"/>
              </a:defRPr>
            </a:pPr>
            <a:r>
              <a:t>3. Causal ML (Uplift)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16040" y="2286000"/>
            <a:ext cx="259080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Segoe UI"/>
              </a:defRPr>
            </a:pPr>
            <a:r>
              <a:t>• Bước tiếp theo: Dùng AI dự đoán chính xác từng cá nhân (Persuadables) để tối ưu hóa triệt để chi phí.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