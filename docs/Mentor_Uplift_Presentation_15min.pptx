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9" r:id="rId3"/>
    <p:sldId id="260" r:id="rId4"/>
    <p:sldId id="261" r:id="rId5"/>
    <p:sldId id="262" r:id="rId6"/>
    <p:sldId id="263" r:id="rId7"/>
    <p:sldId id="264"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36" d="100"/>
          <a:sy n="36" d="100"/>
        </p:scale>
        <p:origin x="2765" y="3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835F29-532A-4392-845F-1E332F7FE3C4}" type="datetimeFigureOut">
              <a:rPr lang="en-US" smtClean="0"/>
              <a:t>8/20/2026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F2D62-2C75-4BBC-9DE5-FEEF19C47B2D}" type="slidenum">
              <a:rPr lang="en-US" smtClean="0"/>
              <a:t>‹#›</a:t>
            </a:fld>
            <a:endParaRPr lang="en-US"/>
          </a:p>
        </p:txBody>
      </p:sp>
    </p:spTree>
    <p:extLst>
      <p:ext uri="{BB962C8B-B14F-4D97-AF65-F5344CB8AC3E}">
        <p14:creationId xmlns:p14="http://schemas.microsoft.com/office/powerpoint/2010/main" val="2401256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45-60 giây
Mở: Trong synthetic sandbox, phát voucher đại trà làm số chuyến và doanh thu tăng, nhưng phần contribution margin tạo thêm không đủ bù voucher burn.
Lưu ý khi bị hỏi: Net profit = incremental revenue x contribution margin 70% - voucher burn. Vì vậy $561,413 - $662,365 không phải phép tính net profit trực tiếp.
Chuyển: Trước khi tối ưu phát cho ai, bước đầu tiên là chứng minh voucher thực sự tạo causal uplift.
[Sources]
src/dashboard/app.py; data/processed/test_predictions.csv; docs/Week5_Uplift_Modeling_Report.md</a:t>
            </a:r>
            <a:endParaRPr lang="en-US"/>
          </a:p>
        </p:txBody>
      </p:sp>
      <p:sp>
        <p:nvSpPr>
          <p:cNvPr id="4" name="Slide Number Placeholder 3"/>
          <p:cNvSpPr>
            <a:spLocks noGrp="1"/>
          </p:cNvSpPr>
          <p:nvPr>
            <p:ph type="sldNum" sz="quarter" idx="5"/>
          </p:nvPr>
        </p:nvSpPr>
        <p:spPr/>
        <p:txBody>
          <a:bodyPr/>
          <a:lstStyle/>
          <a:p>
            <a:fld id="{324F2D62-2C75-4BBC-9DE5-FEEF19C47B2D}" type="slidenum">
              <a:rPr lang="en-US" smtClean="0"/>
              <a:t>1</a:t>
            </a:fld>
            <a:endParaRPr lang="en-US"/>
          </a:p>
        </p:txBody>
      </p:sp>
    </p:spTree>
    <p:extLst>
      <p:ext uri="{BB962C8B-B14F-4D97-AF65-F5344CB8AC3E}">
        <p14:creationId xmlns:p14="http://schemas.microsoft.com/office/powerpoint/2010/main" val="3019326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60 giây
A/B evidence cho thấy Raw ATE khoảng 0,96 và Adjusted ATE khoảng 0,95 chuyến trên khách hàng trong 30 ngày. Khoảng tin cậy không chứa 0 nên tác động trung bình có ý nghĩa thống kê.
Nhưng ATE chỉ trả lời mức tăng trung bình. Nó chưa nói khách hàng nào phản ứng mạnh và khách hàng nào vốn vẫn đi xe dù không có voucher.
Chuyển: Vì vậy project chuyển từ ATE sang CATE và so sánh các uplift learners.
[Sources]
docs/Week4_AA_AB_Testing_Report.md; src/dashboard/app.py</a:t>
            </a:r>
            <a:endParaRPr lang="en-US"/>
          </a:p>
        </p:txBody>
      </p:sp>
      <p:sp>
        <p:nvSpPr>
          <p:cNvPr id="4" name="Slide Number Placeholder 3"/>
          <p:cNvSpPr>
            <a:spLocks noGrp="1"/>
          </p:cNvSpPr>
          <p:nvPr>
            <p:ph type="sldNum" sz="quarter" idx="5"/>
          </p:nvPr>
        </p:nvSpPr>
        <p:spPr/>
        <p:txBody>
          <a:bodyPr/>
          <a:lstStyle/>
          <a:p>
            <a:fld id="{324F2D62-2C75-4BBC-9DE5-FEEF19C47B2D}" type="slidenum">
              <a:rPr lang="en-US" smtClean="0"/>
              <a:t>2</a:t>
            </a:fld>
            <a:endParaRPr lang="en-US"/>
          </a:p>
        </p:txBody>
      </p:sp>
    </p:spTree>
    <p:extLst>
      <p:ext uri="{BB962C8B-B14F-4D97-AF65-F5344CB8AC3E}">
        <p14:creationId xmlns:p14="http://schemas.microsoft.com/office/powerpoint/2010/main" val="4124836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75-90 giây
Các model được so sánh trên cùng held-out test set. Simplified R-Learner-style có Qini 0,188, cao nhất trong các model đã thử và cao hơn random baseline.
Không gọi đây là full DML vì implementation chưa cross-fitting. Qini cho thấy ranking hữu ích, nhưng calibration cho thấy độ lớn CATE dự báo chưa hoàn hảo.
Chuyển: Ranking tốt vẫn chưa đủ; CATE cao có thể đi kèm promotion burn lớn. Cần chuyển signal sang Expected Value.
[Sources]
docs/Week5_Uplift_Modeling_Report.md; notebooks/week5_uplift_modeling/</a:t>
            </a:r>
            <a:endParaRPr lang="en-US"/>
          </a:p>
        </p:txBody>
      </p:sp>
      <p:sp>
        <p:nvSpPr>
          <p:cNvPr id="4" name="Slide Number Placeholder 3"/>
          <p:cNvSpPr>
            <a:spLocks noGrp="1"/>
          </p:cNvSpPr>
          <p:nvPr>
            <p:ph type="sldNum" sz="quarter" idx="5"/>
          </p:nvPr>
        </p:nvSpPr>
        <p:spPr/>
        <p:txBody>
          <a:bodyPr/>
          <a:lstStyle/>
          <a:p>
            <a:fld id="{324F2D62-2C75-4BBC-9DE5-FEEF19C47B2D}" type="slidenum">
              <a:rPr lang="en-US" smtClean="0"/>
              <a:t>3</a:t>
            </a:fld>
            <a:endParaRPr lang="en-US"/>
          </a:p>
        </p:txBody>
      </p:sp>
    </p:spTree>
    <p:extLst>
      <p:ext uri="{BB962C8B-B14F-4D97-AF65-F5344CB8AC3E}">
        <p14:creationId xmlns:p14="http://schemas.microsoft.com/office/powerpoint/2010/main" val="2661610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75-90 giây
Decision rule là EV &gt; 0, tức incremental margin phải lớn hơn expected voucher burn. Snapshot test chọn 888 trên 4.000 khách hàng; đây là kết quả của rule, không phải quota 22,2% cố định.
Predicted profit và synthetic benchmark đều là số liệu mô phỏng, không phải lợi nhuận production.
Chuyển sang demo: Mở dashboard tại Qini/Calibration, sau đó sang Policy Simulator. Chỉ thay một tham số voucher rate hoặc budget.
[Sources]
docs/Week5_Uplift_Modeling_Report.md; src/dashboard/app.py</a:t>
            </a:r>
            <a:endParaRPr lang="en-US"/>
          </a:p>
        </p:txBody>
      </p:sp>
      <p:sp>
        <p:nvSpPr>
          <p:cNvPr id="4" name="Slide Number Placeholder 3"/>
          <p:cNvSpPr>
            <a:spLocks noGrp="1"/>
          </p:cNvSpPr>
          <p:nvPr>
            <p:ph type="sldNum" sz="quarter" idx="5"/>
          </p:nvPr>
        </p:nvSpPr>
        <p:spPr/>
        <p:txBody>
          <a:bodyPr/>
          <a:lstStyle/>
          <a:p>
            <a:fld id="{324F2D62-2C75-4BBC-9DE5-FEEF19C47B2D}" type="slidenum">
              <a:rPr lang="en-US" smtClean="0"/>
              <a:t>4</a:t>
            </a:fld>
            <a:endParaRPr lang="en-US"/>
          </a:p>
        </p:txBody>
      </p:sp>
    </p:spTree>
    <p:extLst>
      <p:ext uri="{BB962C8B-B14F-4D97-AF65-F5344CB8AC3E}">
        <p14:creationId xmlns:p14="http://schemas.microsoft.com/office/powerpoint/2010/main" val="2503165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Thời lượng: 45-60 giây
Kết luận: evidence hiện tại đủ để đề xuất một randomized pilot có guardrails, nhưng chưa đủ để rollout production.
Ba điểm cần mentor phản biện là logic chọn model, assumptions economics và thiết kế pilot. Sau câu này dừng trình bày và mời mentor đặt câu hỏi.
[Sources]
docs/Week5_Uplift_Modeling_Report.md; docs/Week6_Stress_Test_Report.md; data/processed/week6_stress_test_metrics.json</a:t>
            </a:r>
            <a:endParaRPr lang="en-US"/>
          </a:p>
        </p:txBody>
      </p:sp>
      <p:sp>
        <p:nvSpPr>
          <p:cNvPr id="4" name="Slide Number Placeholder 3"/>
          <p:cNvSpPr>
            <a:spLocks noGrp="1"/>
          </p:cNvSpPr>
          <p:nvPr>
            <p:ph type="sldNum" sz="quarter" idx="5"/>
          </p:nvPr>
        </p:nvSpPr>
        <p:spPr/>
        <p:txBody>
          <a:bodyPr/>
          <a:lstStyle/>
          <a:p>
            <a:fld id="{324F2D62-2C75-4BBC-9DE5-FEEF19C47B2D}" type="slidenum">
              <a:rPr lang="en-US" smtClean="0"/>
              <a:t>5</a:t>
            </a:fld>
            <a:endParaRPr lang="en-US"/>
          </a:p>
        </p:txBody>
      </p:sp>
    </p:spTree>
    <p:extLst>
      <p:ext uri="{BB962C8B-B14F-4D97-AF65-F5344CB8AC3E}">
        <p14:creationId xmlns:p14="http://schemas.microsoft.com/office/powerpoint/2010/main" val="1601261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ẩn. Chỉ mở khi mentor hỏi công thức EV, voucher assumptions hoặc budget heuristic.
[Sources]
docs/Week5_Uplift_Modeling_Report.md; src/dashboard/app.py</a:t>
            </a:r>
          </a:p>
        </p:txBody>
      </p:sp>
      <p:sp>
        <p:nvSpPr>
          <p:cNvPr id="4" name="Slide Number Placeholder 3"/>
          <p:cNvSpPr>
            <a:spLocks noGrp="1"/>
          </p:cNvSpPr>
          <p:nvPr>
            <p:ph type="sldNum" sz="quarter" idx="5"/>
          </p:nvPr>
        </p:nvSpPr>
        <p:spPr/>
        <p:txBody>
          <a:bodyPr/>
          <a:lstStyle/>
          <a:p>
            <a:fld id="{324F2D62-2C75-4BBC-9DE5-FEEF19C47B2D}" type="slidenum">
              <a:rPr lang="en-US" smtClean="0"/>
              <a:t>6</a:t>
            </a:fld>
            <a:endParaRPr lang="en-US"/>
          </a:p>
        </p:txBody>
      </p:sp>
    </p:spTree>
    <p:extLst>
      <p:ext uri="{BB962C8B-B14F-4D97-AF65-F5344CB8AC3E}">
        <p14:creationId xmlns:p14="http://schemas.microsoft.com/office/powerpoint/2010/main" val="2578992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ẩn. Chỉ mở khi mentor hỏi A/A false-positive rate hoặc cách kiểm tra measurement framework.
[Sources]
notebooks/week6_stress_test/1_stress_test.ipynb; data/processed/week6_stress_test_metrics.json</a:t>
            </a:r>
          </a:p>
        </p:txBody>
      </p:sp>
      <p:sp>
        <p:nvSpPr>
          <p:cNvPr id="4" name="Slide Number Placeholder 3"/>
          <p:cNvSpPr>
            <a:spLocks noGrp="1"/>
          </p:cNvSpPr>
          <p:nvPr>
            <p:ph type="sldNum" sz="quarter" idx="5"/>
          </p:nvPr>
        </p:nvSpPr>
        <p:spPr/>
        <p:txBody>
          <a:bodyPr/>
          <a:lstStyle/>
          <a:p>
            <a:fld id="{324F2D62-2C75-4BBC-9DE5-FEEF19C47B2D}" type="slidenum">
              <a:rPr lang="en-US" smtClean="0"/>
              <a:t>7</a:t>
            </a:fld>
            <a:endParaRPr lang="en-US"/>
          </a:p>
        </p:txBody>
      </p:sp>
    </p:spTree>
    <p:extLst>
      <p:ext uri="{BB962C8B-B14F-4D97-AF65-F5344CB8AC3E}">
        <p14:creationId xmlns:p14="http://schemas.microsoft.com/office/powerpoint/2010/main" val="255980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8231D-F302-EF6E-A01F-1B1E65455A3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08B38F0-B078-845D-EA6D-0769047F4EB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9ABE6E8-EC2E-485F-738E-13DBF5C0E31A}"/>
              </a:ext>
            </a:extLst>
          </p:cNvPr>
          <p:cNvSpPr>
            <a:spLocks noGrp="1"/>
          </p:cNvSpPr>
          <p:nvPr>
            <p:ph type="dt" sz="half" idx="10"/>
          </p:nvPr>
        </p:nvSpPr>
        <p:spPr/>
        <p:txBody>
          <a:bodyPr/>
          <a:lstStyle/>
          <a:p>
            <a:fld id="{33627A67-AC03-49C2-93DA-F8F70DBCEF90}" type="datetimeFigureOut">
              <a:rPr lang="en-US" smtClean="0"/>
              <a:t>8/20/2026</a:t>
            </a:fld>
            <a:endParaRPr lang="en-US"/>
          </a:p>
        </p:txBody>
      </p:sp>
      <p:sp>
        <p:nvSpPr>
          <p:cNvPr id="5" name="Footer Placeholder 4">
            <a:extLst>
              <a:ext uri="{FF2B5EF4-FFF2-40B4-BE49-F238E27FC236}">
                <a16:creationId xmlns:a16="http://schemas.microsoft.com/office/drawing/2014/main" id="{8DA7B238-C522-0734-B410-85616C0667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AE6E5-C51E-9EB2-1AAD-0705EB77272F}"/>
              </a:ext>
            </a:extLst>
          </p:cNvPr>
          <p:cNvSpPr>
            <a:spLocks noGrp="1"/>
          </p:cNvSpPr>
          <p:nvPr>
            <p:ph type="sldNum" sz="quarter" idx="12"/>
          </p:nvPr>
        </p:nvSpPr>
        <p:spPr/>
        <p:txBody>
          <a:bodyPr/>
          <a:lstStyle/>
          <a:p>
            <a:fld id="{68BC8D4E-3EF4-4178-AE38-562007EAAE20}" type="slidenum">
              <a:rPr lang="en-US" smtClean="0"/>
              <a:t>‹#›</a:t>
            </a:fld>
            <a:endParaRPr lang="en-US"/>
          </a:p>
        </p:txBody>
      </p:sp>
    </p:spTree>
    <p:extLst>
      <p:ext uri="{BB962C8B-B14F-4D97-AF65-F5344CB8AC3E}">
        <p14:creationId xmlns:p14="http://schemas.microsoft.com/office/powerpoint/2010/main" val="1080724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6EDCC-611D-CA9C-B67C-027728BF58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1B6943-9F7C-011C-FCF4-1739AB8382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E1892-5F74-CB7D-3773-12981E670EF9}"/>
              </a:ext>
            </a:extLst>
          </p:cNvPr>
          <p:cNvSpPr>
            <a:spLocks noGrp="1"/>
          </p:cNvSpPr>
          <p:nvPr>
            <p:ph type="dt" sz="half" idx="10"/>
          </p:nvPr>
        </p:nvSpPr>
        <p:spPr/>
        <p:txBody>
          <a:bodyPr/>
          <a:lstStyle/>
          <a:p>
            <a:fld id="{33627A67-AC03-49C2-93DA-F8F70DBCEF90}" type="datetimeFigureOut">
              <a:rPr lang="en-US" smtClean="0"/>
              <a:t>8/20/2026</a:t>
            </a:fld>
            <a:endParaRPr lang="en-US"/>
          </a:p>
        </p:txBody>
      </p:sp>
      <p:sp>
        <p:nvSpPr>
          <p:cNvPr id="5" name="Footer Placeholder 4">
            <a:extLst>
              <a:ext uri="{FF2B5EF4-FFF2-40B4-BE49-F238E27FC236}">
                <a16:creationId xmlns:a16="http://schemas.microsoft.com/office/drawing/2014/main" id="{7864F504-1F59-2567-8B5E-685517BB3D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6CCC0-BE08-4AC1-111E-13E0563C2A81}"/>
              </a:ext>
            </a:extLst>
          </p:cNvPr>
          <p:cNvSpPr>
            <a:spLocks noGrp="1"/>
          </p:cNvSpPr>
          <p:nvPr>
            <p:ph type="sldNum" sz="quarter" idx="12"/>
          </p:nvPr>
        </p:nvSpPr>
        <p:spPr/>
        <p:txBody>
          <a:bodyPr/>
          <a:lstStyle/>
          <a:p>
            <a:fld id="{68BC8D4E-3EF4-4178-AE38-562007EAAE20}" type="slidenum">
              <a:rPr lang="en-US" smtClean="0"/>
              <a:t>‹#›</a:t>
            </a:fld>
            <a:endParaRPr lang="en-US"/>
          </a:p>
        </p:txBody>
      </p:sp>
    </p:spTree>
    <p:extLst>
      <p:ext uri="{BB962C8B-B14F-4D97-AF65-F5344CB8AC3E}">
        <p14:creationId xmlns:p14="http://schemas.microsoft.com/office/powerpoint/2010/main" val="87225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07171-1F84-A0C5-F1AE-071AAFCE6E3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B67792BF-7FB1-911A-6A7E-0BB0A0CB8DD8}"/>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B5F337-2BBF-792E-A7B8-5BBDE9A58068}"/>
              </a:ext>
            </a:extLst>
          </p:cNvPr>
          <p:cNvSpPr>
            <a:spLocks noGrp="1"/>
          </p:cNvSpPr>
          <p:nvPr>
            <p:ph type="dt" sz="half" idx="10"/>
          </p:nvPr>
        </p:nvSpPr>
        <p:spPr/>
        <p:txBody>
          <a:bodyPr/>
          <a:lstStyle/>
          <a:p>
            <a:fld id="{33627A67-AC03-49C2-93DA-F8F70DBCEF90}" type="datetimeFigureOut">
              <a:rPr lang="en-US" smtClean="0"/>
              <a:t>8/20/2026</a:t>
            </a:fld>
            <a:endParaRPr lang="en-US"/>
          </a:p>
        </p:txBody>
      </p:sp>
      <p:sp>
        <p:nvSpPr>
          <p:cNvPr id="5" name="Footer Placeholder 4">
            <a:extLst>
              <a:ext uri="{FF2B5EF4-FFF2-40B4-BE49-F238E27FC236}">
                <a16:creationId xmlns:a16="http://schemas.microsoft.com/office/drawing/2014/main" id="{F64F1740-985E-DB31-ABDA-1A2BC094E2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29E3DC-4B91-F8C3-FD34-A03097999E74}"/>
              </a:ext>
            </a:extLst>
          </p:cNvPr>
          <p:cNvSpPr>
            <a:spLocks noGrp="1"/>
          </p:cNvSpPr>
          <p:nvPr>
            <p:ph type="sldNum" sz="quarter" idx="12"/>
          </p:nvPr>
        </p:nvSpPr>
        <p:spPr/>
        <p:txBody>
          <a:bodyPr/>
          <a:lstStyle/>
          <a:p>
            <a:fld id="{68BC8D4E-3EF4-4178-AE38-562007EAAE20}" type="slidenum">
              <a:rPr lang="en-US" smtClean="0"/>
              <a:t>‹#›</a:t>
            </a:fld>
            <a:endParaRPr lang="en-US"/>
          </a:p>
        </p:txBody>
      </p:sp>
    </p:spTree>
    <p:extLst>
      <p:ext uri="{BB962C8B-B14F-4D97-AF65-F5344CB8AC3E}">
        <p14:creationId xmlns:p14="http://schemas.microsoft.com/office/powerpoint/2010/main" val="1805643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FFDA7-8053-A29C-9F62-AC873D05CB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915E7F-3DC6-E338-B30A-8AFB7764C6BF}"/>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366143-20BC-46E0-B7A6-B98B1C0DECB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74A77C-F401-0D34-D73C-066E35135FE0}"/>
              </a:ext>
            </a:extLst>
          </p:cNvPr>
          <p:cNvSpPr>
            <a:spLocks noGrp="1"/>
          </p:cNvSpPr>
          <p:nvPr>
            <p:ph type="dt" sz="half" idx="10"/>
          </p:nvPr>
        </p:nvSpPr>
        <p:spPr/>
        <p:txBody>
          <a:bodyPr/>
          <a:lstStyle/>
          <a:p>
            <a:fld id="{33627A67-AC03-49C2-93DA-F8F70DBCEF90}" type="datetimeFigureOut">
              <a:rPr lang="en-US" smtClean="0"/>
              <a:t>8/20/2026</a:t>
            </a:fld>
            <a:endParaRPr lang="en-US"/>
          </a:p>
        </p:txBody>
      </p:sp>
      <p:sp>
        <p:nvSpPr>
          <p:cNvPr id="6" name="Footer Placeholder 5">
            <a:extLst>
              <a:ext uri="{FF2B5EF4-FFF2-40B4-BE49-F238E27FC236}">
                <a16:creationId xmlns:a16="http://schemas.microsoft.com/office/drawing/2014/main" id="{D0BA7F73-0815-5661-5415-0A944791D3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EEDA81-0C6B-5E30-5845-F518E89E7BB3}"/>
              </a:ext>
            </a:extLst>
          </p:cNvPr>
          <p:cNvSpPr>
            <a:spLocks noGrp="1"/>
          </p:cNvSpPr>
          <p:nvPr>
            <p:ph type="sldNum" sz="quarter" idx="12"/>
          </p:nvPr>
        </p:nvSpPr>
        <p:spPr/>
        <p:txBody>
          <a:bodyPr/>
          <a:lstStyle/>
          <a:p>
            <a:fld id="{68BC8D4E-3EF4-4178-AE38-562007EAAE20}" type="slidenum">
              <a:rPr lang="en-US" smtClean="0"/>
              <a:t>‹#›</a:t>
            </a:fld>
            <a:endParaRPr lang="en-US"/>
          </a:p>
        </p:txBody>
      </p:sp>
    </p:spTree>
    <p:extLst>
      <p:ext uri="{BB962C8B-B14F-4D97-AF65-F5344CB8AC3E}">
        <p14:creationId xmlns:p14="http://schemas.microsoft.com/office/powerpoint/2010/main" val="4180720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336EF-7A94-EFAF-8A8B-7D8C1DC60E15}"/>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DB2C48-466E-0A51-1FB3-7D707228A4FE}"/>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0D85A9A-9E3F-67E4-E5F2-2B2B25441EE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51B1D4-0C9C-E7F1-32AF-003E6EDFD9B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3716AB1-FE54-D959-3427-8B325973DC6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E62494-C882-D2D0-23C4-3651BF92182A}"/>
              </a:ext>
            </a:extLst>
          </p:cNvPr>
          <p:cNvSpPr>
            <a:spLocks noGrp="1"/>
          </p:cNvSpPr>
          <p:nvPr>
            <p:ph type="dt" sz="half" idx="10"/>
          </p:nvPr>
        </p:nvSpPr>
        <p:spPr/>
        <p:txBody>
          <a:bodyPr/>
          <a:lstStyle/>
          <a:p>
            <a:fld id="{33627A67-AC03-49C2-93DA-F8F70DBCEF90}" type="datetimeFigureOut">
              <a:rPr lang="en-US" smtClean="0"/>
              <a:t>8/20/2026</a:t>
            </a:fld>
            <a:endParaRPr lang="en-US"/>
          </a:p>
        </p:txBody>
      </p:sp>
      <p:sp>
        <p:nvSpPr>
          <p:cNvPr id="8" name="Footer Placeholder 7">
            <a:extLst>
              <a:ext uri="{FF2B5EF4-FFF2-40B4-BE49-F238E27FC236}">
                <a16:creationId xmlns:a16="http://schemas.microsoft.com/office/drawing/2014/main" id="{E210BC03-46D4-8E31-6BC3-198C7AF2FB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A4213D-D5CE-C2AE-57C7-EB5014980407}"/>
              </a:ext>
            </a:extLst>
          </p:cNvPr>
          <p:cNvSpPr>
            <a:spLocks noGrp="1"/>
          </p:cNvSpPr>
          <p:nvPr>
            <p:ph type="sldNum" sz="quarter" idx="12"/>
          </p:nvPr>
        </p:nvSpPr>
        <p:spPr/>
        <p:txBody>
          <a:bodyPr/>
          <a:lstStyle/>
          <a:p>
            <a:fld id="{68BC8D4E-3EF4-4178-AE38-562007EAAE20}" type="slidenum">
              <a:rPr lang="en-US" smtClean="0"/>
              <a:t>‹#›</a:t>
            </a:fld>
            <a:endParaRPr lang="en-US"/>
          </a:p>
        </p:txBody>
      </p:sp>
    </p:spTree>
    <p:extLst>
      <p:ext uri="{BB962C8B-B14F-4D97-AF65-F5344CB8AC3E}">
        <p14:creationId xmlns:p14="http://schemas.microsoft.com/office/powerpoint/2010/main" val="983954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0A421-8680-5693-F763-1848E38C21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D0C3A7-3449-0D65-54F4-2CCE20FEDDF9}"/>
              </a:ext>
            </a:extLst>
          </p:cNvPr>
          <p:cNvSpPr>
            <a:spLocks noGrp="1"/>
          </p:cNvSpPr>
          <p:nvPr>
            <p:ph type="dt" sz="half" idx="10"/>
          </p:nvPr>
        </p:nvSpPr>
        <p:spPr/>
        <p:txBody>
          <a:bodyPr/>
          <a:lstStyle/>
          <a:p>
            <a:fld id="{33627A67-AC03-49C2-93DA-F8F70DBCEF90}" type="datetimeFigureOut">
              <a:rPr lang="en-US" smtClean="0"/>
              <a:t>8/20/2026</a:t>
            </a:fld>
            <a:endParaRPr lang="en-US"/>
          </a:p>
        </p:txBody>
      </p:sp>
      <p:sp>
        <p:nvSpPr>
          <p:cNvPr id="4" name="Footer Placeholder 3">
            <a:extLst>
              <a:ext uri="{FF2B5EF4-FFF2-40B4-BE49-F238E27FC236}">
                <a16:creationId xmlns:a16="http://schemas.microsoft.com/office/drawing/2014/main" id="{0C18433D-162B-4159-0C4A-05FD5F7432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F0D208-9A1E-5EF7-BB03-A8F79A02F4E8}"/>
              </a:ext>
            </a:extLst>
          </p:cNvPr>
          <p:cNvSpPr>
            <a:spLocks noGrp="1"/>
          </p:cNvSpPr>
          <p:nvPr>
            <p:ph type="sldNum" sz="quarter" idx="12"/>
          </p:nvPr>
        </p:nvSpPr>
        <p:spPr/>
        <p:txBody>
          <a:bodyPr/>
          <a:lstStyle/>
          <a:p>
            <a:fld id="{68BC8D4E-3EF4-4178-AE38-562007EAAE20}" type="slidenum">
              <a:rPr lang="en-US" smtClean="0"/>
              <a:t>‹#›</a:t>
            </a:fld>
            <a:endParaRPr lang="en-US"/>
          </a:p>
        </p:txBody>
      </p:sp>
    </p:spTree>
    <p:extLst>
      <p:ext uri="{BB962C8B-B14F-4D97-AF65-F5344CB8AC3E}">
        <p14:creationId xmlns:p14="http://schemas.microsoft.com/office/powerpoint/2010/main" val="2058737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C0786B-09EF-DBD5-98CE-83E84B0F2D78}"/>
              </a:ext>
            </a:extLst>
          </p:cNvPr>
          <p:cNvSpPr>
            <a:spLocks noGrp="1"/>
          </p:cNvSpPr>
          <p:nvPr>
            <p:ph type="dt" sz="half" idx="10"/>
          </p:nvPr>
        </p:nvSpPr>
        <p:spPr/>
        <p:txBody>
          <a:bodyPr/>
          <a:lstStyle/>
          <a:p>
            <a:fld id="{33627A67-AC03-49C2-93DA-F8F70DBCEF90}" type="datetimeFigureOut">
              <a:rPr lang="en-US" smtClean="0"/>
              <a:t>8/20/2026</a:t>
            </a:fld>
            <a:endParaRPr lang="en-US"/>
          </a:p>
        </p:txBody>
      </p:sp>
      <p:sp>
        <p:nvSpPr>
          <p:cNvPr id="3" name="Footer Placeholder 2">
            <a:extLst>
              <a:ext uri="{FF2B5EF4-FFF2-40B4-BE49-F238E27FC236}">
                <a16:creationId xmlns:a16="http://schemas.microsoft.com/office/drawing/2014/main" id="{B0DB2B0C-096D-2FD3-0991-1A70C719B5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916F9E-8D77-B707-0CC2-3F5F7FE14DD5}"/>
              </a:ext>
            </a:extLst>
          </p:cNvPr>
          <p:cNvSpPr>
            <a:spLocks noGrp="1"/>
          </p:cNvSpPr>
          <p:nvPr>
            <p:ph type="sldNum" sz="quarter" idx="12"/>
          </p:nvPr>
        </p:nvSpPr>
        <p:spPr/>
        <p:txBody>
          <a:bodyPr/>
          <a:lstStyle/>
          <a:p>
            <a:fld id="{68BC8D4E-3EF4-4178-AE38-562007EAAE20}" type="slidenum">
              <a:rPr lang="en-US" smtClean="0"/>
              <a:t>‹#›</a:t>
            </a:fld>
            <a:endParaRPr lang="en-US"/>
          </a:p>
        </p:txBody>
      </p:sp>
    </p:spTree>
    <p:extLst>
      <p:ext uri="{BB962C8B-B14F-4D97-AF65-F5344CB8AC3E}">
        <p14:creationId xmlns:p14="http://schemas.microsoft.com/office/powerpoint/2010/main" val="407154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93873-75DC-78FF-848E-E62A9ACEC75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1BD5DCBE-EBA8-97DE-FB9A-E6A783CCBD12}"/>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939137F-5F74-8332-4280-D23700B0D22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BA9BEA4-06A3-7D22-7DF9-568A32425F78}"/>
              </a:ext>
            </a:extLst>
          </p:cNvPr>
          <p:cNvSpPr>
            <a:spLocks noGrp="1"/>
          </p:cNvSpPr>
          <p:nvPr>
            <p:ph type="dt" sz="half" idx="10"/>
          </p:nvPr>
        </p:nvSpPr>
        <p:spPr/>
        <p:txBody>
          <a:bodyPr/>
          <a:lstStyle/>
          <a:p>
            <a:fld id="{33627A67-AC03-49C2-93DA-F8F70DBCEF90}" type="datetimeFigureOut">
              <a:rPr lang="en-US" smtClean="0"/>
              <a:t>8/20/2026</a:t>
            </a:fld>
            <a:endParaRPr lang="en-US"/>
          </a:p>
        </p:txBody>
      </p:sp>
      <p:sp>
        <p:nvSpPr>
          <p:cNvPr id="6" name="Footer Placeholder 5">
            <a:extLst>
              <a:ext uri="{FF2B5EF4-FFF2-40B4-BE49-F238E27FC236}">
                <a16:creationId xmlns:a16="http://schemas.microsoft.com/office/drawing/2014/main" id="{819C286F-28AB-055F-64E7-BAD69C32E9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A5A8E7-6DD0-1665-48A6-17ACEA32C69E}"/>
              </a:ext>
            </a:extLst>
          </p:cNvPr>
          <p:cNvSpPr>
            <a:spLocks noGrp="1"/>
          </p:cNvSpPr>
          <p:nvPr>
            <p:ph type="sldNum" sz="quarter" idx="12"/>
          </p:nvPr>
        </p:nvSpPr>
        <p:spPr/>
        <p:txBody>
          <a:bodyPr/>
          <a:lstStyle/>
          <a:p>
            <a:fld id="{68BC8D4E-3EF4-4178-AE38-562007EAAE20}" type="slidenum">
              <a:rPr lang="en-US" smtClean="0"/>
              <a:t>‹#›</a:t>
            </a:fld>
            <a:endParaRPr lang="en-US"/>
          </a:p>
        </p:txBody>
      </p:sp>
    </p:spTree>
    <p:extLst>
      <p:ext uri="{BB962C8B-B14F-4D97-AF65-F5344CB8AC3E}">
        <p14:creationId xmlns:p14="http://schemas.microsoft.com/office/powerpoint/2010/main" val="286277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E37C5-8C8D-5CF1-BD55-8D7B00086B4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2A00673A-484D-9414-86B4-FDC36D014A9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B6D5209-F97A-E805-3D79-956AA63E934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EDF2340-7A99-1342-5862-FABA46731C5F}"/>
              </a:ext>
            </a:extLst>
          </p:cNvPr>
          <p:cNvSpPr>
            <a:spLocks noGrp="1"/>
          </p:cNvSpPr>
          <p:nvPr>
            <p:ph type="dt" sz="half" idx="10"/>
          </p:nvPr>
        </p:nvSpPr>
        <p:spPr/>
        <p:txBody>
          <a:bodyPr/>
          <a:lstStyle/>
          <a:p>
            <a:fld id="{33627A67-AC03-49C2-93DA-F8F70DBCEF90}" type="datetimeFigureOut">
              <a:rPr lang="en-US" smtClean="0"/>
              <a:t>8/20/2026</a:t>
            </a:fld>
            <a:endParaRPr lang="en-US"/>
          </a:p>
        </p:txBody>
      </p:sp>
      <p:sp>
        <p:nvSpPr>
          <p:cNvPr id="6" name="Footer Placeholder 5">
            <a:extLst>
              <a:ext uri="{FF2B5EF4-FFF2-40B4-BE49-F238E27FC236}">
                <a16:creationId xmlns:a16="http://schemas.microsoft.com/office/drawing/2014/main" id="{1AB7C5F4-8B79-0D3F-2522-0DCA967B4F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163FF-5884-A959-A3AB-01CED411DEB6}"/>
              </a:ext>
            </a:extLst>
          </p:cNvPr>
          <p:cNvSpPr>
            <a:spLocks noGrp="1"/>
          </p:cNvSpPr>
          <p:nvPr>
            <p:ph type="sldNum" sz="quarter" idx="12"/>
          </p:nvPr>
        </p:nvSpPr>
        <p:spPr/>
        <p:txBody>
          <a:bodyPr/>
          <a:lstStyle/>
          <a:p>
            <a:fld id="{68BC8D4E-3EF4-4178-AE38-562007EAAE20}" type="slidenum">
              <a:rPr lang="en-US" smtClean="0"/>
              <a:t>‹#›</a:t>
            </a:fld>
            <a:endParaRPr lang="en-US"/>
          </a:p>
        </p:txBody>
      </p:sp>
    </p:spTree>
    <p:extLst>
      <p:ext uri="{BB962C8B-B14F-4D97-AF65-F5344CB8AC3E}">
        <p14:creationId xmlns:p14="http://schemas.microsoft.com/office/powerpoint/2010/main" val="605088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6E76F-9DCD-5D2A-1834-BAFD48D439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E93FE5-F79A-E0DB-A0EF-0AA1B5248F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0BB1B9-29FA-939A-EB8D-AC33A4BB4C09}"/>
              </a:ext>
            </a:extLst>
          </p:cNvPr>
          <p:cNvSpPr>
            <a:spLocks noGrp="1"/>
          </p:cNvSpPr>
          <p:nvPr>
            <p:ph type="dt" sz="half" idx="10"/>
          </p:nvPr>
        </p:nvSpPr>
        <p:spPr/>
        <p:txBody>
          <a:bodyPr/>
          <a:lstStyle/>
          <a:p>
            <a:fld id="{33627A67-AC03-49C2-93DA-F8F70DBCEF90}" type="datetimeFigureOut">
              <a:rPr lang="en-US" smtClean="0"/>
              <a:t>8/20/2026</a:t>
            </a:fld>
            <a:endParaRPr lang="en-US"/>
          </a:p>
        </p:txBody>
      </p:sp>
      <p:sp>
        <p:nvSpPr>
          <p:cNvPr id="5" name="Footer Placeholder 4">
            <a:extLst>
              <a:ext uri="{FF2B5EF4-FFF2-40B4-BE49-F238E27FC236}">
                <a16:creationId xmlns:a16="http://schemas.microsoft.com/office/drawing/2014/main" id="{0D3FC37D-2885-44EC-3CAF-FE68A21F9B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A4CAD9-2434-7A56-C89D-2D622442E3F5}"/>
              </a:ext>
            </a:extLst>
          </p:cNvPr>
          <p:cNvSpPr>
            <a:spLocks noGrp="1"/>
          </p:cNvSpPr>
          <p:nvPr>
            <p:ph type="sldNum" sz="quarter" idx="12"/>
          </p:nvPr>
        </p:nvSpPr>
        <p:spPr/>
        <p:txBody>
          <a:bodyPr/>
          <a:lstStyle/>
          <a:p>
            <a:fld id="{68BC8D4E-3EF4-4178-AE38-562007EAAE20}" type="slidenum">
              <a:rPr lang="en-US" smtClean="0"/>
              <a:t>‹#›</a:t>
            </a:fld>
            <a:endParaRPr lang="en-US"/>
          </a:p>
        </p:txBody>
      </p:sp>
    </p:spTree>
    <p:extLst>
      <p:ext uri="{BB962C8B-B14F-4D97-AF65-F5344CB8AC3E}">
        <p14:creationId xmlns:p14="http://schemas.microsoft.com/office/powerpoint/2010/main" val="1978873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F70E30-366A-B684-6A0E-5AD3CA12CBB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B6657F-AA33-2034-0A51-DB91125949D3}"/>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76E21E-8A19-ED65-2BE8-33B66A07FC1D}"/>
              </a:ext>
            </a:extLst>
          </p:cNvPr>
          <p:cNvSpPr>
            <a:spLocks noGrp="1"/>
          </p:cNvSpPr>
          <p:nvPr>
            <p:ph type="dt" sz="half" idx="10"/>
          </p:nvPr>
        </p:nvSpPr>
        <p:spPr/>
        <p:txBody>
          <a:bodyPr/>
          <a:lstStyle/>
          <a:p>
            <a:fld id="{33627A67-AC03-49C2-93DA-F8F70DBCEF90}" type="datetimeFigureOut">
              <a:rPr lang="en-US" smtClean="0"/>
              <a:t>8/20/2026</a:t>
            </a:fld>
            <a:endParaRPr lang="en-US"/>
          </a:p>
        </p:txBody>
      </p:sp>
      <p:sp>
        <p:nvSpPr>
          <p:cNvPr id="5" name="Footer Placeholder 4">
            <a:extLst>
              <a:ext uri="{FF2B5EF4-FFF2-40B4-BE49-F238E27FC236}">
                <a16:creationId xmlns:a16="http://schemas.microsoft.com/office/drawing/2014/main" id="{EFDE8A3A-D81B-BB79-34FC-69EB4DBE2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A119DC-02D5-D371-0227-E702FBA6FEAF}"/>
              </a:ext>
            </a:extLst>
          </p:cNvPr>
          <p:cNvSpPr>
            <a:spLocks noGrp="1"/>
          </p:cNvSpPr>
          <p:nvPr>
            <p:ph type="sldNum" sz="quarter" idx="12"/>
          </p:nvPr>
        </p:nvSpPr>
        <p:spPr/>
        <p:txBody>
          <a:bodyPr/>
          <a:lstStyle/>
          <a:p>
            <a:fld id="{68BC8D4E-3EF4-4178-AE38-562007EAAE20}" type="slidenum">
              <a:rPr lang="en-US" smtClean="0"/>
              <a:t>‹#›</a:t>
            </a:fld>
            <a:endParaRPr lang="en-US"/>
          </a:p>
        </p:txBody>
      </p:sp>
    </p:spTree>
    <p:extLst>
      <p:ext uri="{BB962C8B-B14F-4D97-AF65-F5344CB8AC3E}">
        <p14:creationId xmlns:p14="http://schemas.microsoft.com/office/powerpoint/2010/main" val="962123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DEC999-2C2A-C50B-A7F0-DEFC5851B11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3853F4-3D0A-B14F-2D6C-7B06C5D2D41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8A209A-9A47-F7A4-5FAC-819D3AF399B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33627A67-AC03-49C2-93DA-F8F70DBCEF90}" type="datetimeFigureOut">
              <a:rPr lang="en-US" smtClean="0"/>
              <a:t>8/20/2026</a:t>
            </a:fld>
            <a:endParaRPr lang="en-US"/>
          </a:p>
        </p:txBody>
      </p:sp>
      <p:sp>
        <p:nvSpPr>
          <p:cNvPr id="5" name="Footer Placeholder 4">
            <a:extLst>
              <a:ext uri="{FF2B5EF4-FFF2-40B4-BE49-F238E27FC236}">
                <a16:creationId xmlns:a16="http://schemas.microsoft.com/office/drawing/2014/main" id="{589A26D0-0565-1FFF-D90A-43B52908933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96B8BF-A4F2-AAA7-9028-8F95B785E49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68BC8D4E-3EF4-4178-AE38-562007EAAE20}" type="slidenum">
              <a:rPr lang="en-US" smtClean="0"/>
              <a:t>‹#›</a:t>
            </a:fld>
            <a:endParaRPr lang="en-US"/>
          </a:p>
        </p:txBody>
      </p:sp>
    </p:spTree>
    <p:extLst>
      <p:ext uri="{BB962C8B-B14F-4D97-AF65-F5344CB8AC3E}">
        <p14:creationId xmlns:p14="http://schemas.microsoft.com/office/powerpoint/2010/main" val="3866946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sp>
        <p:nvSpPr>
          <p:cNvPr id="2" name="Rectangle 1"/>
          <p:cNvSpPr/>
          <p:nvPr/>
        </p:nvSpPr>
        <p:spPr>
          <a:xfrm>
            <a:off x="365760" y="0"/>
            <a:ext cx="137160" cy="68580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2880"/>
            <a:ext cx="8203656" cy="492443"/>
          </a:xfrm>
          <a:prstGeom prst="rect">
            <a:avLst/>
          </a:prstGeom>
          <a:noFill/>
        </p:spPr>
        <p:txBody>
          <a:bodyPr wrap="none">
            <a:spAutoFit/>
          </a:bodyPr>
          <a:lstStyle/>
          <a:p>
            <a:pPr>
              <a:defRPr sz="2600" b="1">
                <a:solidFill>
                  <a:srgbClr val="FFFFFF"/>
                </a:solidFill>
                <a:latin typeface="Segoe UI"/>
              </a:defRPr>
            </a:pPr>
            <a:r>
              <a:rPr lang="vi-VN" sz="2600" b="1">
                <a:solidFill>
                  <a:srgbClr val="FFFFFF"/>
                </a:solidFill>
              </a:rPr>
              <a:t>1. Voucher đại trà tăng chuyến nhưng vẫn có thể lỗ</a:t>
            </a:r>
            <a:endParaRPr sz="2600" b="1">
              <a:solidFill>
                <a:srgbClr val="FFFFFF"/>
              </a:solidFill>
            </a:endParaRPr>
          </a:p>
        </p:txBody>
      </p:sp>
      <p:sp>
        <p:nvSpPr>
          <p:cNvPr id="4" name="TextBox 3"/>
          <p:cNvSpPr txBox="1"/>
          <p:nvPr/>
        </p:nvSpPr>
        <p:spPr>
          <a:xfrm>
            <a:off x="640080" y="731520"/>
            <a:ext cx="4312912" cy="292388"/>
          </a:xfrm>
          <a:prstGeom prst="rect">
            <a:avLst/>
          </a:prstGeom>
          <a:noFill/>
        </p:spPr>
        <p:txBody>
          <a:bodyPr wrap="none">
            <a:spAutoFit/>
          </a:bodyPr>
          <a:lstStyle/>
          <a:p>
            <a:pPr>
              <a:defRPr sz="1300">
                <a:solidFill>
                  <a:srgbClr val="FFB800"/>
                </a:solidFill>
                <a:latin typeface="Segoe UI"/>
              </a:defRPr>
            </a:pPr>
            <a:r>
              <a:rPr lang="en-US">
                <a:solidFill>
                  <a:srgbClr val="FFFFFF"/>
                </a:solidFill>
              </a:rPr>
              <a:t>Synthetic sandbox • 20.000 khách hàng • cửa sổ 30 ngày</a:t>
            </a:r>
            <a:endParaRPr>
              <a:solidFill>
                <a:srgbClr val="FFFFFF"/>
              </a:solidFill>
            </a:endParaRPr>
          </a:p>
        </p:txBody>
      </p:sp>
      <p:sp>
        <p:nvSpPr>
          <p:cNvPr id="5" name="Rectangle 4"/>
          <p:cNvSpPr/>
          <p:nvPr/>
        </p:nvSpPr>
        <p:spPr>
          <a:xfrm>
            <a:off x="640080" y="1188720"/>
            <a:ext cx="228600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6217920"/>
            <a:ext cx="8778240" cy="365760"/>
          </a:xfrm>
          <a:prstGeom prst="rect">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277689"/>
            <a:ext cx="4019049" cy="246221"/>
          </a:xfrm>
          <a:prstGeom prst="rect">
            <a:avLst/>
          </a:prstGeom>
          <a:noFill/>
        </p:spPr>
        <p:txBody>
          <a:bodyPr wrap="none" anchor="ctr">
            <a:spAutoFit/>
          </a:bodyPr>
          <a:lstStyle/>
          <a:p>
            <a:pPr>
              <a:defRPr sz="1000">
                <a:solidFill>
                  <a:srgbClr val="FFFFFF"/>
                </a:solidFill>
                <a:latin typeface="Segoe UI"/>
              </a:defRPr>
            </a:pPr>
            <a:r>
              <a:rPr lang="en-US">
                <a:solidFill>
                  <a:srgbClr val="FFFFFF"/>
                </a:solidFill>
              </a:rPr>
              <a:t>GSM Promotion Experimentation • Mentor Rehearsal • Data Science</a:t>
            </a:r>
            <a:endParaRPr>
              <a:solidFill>
                <a:srgbClr val="FFFFFF"/>
              </a:solidFill>
            </a:endParaRPr>
          </a:p>
        </p:txBody>
      </p:sp>
      <p:sp>
        <p:nvSpPr>
          <p:cNvPr id="8" name="Rectangle 7"/>
          <p:cNvSpPr/>
          <p:nvPr/>
        </p:nvSpPr>
        <p:spPr>
          <a:xfrm>
            <a:off x="365760" y="6583680"/>
            <a:ext cx="8778240" cy="27432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605424"/>
            <a:ext cx="2279791" cy="230832"/>
          </a:xfrm>
          <a:prstGeom prst="rect">
            <a:avLst/>
          </a:prstGeom>
          <a:noFill/>
        </p:spPr>
        <p:txBody>
          <a:bodyPr wrap="none" anchor="ctr">
            <a:spAutoFit/>
          </a:bodyPr>
          <a:lstStyle/>
          <a:p>
            <a:pPr>
              <a:defRPr sz="900">
                <a:solidFill>
                  <a:srgbClr val="38BDF8"/>
                </a:solidFill>
                <a:latin typeface="Segoe UI"/>
              </a:defRPr>
            </a:pPr>
            <a:r>
              <a:rPr lang="en-US">
                <a:solidFill>
                  <a:srgbClr val="FFFFFF"/>
                </a:solidFill>
              </a:rPr>
              <a:t>Uplift Modeling &amp; Profit-aware Targeting</a:t>
            </a:r>
            <a:endParaRPr>
              <a:solidFill>
                <a:srgbClr val="FFFFFF"/>
              </a:solidFill>
            </a:endParaRPr>
          </a:p>
        </p:txBody>
      </p:sp>
      <p:sp>
        <p:nvSpPr>
          <p:cNvPr id="10" name="TextBox 9"/>
          <p:cNvSpPr txBox="1"/>
          <p:nvPr/>
        </p:nvSpPr>
        <p:spPr>
          <a:xfrm>
            <a:off x="8489585" y="6605424"/>
            <a:ext cx="562975" cy="230832"/>
          </a:xfrm>
          <a:prstGeom prst="rect">
            <a:avLst/>
          </a:prstGeom>
          <a:noFill/>
        </p:spPr>
        <p:txBody>
          <a:bodyPr wrap="none" anchor="ctr">
            <a:spAutoFit/>
          </a:bodyPr>
          <a:lstStyle/>
          <a:p>
            <a:pPr algn="r">
              <a:defRPr sz="900" b="1">
                <a:solidFill>
                  <a:srgbClr val="FFFFFF"/>
                </a:solidFill>
                <a:latin typeface="Segoe UI"/>
              </a:defRPr>
            </a:pPr>
            <a:r>
              <a:rPr lang="en-US">
                <a:solidFill>
                  <a:srgbClr val="FFFFFF"/>
                </a:solidFill>
              </a:rPr>
              <a:t>01 / 05</a:t>
            </a:r>
            <a:endParaRPr>
              <a:solidFill>
                <a:srgbClr val="FFFFFF"/>
              </a:solidFill>
            </a:endParaRPr>
          </a:p>
        </p:txBody>
      </p:sp>
      <p:sp>
        <p:nvSpPr>
          <p:cNvPr id="11" name="Rounded Rectangle 10"/>
          <p:cNvSpPr/>
          <p:nvPr/>
        </p:nvSpPr>
        <p:spPr>
          <a:xfrm>
            <a:off x="640080" y="1645920"/>
            <a:ext cx="402336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 y="2194560"/>
            <a:ext cx="374904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691640"/>
            <a:ext cx="3931920" cy="338554"/>
          </a:xfrm>
          <a:prstGeom prst="rect">
            <a:avLst/>
          </a:prstGeom>
          <a:noFill/>
        </p:spPr>
        <p:txBody>
          <a:bodyPr wrap="square">
            <a:spAutoFit/>
          </a:bodyPr>
          <a:lstStyle/>
          <a:p>
            <a:pPr>
              <a:defRPr sz="1600" b="1">
                <a:solidFill>
                  <a:srgbClr val="FFB800"/>
                </a:solidFill>
                <a:latin typeface="Segoe UI"/>
              </a:defRPr>
            </a:pPr>
            <a:r>
              <a:rPr lang="en-US">
                <a:solidFill>
                  <a:srgbClr val="FFFFFF"/>
                </a:solidFill>
              </a:rPr>
              <a:t>Mass Voucher</a:t>
            </a:r>
            <a:endParaRPr>
              <a:solidFill>
                <a:srgbClr val="FFFFFF"/>
              </a:solidFill>
            </a:endParaRPr>
          </a:p>
        </p:txBody>
      </p:sp>
      <p:sp>
        <p:nvSpPr>
          <p:cNvPr id="14" name="TextBox 13"/>
          <p:cNvSpPr txBox="1"/>
          <p:nvPr/>
        </p:nvSpPr>
        <p:spPr>
          <a:xfrm>
            <a:off x="685800" y="2286000"/>
            <a:ext cx="3931920" cy="923330"/>
          </a:xfrm>
          <a:prstGeom prst="rect">
            <a:avLst/>
          </a:prstGeom>
          <a:noFill/>
        </p:spPr>
        <p:txBody>
          <a:bodyPr wrap="square">
            <a:spAutoFit/>
          </a:bodyPr>
          <a:lstStyle/>
          <a:p>
            <a:r>
              <a:rPr lang="en-US">
                <a:solidFill>
                  <a:srgbClr val="FFFFFF"/>
                </a:solidFill>
              </a:rPr>
              <a:t>• Incremental revenue: $561,413.</a:t>
            </a:r>
          </a:p>
          <a:p>
            <a:r>
              <a:rPr lang="en-US">
                <a:solidFill>
                  <a:srgbClr val="FFFFFF"/>
                </a:solidFill>
              </a:rPr>
              <a:t>• Voucher burn: $662,365.</a:t>
            </a:r>
          </a:p>
          <a:p>
            <a:r>
              <a:rPr lang="en-US">
                <a:solidFill>
                  <a:srgbClr val="FFFFFF"/>
                </a:solidFill>
              </a:rPr>
              <a:t>• Net profit: -$269,376; ROI: -40,7%.</a:t>
            </a:r>
            <a:endParaRPr>
              <a:solidFill>
                <a:srgbClr val="FFFFFF"/>
              </a:solidFill>
            </a:endParaRPr>
          </a:p>
        </p:txBody>
      </p:sp>
      <p:sp>
        <p:nvSpPr>
          <p:cNvPr id="15" name="Rounded Rectangle 14"/>
          <p:cNvSpPr/>
          <p:nvPr/>
        </p:nvSpPr>
        <p:spPr>
          <a:xfrm>
            <a:off x="4846320" y="1645920"/>
            <a:ext cx="402336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983480" y="2194560"/>
            <a:ext cx="374904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92040" y="1691640"/>
            <a:ext cx="3931920" cy="338554"/>
          </a:xfrm>
          <a:prstGeom prst="rect">
            <a:avLst/>
          </a:prstGeom>
          <a:noFill/>
        </p:spPr>
        <p:txBody>
          <a:bodyPr wrap="square">
            <a:spAutoFit/>
          </a:bodyPr>
          <a:lstStyle/>
          <a:p>
            <a:pPr>
              <a:defRPr sz="1600" b="1">
                <a:solidFill>
                  <a:srgbClr val="38BDF8"/>
                </a:solidFill>
                <a:latin typeface="Segoe UI"/>
              </a:defRPr>
            </a:pPr>
            <a:r>
              <a:rPr lang="en-US">
                <a:solidFill>
                  <a:srgbClr val="FFFFFF"/>
                </a:solidFill>
              </a:rPr>
              <a:t>Câu hỏi cần giải</a:t>
            </a:r>
            <a:endParaRPr>
              <a:solidFill>
                <a:srgbClr val="FFFFFF"/>
              </a:solidFill>
            </a:endParaRPr>
          </a:p>
        </p:txBody>
      </p:sp>
      <p:sp>
        <p:nvSpPr>
          <p:cNvPr id="18" name="TextBox 17"/>
          <p:cNvSpPr txBox="1"/>
          <p:nvPr/>
        </p:nvSpPr>
        <p:spPr>
          <a:xfrm>
            <a:off x="4892040" y="2286000"/>
            <a:ext cx="3931920" cy="1200329"/>
          </a:xfrm>
          <a:prstGeom prst="rect">
            <a:avLst/>
          </a:prstGeom>
          <a:noFill/>
        </p:spPr>
        <p:txBody>
          <a:bodyPr wrap="square">
            <a:spAutoFit/>
          </a:bodyPr>
          <a:lstStyle/>
          <a:p>
            <a:r>
              <a:rPr lang="vi-VN">
                <a:solidFill>
                  <a:srgbClr val="FFFFFF"/>
                </a:solidFill>
              </a:rPr>
              <a:t>• Voucher có tạo causal uplift thật không?</a:t>
            </a:r>
          </a:p>
          <a:p>
            <a:r>
              <a:rPr lang="vi-VN">
                <a:solidFill>
                  <a:srgbClr val="FFFFFF"/>
                </a:solidFill>
              </a:rPr>
              <a:t>• Nên phát cho ai để incremental margin bù được promotion burn?</a:t>
            </a:r>
            <a:endParaRPr>
              <a:solidFill>
                <a:srgbClr val="FFFFFF"/>
              </a:solidFill>
            </a:endParaRPr>
          </a:p>
        </p:txBody>
      </p:sp>
    </p:spTree>
    <p:extLst>
      <p:ext uri="{BB962C8B-B14F-4D97-AF65-F5344CB8AC3E}">
        <p14:creationId xmlns:p14="http://schemas.microsoft.com/office/powerpoint/2010/main" val="3304420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sp>
        <p:nvSpPr>
          <p:cNvPr id="2" name="Rectangle 1"/>
          <p:cNvSpPr/>
          <p:nvPr/>
        </p:nvSpPr>
        <p:spPr>
          <a:xfrm>
            <a:off x="365760" y="0"/>
            <a:ext cx="137160" cy="68580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79" y="182880"/>
            <a:ext cx="7791685" cy="492443"/>
          </a:xfrm>
          <a:prstGeom prst="rect">
            <a:avLst/>
          </a:prstGeom>
          <a:noFill/>
        </p:spPr>
        <p:txBody>
          <a:bodyPr wrap="none">
            <a:spAutoFit/>
          </a:bodyPr>
          <a:lstStyle/>
          <a:p>
            <a:pPr>
              <a:defRPr sz="2600" b="1">
                <a:solidFill>
                  <a:srgbClr val="FFFFFF"/>
                </a:solidFill>
                <a:latin typeface="Segoe UI"/>
              </a:defRPr>
            </a:pPr>
            <a:r>
              <a:rPr lang="vi-VN" sz="2600" b="1">
                <a:solidFill>
                  <a:srgbClr val="FFFFFF"/>
                </a:solidFill>
              </a:rPr>
              <a:t>2. ATE dương nhưng chưa trả lời nên phát cho ai</a:t>
            </a:r>
            <a:endParaRPr sz="2600" b="1">
              <a:solidFill>
                <a:srgbClr val="FFFFFF"/>
              </a:solidFill>
            </a:endParaRPr>
          </a:p>
        </p:txBody>
      </p:sp>
      <p:sp>
        <p:nvSpPr>
          <p:cNvPr id="4" name="TextBox 3"/>
          <p:cNvSpPr txBox="1"/>
          <p:nvPr/>
        </p:nvSpPr>
        <p:spPr>
          <a:xfrm>
            <a:off x="640080" y="731520"/>
            <a:ext cx="5186805" cy="292388"/>
          </a:xfrm>
          <a:prstGeom prst="rect">
            <a:avLst/>
          </a:prstGeom>
          <a:noFill/>
        </p:spPr>
        <p:txBody>
          <a:bodyPr wrap="none">
            <a:spAutoFit/>
          </a:bodyPr>
          <a:lstStyle/>
          <a:p>
            <a:pPr>
              <a:defRPr sz="1300">
                <a:solidFill>
                  <a:srgbClr val="FFB800"/>
                </a:solidFill>
                <a:latin typeface="Segoe UI"/>
              </a:defRPr>
            </a:pPr>
            <a:r>
              <a:rPr lang="en-US">
                <a:solidFill>
                  <a:srgbClr val="FFFFFF"/>
                </a:solidFill>
              </a:rPr>
              <a:t>A/B evidence xác nhận tác động; heterogeneity quyết định targeting</a:t>
            </a:r>
            <a:endParaRPr>
              <a:solidFill>
                <a:srgbClr val="FFFFFF"/>
              </a:solidFill>
            </a:endParaRPr>
          </a:p>
        </p:txBody>
      </p:sp>
      <p:sp>
        <p:nvSpPr>
          <p:cNvPr id="5" name="Rectangle 4"/>
          <p:cNvSpPr/>
          <p:nvPr/>
        </p:nvSpPr>
        <p:spPr>
          <a:xfrm>
            <a:off x="640080" y="1188720"/>
            <a:ext cx="228600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6217920"/>
            <a:ext cx="8778240" cy="365760"/>
          </a:xfrm>
          <a:prstGeom prst="rect">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277689"/>
            <a:ext cx="4019049" cy="246221"/>
          </a:xfrm>
          <a:prstGeom prst="rect">
            <a:avLst/>
          </a:prstGeom>
          <a:noFill/>
        </p:spPr>
        <p:txBody>
          <a:bodyPr wrap="none" anchor="ctr">
            <a:spAutoFit/>
          </a:bodyPr>
          <a:lstStyle/>
          <a:p>
            <a:pPr>
              <a:defRPr sz="1000">
                <a:solidFill>
                  <a:srgbClr val="FFFFFF"/>
                </a:solidFill>
                <a:latin typeface="Segoe UI"/>
              </a:defRPr>
            </a:pPr>
            <a:r>
              <a:rPr lang="en-US">
                <a:solidFill>
                  <a:srgbClr val="FFFFFF"/>
                </a:solidFill>
              </a:rPr>
              <a:t>GSM Promotion Experimentation • Mentor Rehearsal • Data Science</a:t>
            </a:r>
            <a:endParaRPr>
              <a:solidFill>
                <a:srgbClr val="FFFFFF"/>
              </a:solidFill>
            </a:endParaRPr>
          </a:p>
        </p:txBody>
      </p:sp>
      <p:sp>
        <p:nvSpPr>
          <p:cNvPr id="8" name="Rectangle 7"/>
          <p:cNvSpPr/>
          <p:nvPr/>
        </p:nvSpPr>
        <p:spPr>
          <a:xfrm>
            <a:off x="365760" y="6583680"/>
            <a:ext cx="8778240" cy="27432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605424"/>
            <a:ext cx="2279791" cy="230832"/>
          </a:xfrm>
          <a:prstGeom prst="rect">
            <a:avLst/>
          </a:prstGeom>
          <a:noFill/>
        </p:spPr>
        <p:txBody>
          <a:bodyPr wrap="none" anchor="ctr">
            <a:spAutoFit/>
          </a:bodyPr>
          <a:lstStyle/>
          <a:p>
            <a:pPr>
              <a:defRPr sz="900">
                <a:solidFill>
                  <a:srgbClr val="38BDF8"/>
                </a:solidFill>
                <a:latin typeface="Segoe UI"/>
              </a:defRPr>
            </a:pPr>
            <a:r>
              <a:rPr lang="en-US">
                <a:solidFill>
                  <a:srgbClr val="FFFFFF"/>
                </a:solidFill>
              </a:rPr>
              <a:t>Uplift Modeling &amp; Profit-aware Targeting</a:t>
            </a:r>
            <a:endParaRPr>
              <a:solidFill>
                <a:srgbClr val="FFFFFF"/>
              </a:solidFill>
            </a:endParaRPr>
          </a:p>
        </p:txBody>
      </p:sp>
      <p:sp>
        <p:nvSpPr>
          <p:cNvPr id="10" name="TextBox 9"/>
          <p:cNvSpPr txBox="1"/>
          <p:nvPr/>
        </p:nvSpPr>
        <p:spPr>
          <a:xfrm>
            <a:off x="8489585" y="6605424"/>
            <a:ext cx="562975" cy="230832"/>
          </a:xfrm>
          <a:prstGeom prst="rect">
            <a:avLst/>
          </a:prstGeom>
          <a:noFill/>
        </p:spPr>
        <p:txBody>
          <a:bodyPr wrap="none" anchor="ctr">
            <a:spAutoFit/>
          </a:bodyPr>
          <a:lstStyle/>
          <a:p>
            <a:pPr algn="r">
              <a:defRPr sz="900" b="1">
                <a:solidFill>
                  <a:srgbClr val="FFFFFF"/>
                </a:solidFill>
                <a:latin typeface="Segoe UI"/>
              </a:defRPr>
            </a:pPr>
            <a:r>
              <a:rPr lang="en-US">
                <a:solidFill>
                  <a:srgbClr val="FFFFFF"/>
                </a:solidFill>
              </a:rPr>
              <a:t>02 / 05</a:t>
            </a:r>
            <a:endParaRPr>
              <a:solidFill>
                <a:srgbClr val="FFFFFF"/>
              </a:solidFill>
            </a:endParaRPr>
          </a:p>
        </p:txBody>
      </p:sp>
      <p:sp>
        <p:nvSpPr>
          <p:cNvPr id="11" name="Rounded Rectangle 10"/>
          <p:cNvSpPr/>
          <p:nvPr/>
        </p:nvSpPr>
        <p:spPr>
          <a:xfrm>
            <a:off x="640080" y="1645920"/>
            <a:ext cx="268224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 y="2194560"/>
            <a:ext cx="240792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691640"/>
            <a:ext cx="2590800" cy="338554"/>
          </a:xfrm>
          <a:prstGeom prst="rect">
            <a:avLst/>
          </a:prstGeom>
          <a:noFill/>
        </p:spPr>
        <p:txBody>
          <a:bodyPr wrap="square">
            <a:spAutoFit/>
          </a:bodyPr>
          <a:lstStyle/>
          <a:p>
            <a:pPr>
              <a:defRPr sz="1600" b="1">
                <a:solidFill>
                  <a:srgbClr val="FFB800"/>
                </a:solidFill>
                <a:latin typeface="Segoe UI"/>
              </a:defRPr>
            </a:pPr>
            <a:r>
              <a:rPr lang="en-US">
                <a:solidFill>
                  <a:srgbClr val="FFFFFF"/>
                </a:solidFill>
              </a:rPr>
              <a:t>Causal Evidence</a:t>
            </a:r>
            <a:endParaRPr>
              <a:solidFill>
                <a:srgbClr val="FFFFFF"/>
              </a:solidFill>
            </a:endParaRPr>
          </a:p>
        </p:txBody>
      </p:sp>
      <p:sp>
        <p:nvSpPr>
          <p:cNvPr id="14" name="TextBox 13"/>
          <p:cNvSpPr txBox="1"/>
          <p:nvPr/>
        </p:nvSpPr>
        <p:spPr>
          <a:xfrm>
            <a:off x="685800" y="2286000"/>
            <a:ext cx="2590800" cy="861774"/>
          </a:xfrm>
          <a:prstGeom prst="rect">
            <a:avLst/>
          </a:prstGeom>
          <a:noFill/>
        </p:spPr>
        <p:txBody>
          <a:bodyPr wrap="square">
            <a:spAutoFit/>
          </a:bodyPr>
          <a:lstStyle/>
          <a:p>
            <a:pPr>
              <a:spcAft>
                <a:spcPts val="600"/>
              </a:spcAft>
              <a:defRPr sz="1500">
                <a:solidFill>
                  <a:srgbClr val="FFFFFF"/>
                </a:solidFill>
                <a:latin typeface="Segoe UI"/>
              </a:defRPr>
            </a:pPr>
            <a:r>
              <a:rPr lang="en-US">
                <a:solidFill>
                  <a:srgbClr val="FFFFFF"/>
                </a:solidFill>
              </a:rPr>
              <a:t>• Raw ATE: 0,96 chuyến.</a:t>
            </a:r>
          </a:p>
          <a:p>
            <a:pPr>
              <a:spcAft>
                <a:spcPts val="600"/>
              </a:spcAft>
              <a:defRPr sz="1500">
                <a:solidFill>
                  <a:srgbClr val="FFFFFF"/>
                </a:solidFill>
                <a:latin typeface="Segoe UI"/>
              </a:defRPr>
            </a:pPr>
            <a:r>
              <a:rPr lang="en-US">
                <a:solidFill>
                  <a:srgbClr val="FFFFFF"/>
                </a:solidFill>
              </a:rPr>
              <a:t>• Adjusted ATE: 0,95 chuyến/30 ngày.</a:t>
            </a:r>
            <a:endParaRPr>
              <a:solidFill>
                <a:srgbClr val="FFFFFF"/>
              </a:solidFill>
            </a:endParaRPr>
          </a:p>
        </p:txBody>
      </p:sp>
      <p:sp>
        <p:nvSpPr>
          <p:cNvPr id="15" name="Rounded Rectangle 14"/>
          <p:cNvSpPr/>
          <p:nvPr/>
        </p:nvSpPr>
        <p:spPr>
          <a:xfrm>
            <a:off x="3505200" y="1645920"/>
            <a:ext cx="268224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42360" y="2194560"/>
            <a:ext cx="240792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50920" y="1691640"/>
            <a:ext cx="2590800" cy="338554"/>
          </a:xfrm>
          <a:prstGeom prst="rect">
            <a:avLst/>
          </a:prstGeom>
          <a:noFill/>
        </p:spPr>
        <p:txBody>
          <a:bodyPr wrap="square">
            <a:spAutoFit/>
          </a:bodyPr>
          <a:lstStyle/>
          <a:p>
            <a:pPr>
              <a:defRPr sz="1600" b="1">
                <a:solidFill>
                  <a:srgbClr val="34D399"/>
                </a:solidFill>
                <a:latin typeface="Segoe UI"/>
              </a:defRPr>
            </a:pPr>
            <a:r>
              <a:rPr lang="en-US">
                <a:solidFill>
                  <a:srgbClr val="FFFFFF"/>
                </a:solidFill>
              </a:rPr>
              <a:t>Độ tin cậy</a:t>
            </a:r>
            <a:endParaRPr>
              <a:solidFill>
                <a:srgbClr val="FFFFFF"/>
              </a:solidFill>
            </a:endParaRPr>
          </a:p>
        </p:txBody>
      </p:sp>
      <p:sp>
        <p:nvSpPr>
          <p:cNvPr id="18" name="TextBox 17"/>
          <p:cNvSpPr txBox="1"/>
          <p:nvPr/>
        </p:nvSpPr>
        <p:spPr>
          <a:xfrm>
            <a:off x="3550920" y="2286000"/>
            <a:ext cx="2590800" cy="923330"/>
          </a:xfrm>
          <a:prstGeom prst="rect">
            <a:avLst/>
          </a:prstGeom>
          <a:noFill/>
        </p:spPr>
        <p:txBody>
          <a:bodyPr wrap="square">
            <a:spAutoFit/>
          </a:bodyPr>
          <a:lstStyle/>
          <a:p>
            <a:r>
              <a:rPr lang="en-US">
                <a:solidFill>
                  <a:srgbClr val="FFFFFF"/>
                </a:solidFill>
              </a:rPr>
              <a:t>• Khoảng tin cậy 95%: [0,76; 1,14].</a:t>
            </a:r>
          </a:p>
          <a:p>
            <a:r>
              <a:rPr lang="en-US">
                <a:solidFill>
                  <a:srgbClr val="FFFFFF"/>
                </a:solidFill>
              </a:rPr>
              <a:t>• P-value &lt; 0,001.</a:t>
            </a:r>
            <a:endParaRPr>
              <a:solidFill>
                <a:srgbClr val="FFFFFF"/>
              </a:solidFill>
            </a:endParaRPr>
          </a:p>
        </p:txBody>
      </p:sp>
      <p:sp>
        <p:nvSpPr>
          <p:cNvPr id="19" name="Rounded Rectangle 18"/>
          <p:cNvSpPr/>
          <p:nvPr/>
        </p:nvSpPr>
        <p:spPr>
          <a:xfrm>
            <a:off x="6370320" y="1645920"/>
            <a:ext cx="268224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507480" y="2194560"/>
            <a:ext cx="240792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6040" y="1691640"/>
            <a:ext cx="2590800" cy="338554"/>
          </a:xfrm>
          <a:prstGeom prst="rect">
            <a:avLst/>
          </a:prstGeom>
          <a:noFill/>
        </p:spPr>
        <p:txBody>
          <a:bodyPr wrap="square">
            <a:spAutoFit/>
          </a:bodyPr>
          <a:lstStyle/>
          <a:p>
            <a:pPr>
              <a:defRPr sz="1600" b="1">
                <a:solidFill>
                  <a:srgbClr val="38BDF8"/>
                </a:solidFill>
                <a:latin typeface="Segoe UI"/>
              </a:defRPr>
            </a:pPr>
            <a:r>
              <a:rPr lang="vi-VN">
                <a:solidFill>
                  <a:srgbClr val="FFFFFF"/>
                </a:solidFill>
              </a:rPr>
              <a:t>Điểm chưa đủ</a:t>
            </a:r>
            <a:endParaRPr>
              <a:solidFill>
                <a:srgbClr val="FFFFFF"/>
              </a:solidFill>
            </a:endParaRPr>
          </a:p>
        </p:txBody>
      </p:sp>
      <p:sp>
        <p:nvSpPr>
          <p:cNvPr id="22" name="TextBox 21"/>
          <p:cNvSpPr txBox="1"/>
          <p:nvPr/>
        </p:nvSpPr>
        <p:spPr>
          <a:xfrm>
            <a:off x="6416040" y="2286000"/>
            <a:ext cx="2590800" cy="1200329"/>
          </a:xfrm>
          <a:prstGeom prst="rect">
            <a:avLst/>
          </a:prstGeom>
          <a:noFill/>
        </p:spPr>
        <p:txBody>
          <a:bodyPr wrap="square">
            <a:spAutoFit/>
          </a:bodyPr>
          <a:lstStyle/>
          <a:p>
            <a:r>
              <a:rPr lang="en-US">
                <a:solidFill>
                  <a:srgbClr val="FFFFFF"/>
                </a:solidFill>
              </a:rPr>
              <a:t>• ATE là mức trung bình.</a:t>
            </a:r>
          </a:p>
          <a:p>
            <a:r>
              <a:rPr lang="en-US">
                <a:solidFill>
                  <a:srgbClr val="FFFFFF"/>
                </a:solidFill>
              </a:rPr>
              <a:t>• Cần CATE để tìm nhóm response đủ lớn và có lời.</a:t>
            </a:r>
            <a:endParaRPr>
              <a:solidFill>
                <a:srgbClr val="FFFFFF"/>
              </a:solidFill>
            </a:endParaRPr>
          </a:p>
        </p:txBody>
      </p:sp>
    </p:spTree>
    <p:extLst>
      <p:ext uri="{BB962C8B-B14F-4D97-AF65-F5344CB8AC3E}">
        <p14:creationId xmlns:p14="http://schemas.microsoft.com/office/powerpoint/2010/main" val="15095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sp>
        <p:nvSpPr>
          <p:cNvPr id="2" name="Rectangle 1"/>
          <p:cNvSpPr/>
          <p:nvPr/>
        </p:nvSpPr>
        <p:spPr>
          <a:xfrm>
            <a:off x="365760" y="0"/>
            <a:ext cx="137160" cy="68580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2880"/>
            <a:ext cx="7758214" cy="492443"/>
          </a:xfrm>
          <a:prstGeom prst="rect">
            <a:avLst/>
          </a:prstGeom>
          <a:noFill/>
        </p:spPr>
        <p:txBody>
          <a:bodyPr wrap="none">
            <a:spAutoFit/>
          </a:bodyPr>
          <a:lstStyle/>
          <a:p>
            <a:pPr>
              <a:defRPr sz="2600" b="1">
                <a:solidFill>
                  <a:srgbClr val="FFFFFF"/>
                </a:solidFill>
                <a:latin typeface="Segoe UI"/>
              </a:defRPr>
            </a:pPr>
            <a:r>
              <a:rPr lang="en-US" sz="2600" b="1">
                <a:solidFill>
                  <a:srgbClr val="FFFFFF"/>
                </a:solidFill>
              </a:rPr>
              <a:t>3. Simplified R-Learner-style dẫn đầu về ranking</a:t>
            </a:r>
            <a:endParaRPr sz="2600" b="1">
              <a:solidFill>
                <a:srgbClr val="FFFFFF"/>
              </a:solidFill>
            </a:endParaRPr>
          </a:p>
        </p:txBody>
      </p:sp>
      <p:sp>
        <p:nvSpPr>
          <p:cNvPr id="4" name="TextBox 3"/>
          <p:cNvSpPr txBox="1"/>
          <p:nvPr/>
        </p:nvSpPr>
        <p:spPr>
          <a:xfrm>
            <a:off x="640080" y="731520"/>
            <a:ext cx="5526641" cy="369332"/>
          </a:xfrm>
          <a:prstGeom prst="rect">
            <a:avLst/>
          </a:prstGeom>
          <a:noFill/>
        </p:spPr>
        <p:txBody>
          <a:bodyPr wrap="none">
            <a:spAutoFit/>
          </a:bodyPr>
          <a:lstStyle/>
          <a:p>
            <a:r>
              <a:rPr lang="en-US">
                <a:solidFill>
                  <a:srgbClr val="FFFFFF"/>
                </a:solidFill>
              </a:rPr>
              <a:t>Qini trên cùng held-out test set gồm 4.000 khách hàng</a:t>
            </a:r>
            <a:endParaRPr>
              <a:solidFill>
                <a:srgbClr val="FFFFFF"/>
              </a:solidFill>
            </a:endParaRPr>
          </a:p>
        </p:txBody>
      </p:sp>
      <p:sp>
        <p:nvSpPr>
          <p:cNvPr id="5" name="Rectangle 4"/>
          <p:cNvSpPr/>
          <p:nvPr/>
        </p:nvSpPr>
        <p:spPr>
          <a:xfrm>
            <a:off x="640080" y="1188720"/>
            <a:ext cx="228600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6217920"/>
            <a:ext cx="8778240" cy="365760"/>
          </a:xfrm>
          <a:prstGeom prst="rect">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277689"/>
            <a:ext cx="4019049" cy="246221"/>
          </a:xfrm>
          <a:prstGeom prst="rect">
            <a:avLst/>
          </a:prstGeom>
          <a:noFill/>
        </p:spPr>
        <p:txBody>
          <a:bodyPr wrap="none" anchor="ctr">
            <a:spAutoFit/>
          </a:bodyPr>
          <a:lstStyle/>
          <a:p>
            <a:pPr>
              <a:defRPr sz="1000">
                <a:solidFill>
                  <a:srgbClr val="FFFFFF"/>
                </a:solidFill>
                <a:latin typeface="Segoe UI"/>
              </a:defRPr>
            </a:pPr>
            <a:r>
              <a:rPr lang="en-US">
                <a:solidFill>
                  <a:srgbClr val="FFFFFF"/>
                </a:solidFill>
              </a:rPr>
              <a:t>GSM Promotion Experimentation • Mentor Rehearsal • Data Science</a:t>
            </a:r>
            <a:endParaRPr>
              <a:solidFill>
                <a:srgbClr val="FFFFFF"/>
              </a:solidFill>
            </a:endParaRPr>
          </a:p>
        </p:txBody>
      </p:sp>
      <p:sp>
        <p:nvSpPr>
          <p:cNvPr id="8" name="Rectangle 7"/>
          <p:cNvSpPr/>
          <p:nvPr/>
        </p:nvSpPr>
        <p:spPr>
          <a:xfrm>
            <a:off x="365760" y="6583680"/>
            <a:ext cx="8778240" cy="27432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605424"/>
            <a:ext cx="2279791" cy="230832"/>
          </a:xfrm>
          <a:prstGeom prst="rect">
            <a:avLst/>
          </a:prstGeom>
          <a:noFill/>
        </p:spPr>
        <p:txBody>
          <a:bodyPr wrap="none" anchor="ctr">
            <a:spAutoFit/>
          </a:bodyPr>
          <a:lstStyle/>
          <a:p>
            <a:pPr>
              <a:defRPr sz="900">
                <a:solidFill>
                  <a:srgbClr val="38BDF8"/>
                </a:solidFill>
                <a:latin typeface="Segoe UI"/>
              </a:defRPr>
            </a:pPr>
            <a:r>
              <a:rPr lang="en-US">
                <a:solidFill>
                  <a:srgbClr val="FFFFFF"/>
                </a:solidFill>
              </a:rPr>
              <a:t>Uplift Modeling &amp; Profit-aware Targeting</a:t>
            </a:r>
            <a:endParaRPr>
              <a:solidFill>
                <a:srgbClr val="FFFFFF"/>
              </a:solidFill>
            </a:endParaRPr>
          </a:p>
        </p:txBody>
      </p:sp>
      <p:sp>
        <p:nvSpPr>
          <p:cNvPr id="10" name="TextBox 9"/>
          <p:cNvSpPr txBox="1"/>
          <p:nvPr/>
        </p:nvSpPr>
        <p:spPr>
          <a:xfrm>
            <a:off x="8489585" y="6605424"/>
            <a:ext cx="562975" cy="230832"/>
          </a:xfrm>
          <a:prstGeom prst="rect">
            <a:avLst/>
          </a:prstGeom>
          <a:noFill/>
        </p:spPr>
        <p:txBody>
          <a:bodyPr wrap="none" anchor="ctr">
            <a:spAutoFit/>
          </a:bodyPr>
          <a:lstStyle/>
          <a:p>
            <a:pPr algn="r">
              <a:defRPr sz="900" b="1">
                <a:solidFill>
                  <a:srgbClr val="FFFFFF"/>
                </a:solidFill>
                <a:latin typeface="Segoe UI"/>
              </a:defRPr>
            </a:pPr>
            <a:r>
              <a:rPr lang="en-US">
                <a:solidFill>
                  <a:srgbClr val="FFFFFF"/>
                </a:solidFill>
              </a:rPr>
              <a:t>03 / 05</a:t>
            </a:r>
            <a:endParaRPr>
              <a:solidFill>
                <a:srgbClr val="FFFFFF"/>
              </a:solidFill>
            </a:endParaRPr>
          </a:p>
        </p:txBody>
      </p:sp>
      <p:sp>
        <p:nvSpPr>
          <p:cNvPr id="11" name="Rounded Rectangle 10"/>
          <p:cNvSpPr/>
          <p:nvPr/>
        </p:nvSpPr>
        <p:spPr>
          <a:xfrm>
            <a:off x="640080" y="1463040"/>
            <a:ext cx="3840480" cy="224028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 y="1828800"/>
            <a:ext cx="356616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508760"/>
            <a:ext cx="3749040" cy="338554"/>
          </a:xfrm>
          <a:prstGeom prst="rect">
            <a:avLst/>
          </a:prstGeom>
          <a:noFill/>
        </p:spPr>
        <p:txBody>
          <a:bodyPr wrap="square">
            <a:spAutoFit/>
          </a:bodyPr>
          <a:lstStyle/>
          <a:p>
            <a:pPr>
              <a:defRPr sz="1600" b="1">
                <a:solidFill>
                  <a:srgbClr val="38BDF8"/>
                </a:solidFill>
                <a:latin typeface="Segoe UI"/>
              </a:defRPr>
            </a:pPr>
            <a:r>
              <a:rPr lang="en-US">
                <a:solidFill>
                  <a:srgbClr val="FFFFFF"/>
                </a:solidFill>
              </a:rPr>
              <a:t>So sánh Model</a:t>
            </a:r>
            <a:endParaRPr>
              <a:solidFill>
                <a:srgbClr val="FFFFFF"/>
              </a:solidFill>
            </a:endParaRPr>
          </a:p>
        </p:txBody>
      </p:sp>
      <p:sp>
        <p:nvSpPr>
          <p:cNvPr id="14" name="TextBox 13"/>
          <p:cNvSpPr txBox="1"/>
          <p:nvPr/>
        </p:nvSpPr>
        <p:spPr>
          <a:xfrm>
            <a:off x="685800" y="1874520"/>
            <a:ext cx="3749040" cy="646331"/>
          </a:xfrm>
          <a:prstGeom prst="rect">
            <a:avLst/>
          </a:prstGeom>
          <a:noFill/>
        </p:spPr>
        <p:txBody>
          <a:bodyPr wrap="square">
            <a:spAutoFit/>
          </a:bodyPr>
          <a:lstStyle/>
          <a:p>
            <a:r>
              <a:rPr lang="pt-BR">
                <a:solidFill>
                  <a:srgbClr val="FFFFFF"/>
                </a:solidFill>
              </a:rPr>
              <a:t>• R: 0,188 | S: 0,153 | DR: 0,138.</a:t>
            </a:r>
          </a:p>
          <a:p>
            <a:r>
              <a:rPr lang="pt-BR">
                <a:solidFill>
                  <a:srgbClr val="FFFFFF"/>
                </a:solidFill>
              </a:rPr>
              <a:t>• X: 0,038 | T: -0,320.</a:t>
            </a:r>
            <a:endParaRPr>
              <a:solidFill>
                <a:srgbClr val="FFFFFF"/>
              </a:solidFill>
            </a:endParaRPr>
          </a:p>
        </p:txBody>
      </p:sp>
      <p:sp>
        <p:nvSpPr>
          <p:cNvPr id="15" name="Rounded Rectangle 14"/>
          <p:cNvSpPr/>
          <p:nvPr/>
        </p:nvSpPr>
        <p:spPr>
          <a:xfrm>
            <a:off x="640080" y="3840480"/>
            <a:ext cx="3840480" cy="224028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4206240"/>
            <a:ext cx="356616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3886200"/>
            <a:ext cx="3749040" cy="338554"/>
          </a:xfrm>
          <a:prstGeom prst="rect">
            <a:avLst/>
          </a:prstGeom>
          <a:noFill/>
        </p:spPr>
        <p:txBody>
          <a:bodyPr wrap="square">
            <a:spAutoFit/>
          </a:bodyPr>
          <a:lstStyle/>
          <a:p>
            <a:pPr>
              <a:defRPr sz="1600" b="1">
                <a:solidFill>
                  <a:srgbClr val="FFB800"/>
                </a:solidFill>
                <a:latin typeface="Segoe UI"/>
              </a:defRPr>
            </a:pPr>
            <a:r>
              <a:rPr lang="en-US">
                <a:solidFill>
                  <a:srgbClr val="FFFFFF"/>
                </a:solidFill>
              </a:rPr>
              <a:t>Cách diễn giải</a:t>
            </a:r>
            <a:endParaRPr>
              <a:solidFill>
                <a:srgbClr val="FFFFFF"/>
              </a:solidFill>
            </a:endParaRPr>
          </a:p>
        </p:txBody>
      </p:sp>
      <p:sp>
        <p:nvSpPr>
          <p:cNvPr id="18" name="TextBox 17"/>
          <p:cNvSpPr txBox="1"/>
          <p:nvPr/>
        </p:nvSpPr>
        <p:spPr>
          <a:xfrm>
            <a:off x="685800" y="4251960"/>
            <a:ext cx="3749040" cy="1477328"/>
          </a:xfrm>
          <a:prstGeom prst="rect">
            <a:avLst/>
          </a:prstGeom>
          <a:noFill/>
        </p:spPr>
        <p:txBody>
          <a:bodyPr wrap="square">
            <a:spAutoFit/>
          </a:bodyPr>
          <a:lstStyle/>
          <a:p>
            <a:r>
              <a:rPr lang="vi-VN">
                <a:solidFill>
                  <a:srgbClr val="FFFFFF"/>
                </a:solidFill>
              </a:rPr>
              <a:t>• Qini &gt; 0: ranking tốt hơn random.</a:t>
            </a:r>
          </a:p>
          <a:p>
            <a:r>
              <a:rPr lang="vi-VN">
                <a:solidFill>
                  <a:srgbClr val="FFFFFF"/>
                </a:solidFill>
              </a:rPr>
              <a:t>• Chưa cross-fitting: không gọi là full DML.</a:t>
            </a:r>
          </a:p>
          <a:p>
            <a:r>
              <a:rPr lang="vi-VN">
                <a:solidFill>
                  <a:srgbClr val="FFFFFF"/>
                </a:solidFill>
              </a:rPr>
              <a:t>• Calibration magnitude chưa hoàn hảo.</a:t>
            </a:r>
            <a:endParaRPr>
              <a:solidFill>
                <a:srgbClr val="FFFFFF"/>
              </a:solidFill>
            </a:endParaRPr>
          </a:p>
        </p:txBody>
      </p:sp>
      <p:pic>
        <p:nvPicPr>
          <p:cNvPr id="21" name="Qini Curve - Frozen Champion Snapshot" descr="Biểu đồ nguồn: notebook và report trong repository">
            <a:extLst>
              <a:ext uri="{FF2B5EF4-FFF2-40B4-BE49-F238E27FC236}">
                <a16:creationId xmlns:a16="http://schemas.microsoft.com/office/drawing/2014/main" id="{34DEA4B9-8EE6-E380-105A-738A9703C09A}"/>
              </a:ext>
            </a:extLst>
          </p:cNvPr>
          <p:cNvPicPr>
            <a:picLocks noChangeAspect="1"/>
          </p:cNvPicPr>
          <p:nvPr/>
        </p:nvPicPr>
        <p:blipFill>
          <a:blip r:embed="rId3"/>
          <a:stretch>
            <a:fillRect/>
          </a:stretch>
        </p:blipFill>
        <p:spPr>
          <a:xfrm>
            <a:off x="4572000" y="2488721"/>
            <a:ext cx="4206240" cy="2337326"/>
          </a:xfrm>
          <a:prstGeom prst="rect">
            <a:avLst/>
          </a:prstGeom>
        </p:spPr>
      </p:pic>
    </p:spTree>
    <p:extLst>
      <p:ext uri="{BB962C8B-B14F-4D97-AF65-F5344CB8AC3E}">
        <p14:creationId xmlns:p14="http://schemas.microsoft.com/office/powerpoint/2010/main" val="3916291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sp>
        <p:nvSpPr>
          <p:cNvPr id="2" name="Rectangle 1"/>
          <p:cNvSpPr/>
          <p:nvPr/>
        </p:nvSpPr>
        <p:spPr>
          <a:xfrm>
            <a:off x="365760" y="0"/>
            <a:ext cx="137160" cy="68580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79" y="182880"/>
            <a:ext cx="7379136" cy="492443"/>
          </a:xfrm>
          <a:prstGeom prst="rect">
            <a:avLst/>
          </a:prstGeom>
          <a:noFill/>
        </p:spPr>
        <p:txBody>
          <a:bodyPr wrap="none">
            <a:spAutoFit/>
          </a:bodyPr>
          <a:lstStyle/>
          <a:p>
            <a:r>
              <a:rPr lang="en-US" sz="2600" b="1">
                <a:solidFill>
                  <a:srgbClr val="FFFFFF"/>
                </a:solidFill>
              </a:rPr>
              <a:t>4. EV &gt; 0 biến uplift thành quyết định kinh doanh</a:t>
            </a:r>
            <a:endParaRPr sz="2600" b="1">
              <a:solidFill>
                <a:srgbClr val="FFFFFF"/>
              </a:solidFill>
            </a:endParaRPr>
          </a:p>
        </p:txBody>
      </p:sp>
      <p:sp>
        <p:nvSpPr>
          <p:cNvPr id="4" name="TextBox 3"/>
          <p:cNvSpPr txBox="1"/>
          <p:nvPr/>
        </p:nvSpPr>
        <p:spPr>
          <a:xfrm>
            <a:off x="640080" y="731520"/>
            <a:ext cx="2985626" cy="369332"/>
          </a:xfrm>
          <a:prstGeom prst="rect">
            <a:avLst/>
          </a:prstGeom>
          <a:noFill/>
        </p:spPr>
        <p:txBody>
          <a:bodyPr wrap="none">
            <a:spAutoFit/>
          </a:bodyPr>
          <a:lstStyle/>
          <a:p>
            <a:r>
              <a:rPr lang="vi-VN">
                <a:solidFill>
                  <a:srgbClr val="FFFFFF"/>
                </a:solidFill>
              </a:rPr>
              <a:t>CATE cao chưa chắc có lời</a:t>
            </a:r>
            <a:endParaRPr>
              <a:solidFill>
                <a:srgbClr val="FFFFFF"/>
              </a:solidFill>
            </a:endParaRPr>
          </a:p>
        </p:txBody>
      </p:sp>
      <p:sp>
        <p:nvSpPr>
          <p:cNvPr id="5" name="Rectangle 4"/>
          <p:cNvSpPr/>
          <p:nvPr/>
        </p:nvSpPr>
        <p:spPr>
          <a:xfrm>
            <a:off x="640080" y="1188720"/>
            <a:ext cx="228600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6217920"/>
            <a:ext cx="8778240" cy="365760"/>
          </a:xfrm>
          <a:prstGeom prst="rect">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277689"/>
            <a:ext cx="4019049" cy="246221"/>
          </a:xfrm>
          <a:prstGeom prst="rect">
            <a:avLst/>
          </a:prstGeom>
          <a:noFill/>
        </p:spPr>
        <p:txBody>
          <a:bodyPr wrap="none" anchor="ctr">
            <a:spAutoFit/>
          </a:bodyPr>
          <a:lstStyle/>
          <a:p>
            <a:pPr>
              <a:defRPr sz="1000">
                <a:solidFill>
                  <a:srgbClr val="FFFFFF"/>
                </a:solidFill>
                <a:latin typeface="Segoe UI"/>
              </a:defRPr>
            </a:pPr>
            <a:r>
              <a:rPr lang="en-US">
                <a:solidFill>
                  <a:srgbClr val="FFFFFF"/>
                </a:solidFill>
              </a:rPr>
              <a:t>GSM Promotion Experimentation • Mentor Rehearsal • Data Science</a:t>
            </a:r>
            <a:endParaRPr>
              <a:solidFill>
                <a:srgbClr val="FFFFFF"/>
              </a:solidFill>
            </a:endParaRPr>
          </a:p>
        </p:txBody>
      </p:sp>
      <p:sp>
        <p:nvSpPr>
          <p:cNvPr id="8" name="Rectangle 7"/>
          <p:cNvSpPr/>
          <p:nvPr/>
        </p:nvSpPr>
        <p:spPr>
          <a:xfrm>
            <a:off x="365760" y="6583680"/>
            <a:ext cx="8778240" cy="27432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605424"/>
            <a:ext cx="2279791" cy="230832"/>
          </a:xfrm>
          <a:prstGeom prst="rect">
            <a:avLst/>
          </a:prstGeom>
          <a:noFill/>
        </p:spPr>
        <p:txBody>
          <a:bodyPr wrap="none" anchor="ctr">
            <a:spAutoFit/>
          </a:bodyPr>
          <a:lstStyle/>
          <a:p>
            <a:pPr>
              <a:defRPr sz="900">
                <a:solidFill>
                  <a:srgbClr val="38BDF8"/>
                </a:solidFill>
                <a:latin typeface="Segoe UI"/>
              </a:defRPr>
            </a:pPr>
            <a:r>
              <a:rPr lang="en-US">
                <a:solidFill>
                  <a:srgbClr val="FFFFFF"/>
                </a:solidFill>
              </a:rPr>
              <a:t>Uplift Modeling &amp; Profit-aware Targeting</a:t>
            </a:r>
            <a:endParaRPr>
              <a:solidFill>
                <a:srgbClr val="FFFFFF"/>
              </a:solidFill>
            </a:endParaRPr>
          </a:p>
        </p:txBody>
      </p:sp>
      <p:sp>
        <p:nvSpPr>
          <p:cNvPr id="10" name="TextBox 9"/>
          <p:cNvSpPr txBox="1"/>
          <p:nvPr/>
        </p:nvSpPr>
        <p:spPr>
          <a:xfrm>
            <a:off x="8489585" y="6605424"/>
            <a:ext cx="562975" cy="230832"/>
          </a:xfrm>
          <a:prstGeom prst="rect">
            <a:avLst/>
          </a:prstGeom>
          <a:noFill/>
        </p:spPr>
        <p:txBody>
          <a:bodyPr wrap="none" anchor="ctr">
            <a:spAutoFit/>
          </a:bodyPr>
          <a:lstStyle/>
          <a:p>
            <a:pPr algn="r">
              <a:defRPr sz="900" b="1">
                <a:solidFill>
                  <a:srgbClr val="FFFFFF"/>
                </a:solidFill>
                <a:latin typeface="Segoe UI"/>
              </a:defRPr>
            </a:pPr>
            <a:r>
              <a:rPr lang="en-US">
                <a:solidFill>
                  <a:srgbClr val="FFFFFF"/>
                </a:solidFill>
              </a:rPr>
              <a:t>04 / 05</a:t>
            </a:r>
            <a:endParaRPr>
              <a:solidFill>
                <a:srgbClr val="FFFFFF"/>
              </a:solidFill>
            </a:endParaRPr>
          </a:p>
        </p:txBody>
      </p:sp>
      <p:sp>
        <p:nvSpPr>
          <p:cNvPr id="11" name="Rounded Rectangle 10"/>
          <p:cNvSpPr/>
          <p:nvPr/>
        </p:nvSpPr>
        <p:spPr>
          <a:xfrm>
            <a:off x="640080" y="1463040"/>
            <a:ext cx="3840480" cy="224028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 y="1828800"/>
            <a:ext cx="356616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508760"/>
            <a:ext cx="3749040" cy="338554"/>
          </a:xfrm>
          <a:prstGeom prst="rect">
            <a:avLst/>
          </a:prstGeom>
          <a:noFill/>
        </p:spPr>
        <p:txBody>
          <a:bodyPr wrap="square">
            <a:spAutoFit/>
          </a:bodyPr>
          <a:lstStyle/>
          <a:p>
            <a:pPr>
              <a:defRPr sz="1600" b="1">
                <a:solidFill>
                  <a:srgbClr val="38BDF8"/>
                </a:solidFill>
                <a:latin typeface="Segoe UI"/>
              </a:defRPr>
            </a:pPr>
            <a:r>
              <a:rPr lang="en-US">
                <a:solidFill>
                  <a:srgbClr val="FFFFFF"/>
                </a:solidFill>
              </a:rPr>
              <a:t>Expected Value</a:t>
            </a:r>
            <a:endParaRPr>
              <a:solidFill>
                <a:srgbClr val="FFFFFF"/>
              </a:solidFill>
            </a:endParaRPr>
          </a:p>
        </p:txBody>
      </p:sp>
      <p:sp>
        <p:nvSpPr>
          <p:cNvPr id="14" name="TextBox 13"/>
          <p:cNvSpPr txBox="1"/>
          <p:nvPr/>
        </p:nvSpPr>
        <p:spPr>
          <a:xfrm>
            <a:off x="685800" y="1874520"/>
            <a:ext cx="3749040" cy="1200329"/>
          </a:xfrm>
          <a:prstGeom prst="rect">
            <a:avLst/>
          </a:prstGeom>
          <a:noFill/>
        </p:spPr>
        <p:txBody>
          <a:bodyPr wrap="square">
            <a:spAutoFit/>
          </a:bodyPr>
          <a:lstStyle/>
          <a:p>
            <a:r>
              <a:rPr lang="vi-VN">
                <a:solidFill>
                  <a:srgbClr val="FFFFFF"/>
                </a:solidFill>
              </a:rPr>
              <a:t>• EV = incremental margin - expected voucher burn.</a:t>
            </a:r>
          </a:p>
          <a:p>
            <a:r>
              <a:rPr lang="vi-VN">
                <a:solidFill>
                  <a:srgbClr val="FFFFFF"/>
                </a:solidFill>
              </a:rPr>
              <a:t>• Voucher 15% không cap; contribution margin 70%.</a:t>
            </a:r>
            <a:endParaRPr>
              <a:solidFill>
                <a:srgbClr val="FFFFFF"/>
              </a:solidFill>
            </a:endParaRPr>
          </a:p>
        </p:txBody>
      </p:sp>
      <p:sp>
        <p:nvSpPr>
          <p:cNvPr id="15" name="Rounded Rectangle 14"/>
          <p:cNvSpPr/>
          <p:nvPr/>
        </p:nvSpPr>
        <p:spPr>
          <a:xfrm>
            <a:off x="640080" y="3840480"/>
            <a:ext cx="3840480" cy="224028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4206240"/>
            <a:ext cx="3566160" cy="36576"/>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3886200"/>
            <a:ext cx="3749040" cy="338554"/>
          </a:xfrm>
          <a:prstGeom prst="rect">
            <a:avLst/>
          </a:prstGeom>
          <a:noFill/>
        </p:spPr>
        <p:txBody>
          <a:bodyPr wrap="square">
            <a:spAutoFit/>
          </a:bodyPr>
          <a:lstStyle/>
          <a:p>
            <a:pPr>
              <a:defRPr sz="1600" b="1">
                <a:solidFill>
                  <a:srgbClr val="F472B6"/>
                </a:solidFill>
                <a:latin typeface="Segoe UI"/>
              </a:defRPr>
            </a:pPr>
            <a:r>
              <a:rPr lang="en-US">
                <a:solidFill>
                  <a:srgbClr val="FFFFFF"/>
                </a:solidFill>
              </a:rPr>
              <a:t>Policy Snapshot</a:t>
            </a:r>
            <a:endParaRPr>
              <a:solidFill>
                <a:srgbClr val="FFFFFF"/>
              </a:solidFill>
            </a:endParaRPr>
          </a:p>
        </p:txBody>
      </p:sp>
      <p:sp>
        <p:nvSpPr>
          <p:cNvPr id="18" name="TextBox 17"/>
          <p:cNvSpPr txBox="1"/>
          <p:nvPr/>
        </p:nvSpPr>
        <p:spPr>
          <a:xfrm>
            <a:off x="685800" y="4251960"/>
            <a:ext cx="3749040" cy="1200329"/>
          </a:xfrm>
          <a:prstGeom prst="rect">
            <a:avLst/>
          </a:prstGeom>
          <a:noFill/>
        </p:spPr>
        <p:txBody>
          <a:bodyPr wrap="square">
            <a:spAutoFit/>
          </a:bodyPr>
          <a:lstStyle/>
          <a:p>
            <a:r>
              <a:rPr lang="en-US">
                <a:solidFill>
                  <a:srgbClr val="FFFFFF"/>
                </a:solidFill>
              </a:rPr>
              <a:t>• Chọn 888/4.000 khách hàng (22,2%).</a:t>
            </a:r>
          </a:p>
          <a:p>
            <a:r>
              <a:rPr lang="en-US">
                <a:solidFill>
                  <a:srgbClr val="FFFFFF"/>
                </a:solidFill>
              </a:rPr>
              <a:t>• Predicted profit: $7,939.</a:t>
            </a:r>
          </a:p>
          <a:p>
            <a:r>
              <a:rPr lang="en-US">
                <a:solidFill>
                  <a:srgbClr val="FFFFFF"/>
                </a:solidFill>
              </a:rPr>
              <a:t>• Synthetic benchmark: $7,060.</a:t>
            </a:r>
            <a:endParaRPr>
              <a:solidFill>
                <a:srgbClr val="FFFFFF"/>
              </a:solidFill>
            </a:endParaRPr>
          </a:p>
        </p:txBody>
      </p:sp>
      <p:pic>
        <p:nvPicPr>
          <p:cNvPr id="21" name="Profit Targeting Share - Current Snapshot" descr="Biểu đồ nguồn: notebook và report trong repository">
            <a:extLst>
              <a:ext uri="{FF2B5EF4-FFF2-40B4-BE49-F238E27FC236}">
                <a16:creationId xmlns:a16="http://schemas.microsoft.com/office/drawing/2014/main" id="{12C9C853-50F1-4477-5213-7C15EACE8BA1}"/>
              </a:ext>
            </a:extLst>
          </p:cNvPr>
          <p:cNvPicPr>
            <a:picLocks noChangeAspect="1"/>
          </p:cNvPicPr>
          <p:nvPr/>
        </p:nvPicPr>
        <p:blipFill>
          <a:blip r:embed="rId3"/>
          <a:stretch>
            <a:fillRect/>
          </a:stretch>
        </p:blipFill>
        <p:spPr>
          <a:xfrm>
            <a:off x="5063340" y="2286000"/>
            <a:ext cx="3223561" cy="3559126"/>
          </a:xfrm>
          <a:prstGeom prst="rect">
            <a:avLst/>
          </a:prstGeom>
        </p:spPr>
      </p:pic>
    </p:spTree>
    <p:extLst>
      <p:ext uri="{BB962C8B-B14F-4D97-AF65-F5344CB8AC3E}">
        <p14:creationId xmlns:p14="http://schemas.microsoft.com/office/powerpoint/2010/main" val="249728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sp>
        <p:nvSpPr>
          <p:cNvPr id="2" name="Rectangle 1"/>
          <p:cNvSpPr/>
          <p:nvPr/>
        </p:nvSpPr>
        <p:spPr>
          <a:xfrm>
            <a:off x="365760" y="0"/>
            <a:ext cx="137160" cy="68580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2880"/>
            <a:ext cx="6657592" cy="492443"/>
          </a:xfrm>
          <a:prstGeom prst="rect">
            <a:avLst/>
          </a:prstGeom>
          <a:noFill/>
        </p:spPr>
        <p:txBody>
          <a:bodyPr wrap="none">
            <a:spAutoFit/>
          </a:bodyPr>
          <a:lstStyle/>
          <a:p>
            <a:r>
              <a:rPr lang="vi-VN" sz="2600" b="1">
                <a:solidFill>
                  <a:srgbClr val="FFFFFF"/>
                </a:solidFill>
              </a:rPr>
              <a:t>5. Đủ để đề xuất pilot, chưa đủ để rollout</a:t>
            </a:r>
            <a:endParaRPr sz="2600" b="1">
              <a:solidFill>
                <a:srgbClr val="FFFFFF"/>
              </a:solidFill>
            </a:endParaRPr>
          </a:p>
        </p:txBody>
      </p:sp>
      <p:sp>
        <p:nvSpPr>
          <p:cNvPr id="4" name="TextBox 3"/>
          <p:cNvSpPr txBox="1"/>
          <p:nvPr/>
        </p:nvSpPr>
        <p:spPr>
          <a:xfrm>
            <a:off x="640080" y="731520"/>
            <a:ext cx="4341701" cy="369332"/>
          </a:xfrm>
          <a:prstGeom prst="rect">
            <a:avLst/>
          </a:prstGeom>
          <a:noFill/>
        </p:spPr>
        <p:txBody>
          <a:bodyPr wrap="none">
            <a:spAutoFit/>
          </a:bodyPr>
          <a:lstStyle/>
          <a:p>
            <a:r>
              <a:rPr lang="en-US">
                <a:solidFill>
                  <a:srgbClr val="FFFFFF"/>
                </a:solidFill>
              </a:rPr>
              <a:t>Kết luận và ba điểm cần mentor phản biện</a:t>
            </a:r>
            <a:endParaRPr>
              <a:solidFill>
                <a:srgbClr val="FFFFFF"/>
              </a:solidFill>
            </a:endParaRPr>
          </a:p>
        </p:txBody>
      </p:sp>
      <p:sp>
        <p:nvSpPr>
          <p:cNvPr id="5" name="Rectangle 4"/>
          <p:cNvSpPr/>
          <p:nvPr/>
        </p:nvSpPr>
        <p:spPr>
          <a:xfrm>
            <a:off x="640080" y="1188720"/>
            <a:ext cx="228600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6217920"/>
            <a:ext cx="8778240" cy="365760"/>
          </a:xfrm>
          <a:prstGeom prst="rect">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277689"/>
            <a:ext cx="4019049" cy="246221"/>
          </a:xfrm>
          <a:prstGeom prst="rect">
            <a:avLst/>
          </a:prstGeom>
          <a:noFill/>
        </p:spPr>
        <p:txBody>
          <a:bodyPr wrap="none" anchor="ctr">
            <a:spAutoFit/>
          </a:bodyPr>
          <a:lstStyle/>
          <a:p>
            <a:pPr>
              <a:defRPr sz="1000">
                <a:solidFill>
                  <a:srgbClr val="FFFFFF"/>
                </a:solidFill>
                <a:latin typeface="Segoe UI"/>
              </a:defRPr>
            </a:pPr>
            <a:r>
              <a:rPr lang="en-US">
                <a:solidFill>
                  <a:srgbClr val="FFFFFF"/>
                </a:solidFill>
              </a:rPr>
              <a:t>GSM Promotion Experimentation • Mentor Rehearsal • Data Science</a:t>
            </a:r>
            <a:endParaRPr>
              <a:solidFill>
                <a:srgbClr val="FFFFFF"/>
              </a:solidFill>
            </a:endParaRPr>
          </a:p>
        </p:txBody>
      </p:sp>
      <p:sp>
        <p:nvSpPr>
          <p:cNvPr id="8" name="Rectangle 7"/>
          <p:cNvSpPr/>
          <p:nvPr/>
        </p:nvSpPr>
        <p:spPr>
          <a:xfrm>
            <a:off x="365760" y="6583680"/>
            <a:ext cx="8778240" cy="27432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605424"/>
            <a:ext cx="2279791" cy="230832"/>
          </a:xfrm>
          <a:prstGeom prst="rect">
            <a:avLst/>
          </a:prstGeom>
          <a:noFill/>
        </p:spPr>
        <p:txBody>
          <a:bodyPr wrap="none" anchor="ctr">
            <a:spAutoFit/>
          </a:bodyPr>
          <a:lstStyle/>
          <a:p>
            <a:pPr>
              <a:defRPr sz="900">
                <a:solidFill>
                  <a:srgbClr val="38BDF8"/>
                </a:solidFill>
                <a:latin typeface="Segoe UI"/>
              </a:defRPr>
            </a:pPr>
            <a:r>
              <a:rPr lang="en-US">
                <a:solidFill>
                  <a:srgbClr val="FFFFFF"/>
                </a:solidFill>
              </a:rPr>
              <a:t>Uplift Modeling &amp; Profit-aware Targeting</a:t>
            </a:r>
            <a:endParaRPr>
              <a:solidFill>
                <a:srgbClr val="FFFFFF"/>
              </a:solidFill>
            </a:endParaRPr>
          </a:p>
        </p:txBody>
      </p:sp>
      <p:sp>
        <p:nvSpPr>
          <p:cNvPr id="10" name="TextBox 9"/>
          <p:cNvSpPr txBox="1"/>
          <p:nvPr/>
        </p:nvSpPr>
        <p:spPr>
          <a:xfrm>
            <a:off x="8489585" y="6605424"/>
            <a:ext cx="562975" cy="230832"/>
          </a:xfrm>
          <a:prstGeom prst="rect">
            <a:avLst/>
          </a:prstGeom>
          <a:noFill/>
        </p:spPr>
        <p:txBody>
          <a:bodyPr wrap="none" anchor="ctr">
            <a:spAutoFit/>
          </a:bodyPr>
          <a:lstStyle/>
          <a:p>
            <a:pPr algn="r">
              <a:defRPr sz="900" b="1">
                <a:solidFill>
                  <a:srgbClr val="FFFFFF"/>
                </a:solidFill>
                <a:latin typeface="Segoe UI"/>
              </a:defRPr>
            </a:pPr>
            <a:r>
              <a:rPr lang="en-US">
                <a:solidFill>
                  <a:srgbClr val="FFFFFF"/>
                </a:solidFill>
              </a:rPr>
              <a:t>05 / 05</a:t>
            </a:r>
            <a:endParaRPr>
              <a:solidFill>
                <a:srgbClr val="FFFFFF"/>
              </a:solidFill>
            </a:endParaRPr>
          </a:p>
        </p:txBody>
      </p:sp>
      <p:sp>
        <p:nvSpPr>
          <p:cNvPr id="11" name="Rounded Rectangle 10"/>
          <p:cNvSpPr/>
          <p:nvPr/>
        </p:nvSpPr>
        <p:spPr>
          <a:xfrm>
            <a:off x="640080" y="1645920"/>
            <a:ext cx="402336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 y="2194560"/>
            <a:ext cx="374904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691640"/>
            <a:ext cx="3931920" cy="338554"/>
          </a:xfrm>
          <a:prstGeom prst="rect">
            <a:avLst/>
          </a:prstGeom>
          <a:noFill/>
        </p:spPr>
        <p:txBody>
          <a:bodyPr wrap="square">
            <a:spAutoFit/>
          </a:bodyPr>
          <a:lstStyle/>
          <a:p>
            <a:pPr>
              <a:defRPr sz="1600" b="1">
                <a:solidFill>
                  <a:srgbClr val="34D399"/>
                </a:solidFill>
                <a:latin typeface="Segoe UI"/>
              </a:defRPr>
            </a:pPr>
            <a:r>
              <a:rPr lang="en-US">
                <a:solidFill>
                  <a:srgbClr val="FFFFFF"/>
                </a:solidFill>
              </a:rPr>
              <a:t>Bằng chứng hiện có</a:t>
            </a:r>
            <a:endParaRPr>
              <a:solidFill>
                <a:srgbClr val="FFFFFF"/>
              </a:solidFill>
            </a:endParaRPr>
          </a:p>
        </p:txBody>
      </p:sp>
      <p:sp>
        <p:nvSpPr>
          <p:cNvPr id="14" name="TextBox 13"/>
          <p:cNvSpPr txBox="1"/>
          <p:nvPr/>
        </p:nvSpPr>
        <p:spPr>
          <a:xfrm>
            <a:off x="685800" y="2286000"/>
            <a:ext cx="3931920" cy="1200329"/>
          </a:xfrm>
          <a:prstGeom prst="rect">
            <a:avLst/>
          </a:prstGeom>
          <a:noFill/>
        </p:spPr>
        <p:txBody>
          <a:bodyPr wrap="square">
            <a:spAutoFit/>
          </a:bodyPr>
          <a:lstStyle/>
          <a:p>
            <a:r>
              <a:rPr lang="en-US">
                <a:solidFill>
                  <a:srgbClr val="FFFFFF"/>
                </a:solidFill>
              </a:rPr>
              <a:t>• Qini 0,188; A/A FPR 5,04%.</a:t>
            </a:r>
          </a:p>
          <a:p>
            <a:r>
              <a:rPr lang="en-US">
                <a:solidFill>
                  <a:srgbClr val="FFFFFF"/>
                </a:solidFill>
              </a:rPr>
              <a:t>• 10/90 làm uncertainty tăng rõ.</a:t>
            </a:r>
          </a:p>
          <a:p>
            <a:r>
              <a:rPr lang="en-US">
                <a:solidFill>
                  <a:srgbClr val="FFFFFF"/>
                </a:solidFill>
              </a:rPr>
              <a:t>• Noise SD=1 chỉ làm uncertainty tăng nhẹ.</a:t>
            </a:r>
            <a:endParaRPr>
              <a:solidFill>
                <a:srgbClr val="FFFFFF"/>
              </a:solidFill>
            </a:endParaRPr>
          </a:p>
        </p:txBody>
      </p:sp>
      <p:sp>
        <p:nvSpPr>
          <p:cNvPr id="15" name="Rounded Rectangle 14"/>
          <p:cNvSpPr/>
          <p:nvPr/>
        </p:nvSpPr>
        <p:spPr>
          <a:xfrm>
            <a:off x="4846320" y="1645920"/>
            <a:ext cx="402336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983480" y="2194560"/>
            <a:ext cx="374904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92040" y="1691640"/>
            <a:ext cx="3931920" cy="338554"/>
          </a:xfrm>
          <a:prstGeom prst="rect">
            <a:avLst/>
          </a:prstGeom>
          <a:noFill/>
        </p:spPr>
        <p:txBody>
          <a:bodyPr wrap="square">
            <a:spAutoFit/>
          </a:bodyPr>
          <a:lstStyle/>
          <a:p>
            <a:pPr>
              <a:defRPr sz="1600" b="1">
                <a:solidFill>
                  <a:srgbClr val="38BDF8"/>
                </a:solidFill>
                <a:latin typeface="Segoe UI"/>
              </a:defRPr>
            </a:pPr>
            <a:r>
              <a:rPr lang="en-US">
                <a:solidFill>
                  <a:srgbClr val="FFFFFF"/>
                </a:solidFill>
              </a:rPr>
              <a:t>Xin mentor review</a:t>
            </a:r>
            <a:endParaRPr>
              <a:solidFill>
                <a:srgbClr val="FFFFFF"/>
              </a:solidFill>
            </a:endParaRPr>
          </a:p>
        </p:txBody>
      </p:sp>
      <p:sp>
        <p:nvSpPr>
          <p:cNvPr id="18" name="TextBox 17"/>
          <p:cNvSpPr txBox="1"/>
          <p:nvPr/>
        </p:nvSpPr>
        <p:spPr>
          <a:xfrm>
            <a:off x="4892040" y="2286000"/>
            <a:ext cx="3931920" cy="1754326"/>
          </a:xfrm>
          <a:prstGeom prst="rect">
            <a:avLst/>
          </a:prstGeom>
          <a:noFill/>
        </p:spPr>
        <p:txBody>
          <a:bodyPr wrap="square">
            <a:spAutoFit/>
          </a:bodyPr>
          <a:lstStyle/>
          <a:p>
            <a:r>
              <a:rPr lang="vi-VN">
                <a:solidFill>
                  <a:srgbClr val="FFFFFF"/>
                </a:solidFill>
              </a:rPr>
              <a:t>• Logic chọn model có defend được không?</a:t>
            </a:r>
          </a:p>
          <a:p>
            <a:r>
              <a:rPr lang="vi-VN">
                <a:solidFill>
                  <a:srgbClr val="FFFFFF"/>
                </a:solidFill>
              </a:rPr>
              <a:t>• Assumptions economics có hợp lý không?</a:t>
            </a:r>
          </a:p>
          <a:p>
            <a:r>
              <a:rPr lang="vi-VN">
                <a:solidFill>
                  <a:srgbClr val="FFFFFF"/>
                </a:solidFill>
              </a:rPr>
              <a:t>• Randomized pilot còn thiếu guardrail nào?</a:t>
            </a:r>
            <a:endParaRPr>
              <a:solidFill>
                <a:srgbClr val="FFFFFF"/>
              </a:solidFill>
            </a:endParaRPr>
          </a:p>
        </p:txBody>
      </p:sp>
    </p:spTree>
    <p:extLst>
      <p:ext uri="{BB962C8B-B14F-4D97-AF65-F5344CB8AC3E}">
        <p14:creationId xmlns:p14="http://schemas.microsoft.com/office/powerpoint/2010/main" val="289331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0B1320"/>
        </a:solidFill>
        <a:effectLst/>
      </p:bgPr>
    </p:bg>
    <p:spTree>
      <p:nvGrpSpPr>
        <p:cNvPr id="1" name=""/>
        <p:cNvGrpSpPr/>
        <p:nvPr/>
      </p:nvGrpSpPr>
      <p:grpSpPr>
        <a:xfrm>
          <a:off x="0" y="0"/>
          <a:ext cx="0" cy="0"/>
          <a:chOff x="0" y="0"/>
          <a:chExt cx="0" cy="0"/>
        </a:xfrm>
      </p:grpSpPr>
      <p:sp>
        <p:nvSpPr>
          <p:cNvPr id="2" name="Rectangle 1"/>
          <p:cNvSpPr/>
          <p:nvPr/>
        </p:nvSpPr>
        <p:spPr>
          <a:xfrm>
            <a:off x="365760" y="0"/>
            <a:ext cx="137160" cy="68580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2880"/>
            <a:ext cx="4206408" cy="369332"/>
          </a:xfrm>
          <a:prstGeom prst="rect">
            <a:avLst/>
          </a:prstGeom>
          <a:noFill/>
        </p:spPr>
        <p:txBody>
          <a:bodyPr wrap="none">
            <a:spAutoFit/>
          </a:bodyPr>
          <a:lstStyle/>
          <a:p>
            <a:r>
              <a:rPr lang="en-US">
                <a:solidFill>
                  <a:srgbClr val="FFFFFF"/>
                </a:solidFill>
              </a:rPr>
              <a:t>Appendix A1 - Công thức Expected Value</a:t>
            </a:r>
            <a:endParaRPr>
              <a:solidFill>
                <a:srgbClr val="FFFFFF"/>
              </a:solidFill>
            </a:endParaRPr>
          </a:p>
        </p:txBody>
      </p:sp>
      <p:sp>
        <p:nvSpPr>
          <p:cNvPr id="4" name="TextBox 3"/>
          <p:cNvSpPr txBox="1"/>
          <p:nvPr/>
        </p:nvSpPr>
        <p:spPr>
          <a:xfrm>
            <a:off x="640080" y="731520"/>
            <a:ext cx="5210144" cy="369332"/>
          </a:xfrm>
          <a:prstGeom prst="rect">
            <a:avLst/>
          </a:prstGeom>
          <a:noFill/>
        </p:spPr>
        <p:txBody>
          <a:bodyPr wrap="none">
            <a:spAutoFit/>
          </a:bodyPr>
          <a:lstStyle/>
          <a:p>
            <a:r>
              <a:rPr lang="en-US">
                <a:solidFill>
                  <a:srgbClr val="FFFFFF"/>
                </a:solidFill>
              </a:rPr>
              <a:t>Synthetic assumptions dùng trong policy simulator</a:t>
            </a:r>
            <a:endParaRPr>
              <a:solidFill>
                <a:srgbClr val="FFFFFF"/>
              </a:solidFill>
            </a:endParaRPr>
          </a:p>
        </p:txBody>
      </p:sp>
      <p:sp>
        <p:nvSpPr>
          <p:cNvPr id="5" name="Rectangle 4"/>
          <p:cNvSpPr/>
          <p:nvPr/>
        </p:nvSpPr>
        <p:spPr>
          <a:xfrm>
            <a:off x="640080" y="1188720"/>
            <a:ext cx="228600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6217920"/>
            <a:ext cx="8778240" cy="365760"/>
          </a:xfrm>
          <a:prstGeom prst="rect">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277689"/>
            <a:ext cx="4019049" cy="246221"/>
          </a:xfrm>
          <a:prstGeom prst="rect">
            <a:avLst/>
          </a:prstGeom>
          <a:noFill/>
        </p:spPr>
        <p:txBody>
          <a:bodyPr wrap="none" anchor="ctr">
            <a:spAutoFit/>
          </a:bodyPr>
          <a:lstStyle/>
          <a:p>
            <a:pPr>
              <a:defRPr sz="1000">
                <a:solidFill>
                  <a:srgbClr val="FFFFFF"/>
                </a:solidFill>
                <a:latin typeface="Segoe UI"/>
              </a:defRPr>
            </a:pPr>
            <a:r>
              <a:rPr lang="en-US">
                <a:solidFill>
                  <a:srgbClr val="FFFFFF"/>
                </a:solidFill>
              </a:rPr>
              <a:t>GSM Promotion Experimentation • Mentor Rehearsal • Data Science</a:t>
            </a:r>
            <a:endParaRPr>
              <a:solidFill>
                <a:srgbClr val="FFFFFF"/>
              </a:solidFill>
            </a:endParaRPr>
          </a:p>
        </p:txBody>
      </p:sp>
      <p:sp>
        <p:nvSpPr>
          <p:cNvPr id="8" name="Rectangle 7"/>
          <p:cNvSpPr/>
          <p:nvPr/>
        </p:nvSpPr>
        <p:spPr>
          <a:xfrm>
            <a:off x="365760" y="6583680"/>
            <a:ext cx="8778240" cy="27432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605424"/>
            <a:ext cx="2279791" cy="230832"/>
          </a:xfrm>
          <a:prstGeom prst="rect">
            <a:avLst/>
          </a:prstGeom>
          <a:noFill/>
        </p:spPr>
        <p:txBody>
          <a:bodyPr wrap="none" anchor="ctr">
            <a:spAutoFit/>
          </a:bodyPr>
          <a:lstStyle/>
          <a:p>
            <a:pPr>
              <a:defRPr sz="900">
                <a:solidFill>
                  <a:srgbClr val="38BDF8"/>
                </a:solidFill>
                <a:latin typeface="Segoe UI"/>
              </a:defRPr>
            </a:pPr>
            <a:r>
              <a:rPr lang="en-US">
                <a:solidFill>
                  <a:srgbClr val="FFFFFF"/>
                </a:solidFill>
              </a:rPr>
              <a:t>Uplift Modeling &amp; Profit-aware Targeting</a:t>
            </a:r>
            <a:endParaRPr>
              <a:solidFill>
                <a:srgbClr val="FFFFFF"/>
              </a:solidFill>
            </a:endParaRPr>
          </a:p>
        </p:txBody>
      </p:sp>
      <p:sp>
        <p:nvSpPr>
          <p:cNvPr id="10" name="TextBox 9"/>
          <p:cNvSpPr txBox="1"/>
          <p:nvPr/>
        </p:nvSpPr>
        <p:spPr>
          <a:xfrm>
            <a:off x="8720418" y="6605424"/>
            <a:ext cx="332142" cy="230832"/>
          </a:xfrm>
          <a:prstGeom prst="rect">
            <a:avLst/>
          </a:prstGeom>
          <a:noFill/>
        </p:spPr>
        <p:txBody>
          <a:bodyPr wrap="none" anchor="ctr">
            <a:spAutoFit/>
          </a:bodyPr>
          <a:lstStyle/>
          <a:p>
            <a:pPr algn="r">
              <a:defRPr sz="900" b="1">
                <a:solidFill>
                  <a:srgbClr val="FFFFFF"/>
                </a:solidFill>
                <a:latin typeface="Segoe UI"/>
              </a:defRPr>
            </a:pPr>
            <a:r>
              <a:rPr lang="en-US">
                <a:solidFill>
                  <a:srgbClr val="FFFFFF"/>
                </a:solidFill>
              </a:rPr>
              <a:t>A1</a:t>
            </a:r>
            <a:endParaRPr>
              <a:solidFill>
                <a:srgbClr val="FFFFFF"/>
              </a:solidFill>
            </a:endParaRPr>
          </a:p>
        </p:txBody>
      </p:sp>
      <p:sp>
        <p:nvSpPr>
          <p:cNvPr id="11" name="Rounded Rectangle 10"/>
          <p:cNvSpPr/>
          <p:nvPr/>
        </p:nvSpPr>
        <p:spPr>
          <a:xfrm>
            <a:off x="640080" y="1645920"/>
            <a:ext cx="402336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 y="2194560"/>
            <a:ext cx="374904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691640"/>
            <a:ext cx="3931920" cy="502920"/>
          </a:xfrm>
          <a:prstGeom prst="rect">
            <a:avLst/>
          </a:prstGeom>
          <a:noFill/>
        </p:spPr>
        <p:txBody>
          <a:bodyPr wrap="square">
            <a:spAutoFit/>
          </a:bodyPr>
          <a:lstStyle/>
          <a:p>
            <a:r>
              <a:rPr>
                <a:solidFill>
                  <a:srgbClr val="FFFFFF"/>
                </a:solidFill>
              </a:rPr>
              <a:t>Expected Value Rule</a:t>
            </a:r>
          </a:p>
        </p:txBody>
      </p:sp>
      <p:sp>
        <p:nvSpPr>
          <p:cNvPr id="14" name="TextBox 13"/>
          <p:cNvSpPr txBox="1"/>
          <p:nvPr/>
        </p:nvSpPr>
        <p:spPr>
          <a:xfrm>
            <a:off x="685800" y="2286000"/>
            <a:ext cx="3931920" cy="1200329"/>
          </a:xfrm>
          <a:prstGeom prst="rect">
            <a:avLst/>
          </a:prstGeom>
          <a:noFill/>
        </p:spPr>
        <p:txBody>
          <a:bodyPr wrap="square">
            <a:spAutoFit/>
          </a:bodyPr>
          <a:lstStyle/>
          <a:p>
            <a:r>
              <a:rPr lang="en-US">
                <a:solidFill>
                  <a:srgbClr val="FFFFFF"/>
                </a:solidFill>
              </a:rPr>
              <a:t>• EV_i = CATE_i x margin_per_ride_i - Yhat_i(1) x voucher_cost_per_ride_i.</a:t>
            </a:r>
          </a:p>
          <a:p>
            <a:r>
              <a:rPr lang="en-US">
                <a:solidFill>
                  <a:srgbClr val="FFFFFF"/>
                </a:solidFill>
              </a:rPr>
              <a:t>• Chỉ phát khi EV_i &gt; 0 theo assumptions hiện tại.</a:t>
            </a:r>
            <a:endParaRPr>
              <a:solidFill>
                <a:srgbClr val="FFFFFF"/>
              </a:solidFill>
            </a:endParaRPr>
          </a:p>
        </p:txBody>
      </p:sp>
      <p:sp>
        <p:nvSpPr>
          <p:cNvPr id="15" name="Rounded Rectangle 14"/>
          <p:cNvSpPr/>
          <p:nvPr/>
        </p:nvSpPr>
        <p:spPr>
          <a:xfrm>
            <a:off x="4846320" y="1645920"/>
            <a:ext cx="402336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983480" y="2194560"/>
            <a:ext cx="3749040" cy="36576"/>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92040" y="1691640"/>
            <a:ext cx="3931920" cy="502920"/>
          </a:xfrm>
          <a:prstGeom prst="rect">
            <a:avLst/>
          </a:prstGeom>
          <a:noFill/>
        </p:spPr>
        <p:txBody>
          <a:bodyPr wrap="square">
            <a:spAutoFit/>
          </a:bodyPr>
          <a:lstStyle/>
          <a:p>
            <a:r>
              <a:rPr>
                <a:solidFill>
                  <a:srgbClr val="FFFFFF"/>
                </a:solidFill>
              </a:rPr>
              <a:t>Insight</a:t>
            </a:r>
          </a:p>
        </p:txBody>
      </p:sp>
      <p:sp>
        <p:nvSpPr>
          <p:cNvPr id="18" name="TextBox 17"/>
          <p:cNvSpPr txBox="1"/>
          <p:nvPr/>
        </p:nvSpPr>
        <p:spPr>
          <a:xfrm>
            <a:off x="4892040" y="2286000"/>
            <a:ext cx="3931920" cy="1200329"/>
          </a:xfrm>
          <a:prstGeom prst="rect">
            <a:avLst/>
          </a:prstGeom>
          <a:noFill/>
        </p:spPr>
        <p:txBody>
          <a:bodyPr wrap="square">
            <a:spAutoFit/>
          </a:bodyPr>
          <a:lstStyle/>
          <a:p>
            <a:r>
              <a:rPr lang="en-US">
                <a:solidFill>
                  <a:srgbClr val="FFFFFF"/>
                </a:solidFill>
              </a:rPr>
              <a:t>• Uplift cao vẫn có thể lỗ nếu baseline rides và promotion burn lớn.</a:t>
            </a:r>
          </a:p>
          <a:p>
            <a:r>
              <a:rPr lang="en-US">
                <a:solidFill>
                  <a:srgbClr val="FFFFFF"/>
                </a:solidFill>
              </a:rPr>
              <a:t>• Budget policy dùng greedy heuristic, không phải exact knapsack.</a:t>
            </a:r>
            <a:endParaRPr>
              <a:solidFill>
                <a:srgbClr val="FFFFFF"/>
              </a:solidFill>
            </a:endParaRPr>
          </a:p>
        </p:txBody>
      </p:sp>
    </p:spTree>
    <p:extLst>
      <p:ext uri="{BB962C8B-B14F-4D97-AF65-F5344CB8AC3E}">
        <p14:creationId xmlns:p14="http://schemas.microsoft.com/office/powerpoint/2010/main" val="3582608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0B1320"/>
        </a:solidFill>
        <a:effectLst/>
      </p:bgPr>
    </p:bg>
    <p:spTree>
      <p:nvGrpSpPr>
        <p:cNvPr id="1" name=""/>
        <p:cNvGrpSpPr/>
        <p:nvPr/>
      </p:nvGrpSpPr>
      <p:grpSpPr>
        <a:xfrm>
          <a:off x="0" y="0"/>
          <a:ext cx="0" cy="0"/>
          <a:chOff x="0" y="0"/>
          <a:chExt cx="0" cy="0"/>
        </a:xfrm>
      </p:grpSpPr>
      <p:sp>
        <p:nvSpPr>
          <p:cNvPr id="2" name="Rectangle 1"/>
          <p:cNvSpPr/>
          <p:nvPr/>
        </p:nvSpPr>
        <p:spPr>
          <a:xfrm>
            <a:off x="365760" y="0"/>
            <a:ext cx="137160" cy="68580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82880"/>
            <a:ext cx="6324104" cy="492443"/>
          </a:xfrm>
          <a:prstGeom prst="rect">
            <a:avLst/>
          </a:prstGeom>
          <a:noFill/>
        </p:spPr>
        <p:txBody>
          <a:bodyPr wrap="none">
            <a:spAutoFit/>
          </a:bodyPr>
          <a:lstStyle/>
          <a:p>
            <a:pPr>
              <a:defRPr sz="2600" b="1">
                <a:solidFill>
                  <a:srgbClr val="FFFFFF"/>
                </a:solidFill>
                <a:latin typeface="Segoe UI"/>
              </a:defRPr>
            </a:pPr>
            <a:r>
              <a:rPr lang="en-US">
                <a:solidFill>
                  <a:srgbClr val="FFFFFF"/>
                </a:solidFill>
              </a:rPr>
              <a:t>Appendix A2 - A/A false-positive check</a:t>
            </a:r>
            <a:endParaRPr>
              <a:solidFill>
                <a:srgbClr val="FFFFFF"/>
              </a:solidFill>
            </a:endParaRPr>
          </a:p>
        </p:txBody>
      </p:sp>
      <p:sp>
        <p:nvSpPr>
          <p:cNvPr id="4" name="TextBox 3"/>
          <p:cNvSpPr txBox="1"/>
          <p:nvPr/>
        </p:nvSpPr>
        <p:spPr>
          <a:xfrm>
            <a:off x="640080" y="731520"/>
            <a:ext cx="2674130" cy="292388"/>
          </a:xfrm>
          <a:prstGeom prst="rect">
            <a:avLst/>
          </a:prstGeom>
          <a:noFill/>
        </p:spPr>
        <p:txBody>
          <a:bodyPr wrap="none">
            <a:spAutoFit/>
          </a:bodyPr>
          <a:lstStyle/>
          <a:p>
            <a:pPr>
              <a:defRPr sz="1300">
                <a:solidFill>
                  <a:srgbClr val="FFB800"/>
                </a:solidFill>
                <a:latin typeface="Segoe UI"/>
              </a:defRPr>
            </a:pPr>
            <a:r>
              <a:rPr lang="en-US">
                <a:solidFill>
                  <a:srgbClr val="FFFFFF"/>
                </a:solidFill>
              </a:rPr>
              <a:t>5.000 runs dưới true effect bằng 0</a:t>
            </a:r>
            <a:endParaRPr>
              <a:solidFill>
                <a:srgbClr val="FFFFFF"/>
              </a:solidFill>
            </a:endParaRPr>
          </a:p>
        </p:txBody>
      </p:sp>
      <p:sp>
        <p:nvSpPr>
          <p:cNvPr id="5" name="Rectangle 4"/>
          <p:cNvSpPr/>
          <p:nvPr/>
        </p:nvSpPr>
        <p:spPr>
          <a:xfrm>
            <a:off x="640080" y="1188720"/>
            <a:ext cx="228600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6217920"/>
            <a:ext cx="8778240" cy="365760"/>
          </a:xfrm>
          <a:prstGeom prst="rect">
            <a:avLst/>
          </a:prstGeom>
          <a:solidFill>
            <a:srgbClr val="1C4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277689"/>
            <a:ext cx="4019049" cy="246221"/>
          </a:xfrm>
          <a:prstGeom prst="rect">
            <a:avLst/>
          </a:prstGeom>
          <a:noFill/>
        </p:spPr>
        <p:txBody>
          <a:bodyPr wrap="none" anchor="ctr">
            <a:spAutoFit/>
          </a:bodyPr>
          <a:lstStyle/>
          <a:p>
            <a:pPr>
              <a:defRPr sz="1000">
                <a:solidFill>
                  <a:srgbClr val="FFFFFF"/>
                </a:solidFill>
                <a:latin typeface="Segoe UI"/>
              </a:defRPr>
            </a:pPr>
            <a:r>
              <a:rPr lang="en-US">
                <a:solidFill>
                  <a:srgbClr val="FFFFFF"/>
                </a:solidFill>
              </a:rPr>
              <a:t>GSM Promotion Experimentation • Mentor Rehearsal • Data Science</a:t>
            </a:r>
            <a:endParaRPr>
              <a:solidFill>
                <a:srgbClr val="FFFFFF"/>
              </a:solidFill>
            </a:endParaRPr>
          </a:p>
        </p:txBody>
      </p:sp>
      <p:sp>
        <p:nvSpPr>
          <p:cNvPr id="8" name="Rectangle 7"/>
          <p:cNvSpPr/>
          <p:nvPr/>
        </p:nvSpPr>
        <p:spPr>
          <a:xfrm>
            <a:off x="365760" y="6583680"/>
            <a:ext cx="8778240" cy="27432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605424"/>
            <a:ext cx="2279791" cy="230832"/>
          </a:xfrm>
          <a:prstGeom prst="rect">
            <a:avLst/>
          </a:prstGeom>
          <a:noFill/>
        </p:spPr>
        <p:txBody>
          <a:bodyPr wrap="none" anchor="ctr">
            <a:spAutoFit/>
          </a:bodyPr>
          <a:lstStyle/>
          <a:p>
            <a:pPr>
              <a:defRPr sz="900">
                <a:solidFill>
                  <a:srgbClr val="38BDF8"/>
                </a:solidFill>
                <a:latin typeface="Segoe UI"/>
              </a:defRPr>
            </a:pPr>
            <a:r>
              <a:rPr lang="en-US">
                <a:solidFill>
                  <a:srgbClr val="FFFFFF"/>
                </a:solidFill>
              </a:rPr>
              <a:t>Uplift Modeling &amp; Profit-aware Targeting</a:t>
            </a:r>
            <a:endParaRPr>
              <a:solidFill>
                <a:srgbClr val="FFFFFF"/>
              </a:solidFill>
            </a:endParaRPr>
          </a:p>
        </p:txBody>
      </p:sp>
      <p:sp>
        <p:nvSpPr>
          <p:cNvPr id="10" name="TextBox 9"/>
          <p:cNvSpPr txBox="1"/>
          <p:nvPr/>
        </p:nvSpPr>
        <p:spPr>
          <a:xfrm>
            <a:off x="8720418" y="6605424"/>
            <a:ext cx="332142" cy="230832"/>
          </a:xfrm>
          <a:prstGeom prst="rect">
            <a:avLst/>
          </a:prstGeom>
          <a:noFill/>
        </p:spPr>
        <p:txBody>
          <a:bodyPr wrap="none" anchor="ctr">
            <a:spAutoFit/>
          </a:bodyPr>
          <a:lstStyle/>
          <a:p>
            <a:pPr algn="r">
              <a:defRPr sz="900" b="1">
                <a:solidFill>
                  <a:srgbClr val="FFFFFF"/>
                </a:solidFill>
                <a:latin typeface="Segoe UI"/>
              </a:defRPr>
            </a:pPr>
            <a:r>
              <a:rPr lang="en-US">
                <a:solidFill>
                  <a:srgbClr val="FFFFFF"/>
                </a:solidFill>
              </a:rPr>
              <a:t>A2</a:t>
            </a:r>
            <a:endParaRPr>
              <a:solidFill>
                <a:srgbClr val="FFFFFF"/>
              </a:solidFill>
            </a:endParaRPr>
          </a:p>
        </p:txBody>
      </p:sp>
      <p:sp>
        <p:nvSpPr>
          <p:cNvPr id="11" name="Rounded Rectangle 10"/>
          <p:cNvSpPr/>
          <p:nvPr/>
        </p:nvSpPr>
        <p:spPr>
          <a:xfrm>
            <a:off x="640080" y="1645920"/>
            <a:ext cx="268224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 y="2194560"/>
            <a:ext cx="2407920" cy="36576"/>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691640"/>
            <a:ext cx="2590800" cy="502920"/>
          </a:xfrm>
          <a:prstGeom prst="rect">
            <a:avLst/>
          </a:prstGeom>
          <a:noFill/>
        </p:spPr>
        <p:txBody>
          <a:bodyPr wrap="square">
            <a:spAutoFit/>
          </a:bodyPr>
          <a:lstStyle/>
          <a:p>
            <a:pPr>
              <a:defRPr sz="1600" b="1">
                <a:solidFill>
                  <a:srgbClr val="FFB800"/>
                </a:solidFill>
                <a:latin typeface="Segoe UI"/>
              </a:defRPr>
            </a:pPr>
            <a:r>
              <a:rPr>
                <a:solidFill>
                  <a:srgbClr val="FFFFFF"/>
                </a:solidFill>
              </a:rPr>
              <a:t>Thiết lập Kịch bản</a:t>
            </a:r>
          </a:p>
        </p:txBody>
      </p:sp>
      <p:sp>
        <p:nvSpPr>
          <p:cNvPr id="14" name="TextBox 13"/>
          <p:cNvSpPr txBox="1"/>
          <p:nvPr/>
        </p:nvSpPr>
        <p:spPr>
          <a:xfrm>
            <a:off x="685800" y="2286000"/>
            <a:ext cx="2590800" cy="1092607"/>
          </a:xfrm>
          <a:prstGeom prst="rect">
            <a:avLst/>
          </a:prstGeom>
          <a:noFill/>
        </p:spPr>
        <p:txBody>
          <a:bodyPr wrap="square">
            <a:spAutoFit/>
          </a:bodyPr>
          <a:lstStyle/>
          <a:p>
            <a:pPr>
              <a:spcAft>
                <a:spcPts val="600"/>
              </a:spcAft>
              <a:defRPr sz="1500">
                <a:solidFill>
                  <a:srgbClr val="FFFFFF"/>
                </a:solidFill>
                <a:latin typeface="Segoe UI"/>
              </a:defRPr>
            </a:pPr>
            <a:r>
              <a:rPr lang="en-US">
                <a:solidFill>
                  <a:srgbClr val="FFFFFF"/>
                </a:solidFill>
              </a:rPr>
              <a:t>• True Effect = 0; treatment/control 50/50.</a:t>
            </a:r>
          </a:p>
          <a:p>
            <a:pPr>
              <a:spcAft>
                <a:spcPts val="600"/>
              </a:spcAft>
              <a:defRPr sz="1500">
                <a:solidFill>
                  <a:srgbClr val="FFFFFF"/>
                </a:solidFill>
                <a:latin typeface="Segoe UI"/>
              </a:defRPr>
            </a:pPr>
            <a:r>
              <a:rPr lang="en-US">
                <a:solidFill>
                  <a:srgbClr val="FFFFFF"/>
                </a:solidFill>
              </a:rPr>
              <a:t>• 5.000 runs, 2.000 observations/run.</a:t>
            </a:r>
            <a:endParaRPr>
              <a:solidFill>
                <a:srgbClr val="FFFFFF"/>
              </a:solidFill>
            </a:endParaRPr>
          </a:p>
        </p:txBody>
      </p:sp>
      <p:sp>
        <p:nvSpPr>
          <p:cNvPr id="15" name="Rounded Rectangle 14"/>
          <p:cNvSpPr/>
          <p:nvPr/>
        </p:nvSpPr>
        <p:spPr>
          <a:xfrm>
            <a:off x="3505200" y="1645920"/>
            <a:ext cx="268224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42360" y="2194560"/>
            <a:ext cx="2407920" cy="365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50920" y="1691640"/>
            <a:ext cx="2590800" cy="502920"/>
          </a:xfrm>
          <a:prstGeom prst="rect">
            <a:avLst/>
          </a:prstGeom>
          <a:noFill/>
        </p:spPr>
        <p:txBody>
          <a:bodyPr wrap="square">
            <a:spAutoFit/>
          </a:bodyPr>
          <a:lstStyle/>
          <a:p>
            <a:pPr>
              <a:defRPr sz="1600" b="1">
                <a:solidFill>
                  <a:srgbClr val="34D399"/>
                </a:solidFill>
                <a:latin typeface="Segoe UI"/>
              </a:defRPr>
            </a:pPr>
            <a:r>
              <a:rPr>
                <a:solidFill>
                  <a:srgbClr val="FFFFFF"/>
                </a:solidFill>
              </a:rPr>
              <a:t>Kết quả Đo lường</a:t>
            </a:r>
          </a:p>
        </p:txBody>
      </p:sp>
      <p:sp>
        <p:nvSpPr>
          <p:cNvPr id="18" name="TextBox 17"/>
          <p:cNvSpPr txBox="1"/>
          <p:nvPr/>
        </p:nvSpPr>
        <p:spPr>
          <a:xfrm>
            <a:off x="3550920" y="2286000"/>
            <a:ext cx="2590800" cy="1200329"/>
          </a:xfrm>
          <a:prstGeom prst="rect">
            <a:avLst/>
          </a:prstGeom>
          <a:noFill/>
        </p:spPr>
        <p:txBody>
          <a:bodyPr wrap="square">
            <a:spAutoFit/>
          </a:bodyPr>
          <a:lstStyle/>
          <a:p>
            <a:r>
              <a:rPr lang="en-US">
                <a:solidFill>
                  <a:srgbClr val="FFFFFF"/>
                </a:solidFill>
              </a:rPr>
              <a:t>• FPR = 5,04% tại alpha 5%.</a:t>
            </a:r>
          </a:p>
          <a:p>
            <a:r>
              <a:rPr lang="en-US">
                <a:solidFill>
                  <a:srgbClr val="FFFFFF"/>
                </a:solidFill>
              </a:rPr>
              <a:t>• Khoảng tin cậy nhị thức 95%: [4,45%; 5,68%].</a:t>
            </a:r>
            <a:endParaRPr>
              <a:solidFill>
                <a:srgbClr val="FFFFFF"/>
              </a:solidFill>
            </a:endParaRPr>
          </a:p>
        </p:txBody>
      </p:sp>
      <p:sp>
        <p:nvSpPr>
          <p:cNvPr id="19" name="Rounded Rectangle 18"/>
          <p:cNvSpPr/>
          <p:nvPr/>
        </p:nvSpPr>
        <p:spPr>
          <a:xfrm>
            <a:off x="6370320" y="1645920"/>
            <a:ext cx="2682240" cy="4114800"/>
          </a:xfrm>
          <a:prstGeom prst="roundRect">
            <a:avLst/>
          </a:prstGeom>
          <a:solidFill>
            <a:srgbClr val="17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507480" y="2194560"/>
            <a:ext cx="240792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16040" y="1691640"/>
            <a:ext cx="2590800" cy="502920"/>
          </a:xfrm>
          <a:prstGeom prst="rect">
            <a:avLst/>
          </a:prstGeom>
          <a:noFill/>
        </p:spPr>
        <p:txBody>
          <a:bodyPr wrap="square">
            <a:spAutoFit/>
          </a:bodyPr>
          <a:lstStyle/>
          <a:p>
            <a:pPr>
              <a:defRPr sz="1600" b="1">
                <a:solidFill>
                  <a:srgbClr val="38BDF8"/>
                </a:solidFill>
                <a:latin typeface="Segoe UI"/>
              </a:defRPr>
            </a:pPr>
            <a:r>
              <a:rPr>
                <a:solidFill>
                  <a:srgbClr val="FFFFFF"/>
                </a:solidFill>
              </a:rPr>
              <a:t>Đánh giá</a:t>
            </a:r>
          </a:p>
        </p:txBody>
      </p:sp>
      <p:sp>
        <p:nvSpPr>
          <p:cNvPr id="22" name="TextBox 21"/>
          <p:cNvSpPr txBox="1"/>
          <p:nvPr/>
        </p:nvSpPr>
        <p:spPr>
          <a:xfrm>
            <a:off x="6416040" y="2286000"/>
            <a:ext cx="2590800" cy="1477328"/>
          </a:xfrm>
          <a:prstGeom prst="rect">
            <a:avLst/>
          </a:prstGeom>
          <a:noFill/>
        </p:spPr>
        <p:txBody>
          <a:bodyPr wrap="square">
            <a:spAutoFit/>
          </a:bodyPr>
          <a:lstStyle/>
          <a:p>
            <a:r>
              <a:rPr lang="en-US">
                <a:solidFill>
                  <a:srgbClr val="FFFFFF"/>
                </a:solidFill>
              </a:rPr>
              <a:t>• Mean estimated ATE = -0,0013 chuyến.</a:t>
            </a:r>
          </a:p>
          <a:p>
            <a:r>
              <a:rPr lang="en-US">
                <a:solidFill>
                  <a:srgbClr val="FFFFFF"/>
                </a:solidFill>
              </a:rPr>
              <a:t>• FPR gần mức thiết kế; không phải bằng chứng production.</a:t>
            </a:r>
            <a:endParaRPr>
              <a:solidFill>
                <a:srgbClr val="FFFFFF"/>
              </a:solidFill>
            </a:endParaRPr>
          </a:p>
        </p:txBody>
      </p:sp>
    </p:spTree>
    <p:extLst>
      <p:ext uri="{BB962C8B-B14F-4D97-AF65-F5344CB8AC3E}">
        <p14:creationId xmlns:p14="http://schemas.microsoft.com/office/powerpoint/2010/main" val="4140463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1397</Words>
  <Application>Microsoft Office PowerPoint</Application>
  <PresentationFormat>On-screen Show (4:3)</PresentationFormat>
  <Paragraphs>102</Paragraphs>
  <Slides>7</Slides>
  <Notes>7</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Bui Van Thai</dc:creator>
  <cp:lastModifiedBy>Bui Van Thai</cp:lastModifiedBy>
  <cp:revision>4</cp:revision>
  <dcterms:created xsi:type="dcterms:W3CDTF">2026-08-20T07:31:59Z</dcterms:created>
  <dcterms:modified xsi:type="dcterms:W3CDTF">2026-08-20T07:37:50Z</dcterms:modified>
</cp:coreProperties>
</file>