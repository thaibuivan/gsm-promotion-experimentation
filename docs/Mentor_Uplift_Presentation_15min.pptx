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9" r:id="rId3"/>
    <p:sldId id="260" r:id="rId4"/>
    <p:sldId id="261" r:id="rId5"/>
    <p:sldId id="262" r:id="rId6"/>
    <p:sldId id="263" r:id="rId7"/>
    <p:sldId id="264" r:id="rId8"/>
    <p:sldId id="265" r:id="rId9"/>
    <p:sldId id="266" r:id="rId10"/>
    <p:sldId id="267"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36" d="100"/>
          <a:sy n="36" d="100"/>
        </p:scale>
        <p:origin x="2765" y="3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5F29-532A-4392-845F-1E332F7FE3C4}" type="datetimeFigureOut">
              <a:rPr lang="en-US" smtClean="0"/>
              <a:t>8/21/2026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4F2D62-2C75-4BBC-9DE5-FEEF19C47B2D}" type="slidenum">
              <a:rPr lang="en-US" smtClean="0"/>
              <a:t>‹#›</a:t>
            </a:fld>
            <a:endParaRPr lang="en-US"/>
          </a:p>
        </p:txBody>
      </p:sp>
    </p:spTree>
    <p:extLst>
      <p:ext uri="{BB962C8B-B14F-4D97-AF65-F5344CB8AC3E}">
        <p14:creationId xmlns:p14="http://schemas.microsoft.com/office/powerpoint/2010/main" val="24012569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45-60 giây
Mở: Trong synthetic sandbox, phát voucher đại trà làm số chuyến và doanh thu tăng, nhưng phần contribution margin tạo thêm không đủ bù voucher burn.
Lưu ý khi bị hỏi: Net profit = incremental revenue x contribution margin 70% - voucher burn. Vì vậy $561,413 - $662,365 không phải phép tính net profit trực tiếp.
Chuyển: Trước khi tối ưu phát cho ai, bước đầu tiên là chứng minh voucher thực sự tạo causal uplift.
[Sources]
src/dashboard/app.py; data/processed/test_predictions.csv; docs/Week5_Uplift_Modeling_Report.md</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1</a:t>
            </a:fld>
            <a:endParaRPr lang="en-US"/>
          </a:p>
        </p:txBody>
      </p:sp>
    </p:spTree>
    <p:extLst>
      <p:ext uri="{BB962C8B-B14F-4D97-AF65-F5344CB8AC3E}">
        <p14:creationId xmlns:p14="http://schemas.microsoft.com/office/powerpoint/2010/main" val="3019326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 giây
A/B evidence cho thấy Adjusted ATE khoảng 0,95 chuyến trên khách hàng trong 30 ngày và khoảng tin cậy không chứa 0. Voucher thực sự tạo uplift trung bình.
Tiếp theo, project phân tích năm persona: Suburban Card, Suburban Cash, Rain Riders, Airport Business và Urban Regulars. Cả năm nhóm đều có ATE dương, nhưng khi tính contribution margin trừ voucher burn thì ROI vẫn âm. Ngay cả nhóm tốt nhất là Suburban Card cũng có ROI -7,5%.
Ý nghĩa: segmentation giúp nhìn thấy khác biệt giữa các nhóm, nhưng rule theo persona vẫn quá thô. Trong cùng một segment vẫn có người phản ứng tốt, người phản ứng kém và người vốn sẽ tự đi xe.
Demo tùy thời gian: mở Tab 2 khoảng 30 giây để chỉ bảng Segment Economics, sau đó chuyển thẳng sang slide model.
Chuyển: Vì vậy project cần CATE và EV ở cấp khách hàng, thay vì chỉ target toàn bộ một segment.
[Sources]
docs/Week4_AA_AB_Testing_Report.md; src/dashboard/app.py; data/processed/segmented_simulation_data.csv</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2</a:t>
            </a:fld>
            <a:endParaRPr lang="en-US"/>
          </a:p>
        </p:txBody>
      </p:sp>
    </p:spTree>
    <p:extLst>
      <p:ext uri="{BB962C8B-B14F-4D97-AF65-F5344CB8AC3E}">
        <p14:creationId xmlns:p14="http://schemas.microsoft.com/office/powerpoint/2010/main" val="4124836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75-90 giây
Các model được so sánh trên cùng held-out test set. Simplified R-Learner-style có Qini 0,188, cao nhất trong các model đã thử và cao hơn random baseline.
Không gọi đây là full DML vì implementation chưa cross-fitting. Qini cho thấy ranking hữu ích, nhưng calibration cho thấy độ lớn CATE dự báo chưa hoàn hảo.
Chuyển: Ranking tốt vẫn chưa đủ; CATE cao có thể đi kèm promotion burn lớn. Cần chuyển signal sang Expected Value.
[Sources]
docs/Week5_Uplift_Modeling_Report.md; notebooks/week5_uplift_modeling/</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3</a:t>
            </a:fld>
            <a:endParaRPr lang="en-US"/>
          </a:p>
        </p:txBody>
      </p:sp>
    </p:spTree>
    <p:extLst>
      <p:ext uri="{BB962C8B-B14F-4D97-AF65-F5344CB8AC3E}">
        <p14:creationId xmlns:p14="http://schemas.microsoft.com/office/powerpoint/2010/main" val="2661610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75-90 giây
Decision rule là EV &gt; 0, tức incremental margin phải lớn hơn expected voucher burn. Snapshot test chọn 888 trên 4.000 khách hàng; đây là kết quả của rule, không phải quota 22,2% cố định.
Predicted profit và synthetic benchmark đều là số liệu mô phỏng, không phải lợi nhuận production.
Chuyển sang demo: Mở dashboard tại Qini/Calibration, sau đó sang Policy Simulator. Chỉ thay một tham số voucher rate hoặc budget.
[Sources]
docs/Week5_Uplift_Modeling_Report.md; src/dashboard/app.py</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4</a:t>
            </a:fld>
            <a:endParaRPr lang="en-US"/>
          </a:p>
        </p:txBody>
      </p:sp>
    </p:spTree>
    <p:extLst>
      <p:ext uri="{BB962C8B-B14F-4D97-AF65-F5344CB8AC3E}">
        <p14:creationId xmlns:p14="http://schemas.microsoft.com/office/powerpoint/2010/main" val="2503165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45-60 giây
Kết luận: evidence hiện tại đủ để đề xuất một randomized pilot có guardrails, nhưng chưa đủ để rollout production.
Ba điểm cần mentor phản biện là logic chọn model, assumptions economics và thiết kế pilot. Sau câu này dừng trình bày và mời mentor đặt câu hỏi.
[Sources]
docs/Week5_Uplift_Modeling_Report.md; docs/Week6_Stress_Test_Report.md; data/processed/week6_stress_test_metrics.json</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5</a:t>
            </a:fld>
            <a:endParaRPr lang="en-US"/>
          </a:p>
        </p:txBody>
      </p:sp>
    </p:spTree>
    <p:extLst>
      <p:ext uri="{BB962C8B-B14F-4D97-AF65-F5344CB8AC3E}">
        <p14:creationId xmlns:p14="http://schemas.microsoft.com/office/powerpoint/2010/main" val="1601261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công thức EV, voucher assumptions hoặc budget heuristic.
[Sources]
docs/Week5_Uplift_Modeling_Report.md; src/dashboard/app.py</a:t>
            </a:r>
          </a:p>
        </p:txBody>
      </p:sp>
      <p:sp>
        <p:nvSpPr>
          <p:cNvPr id="4" name="Slide Number Placeholder 3"/>
          <p:cNvSpPr>
            <a:spLocks noGrp="1"/>
          </p:cNvSpPr>
          <p:nvPr>
            <p:ph type="sldNum" sz="quarter" idx="5"/>
          </p:nvPr>
        </p:nvSpPr>
        <p:spPr/>
        <p:txBody>
          <a:bodyPr/>
          <a:lstStyle/>
          <a:p>
            <a:fld id="{324F2D62-2C75-4BBC-9DE5-FEEF19C47B2D}" type="slidenum">
              <a:rPr lang="en-US" smtClean="0"/>
              <a:t>6</a:t>
            </a:fld>
            <a:endParaRPr lang="en-US"/>
          </a:p>
        </p:txBody>
      </p:sp>
    </p:spTree>
    <p:extLst>
      <p:ext uri="{BB962C8B-B14F-4D97-AF65-F5344CB8AC3E}">
        <p14:creationId xmlns:p14="http://schemas.microsoft.com/office/powerpoint/2010/main" val="25789923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A/A false-positive rate hoặc cách kiểm tra measurement framework.
[Sources]
notebooks/week6_stress_test/1_stress_test.ipynb; data/processed/week6_stress_test_metrics.json</a:t>
            </a:r>
          </a:p>
        </p:txBody>
      </p:sp>
      <p:sp>
        <p:nvSpPr>
          <p:cNvPr id="4" name="Slide Number Placeholder 3"/>
          <p:cNvSpPr>
            <a:spLocks noGrp="1"/>
          </p:cNvSpPr>
          <p:nvPr>
            <p:ph type="sldNum" sz="quarter" idx="5"/>
          </p:nvPr>
        </p:nvSpPr>
        <p:spPr/>
        <p:txBody>
          <a:bodyPr/>
          <a:lstStyle/>
          <a:p>
            <a:fld id="{324F2D62-2C75-4BBC-9DE5-FEEF19C47B2D}" type="slidenum">
              <a:rPr lang="en-US" smtClean="0"/>
              <a:t>7</a:t>
            </a:fld>
            <a:endParaRPr lang="en-US"/>
          </a:p>
        </p:txBody>
      </p:sp>
    </p:spTree>
    <p:extLst>
      <p:ext uri="{BB962C8B-B14F-4D97-AF65-F5344CB8AC3E}">
        <p14:creationId xmlns:p14="http://schemas.microsoft.com/office/powerpoint/2010/main" val="255980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công thức EV, voucher assumptions hoặc budget heuristic.
[Sources]
docs/Week5_Uplift_Modeling_Report.md; src/dashboard/app.py</a:t>
            </a:r>
          </a:p>
        </p:txBody>
      </p:sp>
      <p:sp>
        <p:nvSpPr>
          <p:cNvPr id="4" name="Slide Number Placeholder 3"/>
          <p:cNvSpPr>
            <a:spLocks noGrp="1"/>
          </p:cNvSpPr>
          <p:nvPr>
            <p:ph type="sldNum" sz="quarter" idx="5"/>
          </p:nvPr>
        </p:nvSpPr>
        <p:spPr/>
        <p:txBody>
          <a:bodyPr/>
          <a:lstStyle/>
          <a:p>
            <a:fld id="{324F2D62-2C75-4BBC-9DE5-FEEF19C47B2D}" type="slidenum">
              <a:rPr lang="en-US" smtClean="0"/>
              <a:t>8</a:t>
            </a:fld>
            <a:endParaRPr lang="en-US"/>
          </a:p>
        </p:txBody>
      </p:sp>
    </p:spTree>
    <p:extLst>
      <p:ext uri="{BB962C8B-B14F-4D97-AF65-F5344CB8AC3E}">
        <p14:creationId xmlns:p14="http://schemas.microsoft.com/office/powerpoint/2010/main" val="25789923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A/A false-positive rate hoặc cách kiểm tra measurement framework.
[Sources]
notebooks/week6_stress_test/1_stress_test.ipynb; data/processed/week6_stress_test_metrics.json</a:t>
            </a:r>
          </a:p>
        </p:txBody>
      </p:sp>
      <p:sp>
        <p:nvSpPr>
          <p:cNvPr id="4" name="Slide Number Placeholder 3"/>
          <p:cNvSpPr>
            <a:spLocks noGrp="1"/>
          </p:cNvSpPr>
          <p:nvPr>
            <p:ph type="sldNum" sz="quarter" idx="5"/>
          </p:nvPr>
        </p:nvSpPr>
        <p:spPr/>
        <p:txBody>
          <a:bodyPr/>
          <a:lstStyle/>
          <a:p>
            <a:fld id="{324F2D62-2C75-4BBC-9DE5-FEEF19C47B2D}" type="slidenum">
              <a:rPr lang="en-US" smtClean="0"/>
              <a:t>9</a:t>
            </a:fld>
            <a:endParaRPr lang="en-US"/>
          </a:p>
        </p:txBody>
      </p:sp>
    </p:spTree>
    <p:extLst>
      <p:ext uri="{BB962C8B-B14F-4D97-AF65-F5344CB8AC3E}">
        <p14:creationId xmlns:p14="http://schemas.microsoft.com/office/powerpoint/2010/main" val="2559807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45-60 giây
Mở: Trong synthetic sandbox, phát voucher đại trà làm số chuyến và doanh thu tăng, nhưng phần contribution margin tạo thêm không đủ bù voucher burn.
Lưu ý khi bị hỏi: Net profit = incremental revenue x contribution margin 70% - voucher burn. Vì vậy $561,413 - $662,365 không phải phép tính net profit trực tiếp.
Chuyển: Trước khi tối ưu phát cho ai, bước đầu tiên là chứng minh voucher thực sự tạo causal uplift.
[Sources]
src/dashboard/app.py; data/processed/test_predictions.csv; docs/Week5_Uplift_Modeling_Report.md</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10</a:t>
            </a:fld>
            <a:endParaRPr lang="en-US"/>
          </a:p>
        </p:txBody>
      </p:sp>
    </p:spTree>
    <p:extLst>
      <p:ext uri="{BB962C8B-B14F-4D97-AF65-F5344CB8AC3E}">
        <p14:creationId xmlns:p14="http://schemas.microsoft.com/office/powerpoint/2010/main" val="3019326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8231D-F302-EF6E-A01F-1B1E65455A33}"/>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D08B38F0-B078-845D-EA6D-0769047F4EB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9ABE6E8-EC2E-485F-738E-13DBF5C0E31A}"/>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8DA7B238-C522-0734-B410-85616C066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BAE6E5-C51E-9EB2-1AAD-0705EB77272F}"/>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080724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6EDCC-611D-CA9C-B67C-027728BF58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1B6943-9F7C-011C-FCF4-1739AB8382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E1892-5F74-CB7D-3773-12981E670EF9}"/>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7864F504-1F59-2567-8B5E-685517BB3D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B6CCC0-BE08-4AC1-111E-13E0563C2A81}"/>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872256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07171-1F84-A0C5-F1AE-071AAFCE6E3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B67792BF-7FB1-911A-6A7E-0BB0A0CB8DD8}"/>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B5F337-2BBF-792E-A7B8-5BBDE9A58068}"/>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F64F1740-985E-DB31-ABDA-1A2BC094E2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29E3DC-4B91-F8C3-FD34-A03097999E74}"/>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805643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FFDA7-8053-A29C-9F62-AC873D05CB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915E7F-3DC6-E338-B30A-8AFB7764C6BF}"/>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66143-20BC-46E0-B7A6-B98B1C0DECBE}"/>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874A77C-F401-0D34-D73C-066E35135FE0}"/>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6" name="Footer Placeholder 5">
            <a:extLst>
              <a:ext uri="{FF2B5EF4-FFF2-40B4-BE49-F238E27FC236}">
                <a16:creationId xmlns:a16="http://schemas.microsoft.com/office/drawing/2014/main" id="{D0BA7F73-0815-5661-5415-0A944791D3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EDA81-0C6B-5E30-5845-F518E89E7BB3}"/>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4180720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336EF-7A94-EFAF-8A8B-7D8C1DC60E15}"/>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CDB2C48-466E-0A51-1FB3-7D707228A4FE}"/>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40D85A9A-9E3F-67E4-E5F2-2B2B25441EE4}"/>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51B1D4-0C9C-E7F1-32AF-003E6EDFD9BC}"/>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A3716AB1-FE54-D959-3427-8B325973DC66}"/>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E62494-C882-D2D0-23C4-3651BF92182A}"/>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8" name="Footer Placeholder 7">
            <a:extLst>
              <a:ext uri="{FF2B5EF4-FFF2-40B4-BE49-F238E27FC236}">
                <a16:creationId xmlns:a16="http://schemas.microsoft.com/office/drawing/2014/main" id="{E210BC03-46D4-8E31-6BC3-198C7AF2FB1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CA4213D-D5CE-C2AE-57C7-EB5014980407}"/>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983954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0A421-8680-5693-F763-1848E38C21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D0C3A7-3449-0D65-54F4-2CCE20FEDDF9}"/>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4" name="Footer Placeholder 3">
            <a:extLst>
              <a:ext uri="{FF2B5EF4-FFF2-40B4-BE49-F238E27FC236}">
                <a16:creationId xmlns:a16="http://schemas.microsoft.com/office/drawing/2014/main" id="{0C18433D-162B-4159-0C4A-05FD5F7432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F0D208-9A1E-5EF7-BB03-A8F79A02F4E8}"/>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2058737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C0786B-09EF-DBD5-98CE-83E84B0F2D78}"/>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3" name="Footer Placeholder 2">
            <a:extLst>
              <a:ext uri="{FF2B5EF4-FFF2-40B4-BE49-F238E27FC236}">
                <a16:creationId xmlns:a16="http://schemas.microsoft.com/office/drawing/2014/main" id="{B0DB2B0C-096D-2FD3-0991-1A70C719B55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16F9E-8D77-B707-0CC2-3F5F7FE14DD5}"/>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407154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93873-75DC-78FF-848E-E62A9ACEC75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1BD5DCBE-EBA8-97DE-FB9A-E6A783CCBD12}"/>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939137F-5F74-8332-4280-D23700B0D2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BA9BEA4-06A3-7D22-7DF9-568A32425F78}"/>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6" name="Footer Placeholder 5">
            <a:extLst>
              <a:ext uri="{FF2B5EF4-FFF2-40B4-BE49-F238E27FC236}">
                <a16:creationId xmlns:a16="http://schemas.microsoft.com/office/drawing/2014/main" id="{819C286F-28AB-055F-64E7-BAD69C32E9C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A5A8E7-6DD0-1665-48A6-17ACEA32C69E}"/>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286277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E37C5-8C8D-5CF1-BD55-8D7B00086B46}"/>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2A00673A-484D-9414-86B4-FDC36D014A9D}"/>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B6D5209-F97A-E805-3D79-956AA63E9345}"/>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1EDF2340-7A99-1342-5862-FABA46731C5F}"/>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6" name="Footer Placeholder 5">
            <a:extLst>
              <a:ext uri="{FF2B5EF4-FFF2-40B4-BE49-F238E27FC236}">
                <a16:creationId xmlns:a16="http://schemas.microsoft.com/office/drawing/2014/main" id="{1AB7C5F4-8B79-0D3F-2522-0DCA967B4F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163FF-5884-A959-A3AB-01CED411DEB6}"/>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605088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6E76F-9DCD-5D2A-1834-BAFD48D439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E93FE5-F79A-E0DB-A0EF-0AA1B5248F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0BB1B9-29FA-939A-EB8D-AC33A4BB4C09}"/>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0D3FC37D-2885-44EC-3CAF-FE68A21F9B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A4CAD9-2434-7A56-C89D-2D622442E3F5}"/>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978873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F70E30-366A-B684-6A0E-5AD3CA12CBBE}"/>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B6657F-AA33-2034-0A51-DB91125949D3}"/>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76E21E-8A19-ED65-2BE8-33B66A07FC1D}"/>
              </a:ext>
            </a:extLst>
          </p:cNvPr>
          <p:cNvSpPr>
            <a:spLocks noGrp="1"/>
          </p:cNvSpPr>
          <p:nvPr>
            <p:ph type="dt" sz="half" idx="10"/>
          </p:nvPr>
        </p:nvSpPr>
        <p:spPr/>
        <p:txBody>
          <a:body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EFDE8A3A-D81B-BB79-34FC-69EB4DBE21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A119DC-02D5-D371-0227-E702FBA6FEAF}"/>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962123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DEC999-2C2A-C50B-A7F0-DEFC5851B118}"/>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3853F4-3D0A-B14F-2D6C-7B06C5D2D41D}"/>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8A209A-9A47-F7A4-5FAC-819D3AF399B1}"/>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33627A67-AC03-49C2-93DA-F8F70DBCEF90}" type="datetimeFigureOut">
              <a:rPr lang="en-US" smtClean="0"/>
              <a:t>8/21/2026</a:t>
            </a:fld>
            <a:endParaRPr lang="en-US"/>
          </a:p>
        </p:txBody>
      </p:sp>
      <p:sp>
        <p:nvSpPr>
          <p:cNvPr id="5" name="Footer Placeholder 4">
            <a:extLst>
              <a:ext uri="{FF2B5EF4-FFF2-40B4-BE49-F238E27FC236}">
                <a16:creationId xmlns:a16="http://schemas.microsoft.com/office/drawing/2014/main" id="{589A26D0-0565-1FFF-D90A-43B52908933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996B8BF-A4F2-AAA7-9028-8F95B785E499}"/>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8BC8D4E-3EF4-4178-AE38-562007EAAE20}" type="slidenum">
              <a:rPr lang="en-US" smtClean="0"/>
              <a:t>‹#›</a:t>
            </a:fld>
            <a:endParaRPr lang="en-US"/>
          </a:p>
        </p:txBody>
      </p:sp>
    </p:spTree>
    <p:extLst>
      <p:ext uri="{BB962C8B-B14F-4D97-AF65-F5344CB8AC3E}">
        <p14:creationId xmlns:p14="http://schemas.microsoft.com/office/powerpoint/2010/main" val="3866946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A69E1199-15CC-59AB-6130-B207C936601A}"/>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0F12316C-A665-11B5-E9C7-214DB8CF3BF1}"/>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800" b="1">
                <a:solidFill>
                  <a:srgbClr val="F7F8FA"/>
                </a:solidFill>
                <a:latin typeface="Arial" panose="020B0604020202020204" pitchFamily="34" charset="0"/>
              </a:rPr>
              <a:t>6 tuần: từ dữ liệu mobility đến policy voucher</a:t>
            </a:r>
          </a:p>
        </p:txBody>
      </p:sp>
      <p:sp>
        <p:nvSpPr>
          <p:cNvPr id="21" name="SlideSubtitle">
            <a:extLst>
              <a:ext uri="{FF2B5EF4-FFF2-40B4-BE49-F238E27FC236}">
                <a16:creationId xmlns:a16="http://schemas.microsoft.com/office/drawing/2014/main" id="{0EF6A639-0299-D540-B396-07AFF66C135D}"/>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Một experimentation sandbox end-to-end, không chỉ là một uplift model</a:t>
            </a:r>
          </a:p>
        </p:txBody>
      </p:sp>
      <p:sp>
        <p:nvSpPr>
          <p:cNvPr id="22" name="Rectangle 21">
            <a:extLst>
              <a:ext uri="{FF2B5EF4-FFF2-40B4-BE49-F238E27FC236}">
                <a16:creationId xmlns:a16="http://schemas.microsoft.com/office/drawing/2014/main" id="{2284DB16-6C74-CE33-CCAD-B54025142D8E}"/>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7F3012C-AFB1-E0F0-9623-7BAD3152195E}"/>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5DC1F0C-99DA-0754-338C-917DC27A2959}"/>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5" name="Rectangle 24">
            <a:extLst>
              <a:ext uri="{FF2B5EF4-FFF2-40B4-BE49-F238E27FC236}">
                <a16:creationId xmlns:a16="http://schemas.microsoft.com/office/drawing/2014/main" id="{C3AB464F-2EE3-0160-327A-E93862208271}"/>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548132D-AB24-D196-E8B9-58FEC409ACF0}"/>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7" name="TextBox 26">
            <a:extLst>
              <a:ext uri="{FF2B5EF4-FFF2-40B4-BE49-F238E27FC236}">
                <a16:creationId xmlns:a16="http://schemas.microsoft.com/office/drawing/2014/main" id="{4B03B735-4B70-786B-662B-31A59064DC21}"/>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01 / 07</a:t>
            </a:r>
          </a:p>
        </p:txBody>
      </p:sp>
      <p:cxnSp>
        <p:nvCxnSpPr>
          <p:cNvPr id="28" name="Straight Connector 27">
            <a:extLst>
              <a:ext uri="{FF2B5EF4-FFF2-40B4-BE49-F238E27FC236}">
                <a16:creationId xmlns:a16="http://schemas.microsoft.com/office/drawing/2014/main" id="{6CB9EBD2-D8B4-C0A8-08A7-74439D21C4AC}"/>
              </a:ext>
            </a:extLst>
          </p:cNvPr>
          <p:cNvCxnSpPr/>
          <p:nvPr/>
        </p:nvCxnSpPr>
        <p:spPr>
          <a:xfrm>
            <a:off x="1168400" y="3200400"/>
            <a:ext cx="7086600" cy="0"/>
          </a:xfrm>
          <a:prstGeom prst="line">
            <a:avLst/>
          </a:prstGeom>
          <a:ln w="38100">
            <a:solidFill>
              <a:srgbClr val="60718A"/>
            </a:solidFill>
            <a:tailEnd type="arrow"/>
          </a:ln>
        </p:spPr>
        <p:style>
          <a:lnRef idx="2">
            <a:schemeClr val="accent1"/>
          </a:lnRef>
          <a:fillRef idx="0">
            <a:schemeClr val="accent1"/>
          </a:fillRef>
          <a:effectRef idx="1">
            <a:schemeClr val="accent1"/>
          </a:effectRef>
          <a:fontRef idx="minor">
            <a:schemeClr val="tx1"/>
          </a:fontRef>
        </p:style>
      </p:cxnSp>
      <p:sp>
        <p:nvSpPr>
          <p:cNvPr id="29" name="Oval 28">
            <a:extLst>
              <a:ext uri="{FF2B5EF4-FFF2-40B4-BE49-F238E27FC236}">
                <a16:creationId xmlns:a16="http://schemas.microsoft.com/office/drawing/2014/main" id="{0EC0624C-BEDA-7C61-9702-19813DF78138}"/>
              </a:ext>
            </a:extLst>
          </p:cNvPr>
          <p:cNvSpPr/>
          <p:nvPr/>
        </p:nvSpPr>
        <p:spPr>
          <a:xfrm>
            <a:off x="1054100" y="2984500"/>
            <a:ext cx="431800" cy="431800"/>
          </a:xfrm>
          <a:prstGeom prst="ellipse">
            <a:avLst/>
          </a:prstGeom>
          <a:solidFill>
            <a:srgbClr val="FFC000"/>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FD2A95D-55FE-8834-1E42-7DF2B9DC25A2}"/>
              </a:ext>
            </a:extLst>
          </p:cNvPr>
          <p:cNvSpPr txBox="1"/>
          <p:nvPr/>
        </p:nvSpPr>
        <p:spPr>
          <a:xfrm>
            <a:off x="10922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W1</a:t>
            </a:r>
          </a:p>
        </p:txBody>
      </p:sp>
      <p:sp>
        <p:nvSpPr>
          <p:cNvPr id="31" name="TextBox 30">
            <a:extLst>
              <a:ext uri="{FF2B5EF4-FFF2-40B4-BE49-F238E27FC236}">
                <a16:creationId xmlns:a16="http://schemas.microsoft.com/office/drawing/2014/main" id="{9808AC2F-A610-BAB7-A307-603EDB0AFFA1}"/>
              </a:ext>
            </a:extLst>
          </p:cNvPr>
          <p:cNvSpPr txBox="1"/>
          <p:nvPr/>
        </p:nvSpPr>
        <p:spPr>
          <a:xfrm>
            <a:off x="647700" y="22479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Data quality</a:t>
            </a:r>
          </a:p>
        </p:txBody>
      </p:sp>
      <p:sp>
        <p:nvSpPr>
          <p:cNvPr id="32" name="TextBox 31">
            <a:extLst>
              <a:ext uri="{FF2B5EF4-FFF2-40B4-BE49-F238E27FC236}">
                <a16:creationId xmlns:a16="http://schemas.microsoft.com/office/drawing/2014/main" id="{B9049C68-3B23-D1E4-2113-ED54BABA55D2}"/>
              </a:ext>
            </a:extLst>
          </p:cNvPr>
          <p:cNvSpPr txBox="1"/>
          <p:nvPr/>
        </p:nvSpPr>
        <p:spPr>
          <a:xfrm>
            <a:off x="571500" y="25400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EDA</a:t>
            </a:r>
          </a:p>
        </p:txBody>
      </p:sp>
      <p:sp>
        <p:nvSpPr>
          <p:cNvPr id="33" name="Oval 32">
            <a:extLst>
              <a:ext uri="{FF2B5EF4-FFF2-40B4-BE49-F238E27FC236}">
                <a16:creationId xmlns:a16="http://schemas.microsoft.com/office/drawing/2014/main" id="{958C197E-0D90-0880-A6F0-CEB784DBDB54}"/>
              </a:ext>
            </a:extLst>
          </p:cNvPr>
          <p:cNvSpPr/>
          <p:nvPr/>
        </p:nvSpPr>
        <p:spPr>
          <a:xfrm>
            <a:off x="2387600" y="2984500"/>
            <a:ext cx="431800" cy="431800"/>
          </a:xfrm>
          <a:prstGeom prst="ellipse">
            <a:avLst/>
          </a:prstGeom>
          <a:solidFill>
            <a:srgbClr val="29B8E8"/>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67AB548-34B2-BD87-FB35-A52C4D24867B}"/>
              </a:ext>
            </a:extLst>
          </p:cNvPr>
          <p:cNvSpPr txBox="1"/>
          <p:nvPr/>
        </p:nvSpPr>
        <p:spPr>
          <a:xfrm>
            <a:off x="24257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W2</a:t>
            </a:r>
          </a:p>
        </p:txBody>
      </p:sp>
      <p:sp>
        <p:nvSpPr>
          <p:cNvPr id="35" name="TextBox 34">
            <a:extLst>
              <a:ext uri="{FF2B5EF4-FFF2-40B4-BE49-F238E27FC236}">
                <a16:creationId xmlns:a16="http://schemas.microsoft.com/office/drawing/2014/main" id="{5A90DAA4-1823-7F58-6CAB-9D6B59C99A48}"/>
              </a:ext>
            </a:extLst>
          </p:cNvPr>
          <p:cNvSpPr txBox="1"/>
          <p:nvPr/>
        </p:nvSpPr>
        <p:spPr>
          <a:xfrm>
            <a:off x="1981200" y="35814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Synthetic</a:t>
            </a:r>
          </a:p>
        </p:txBody>
      </p:sp>
      <p:sp>
        <p:nvSpPr>
          <p:cNvPr id="36" name="TextBox 35">
            <a:extLst>
              <a:ext uri="{FF2B5EF4-FFF2-40B4-BE49-F238E27FC236}">
                <a16:creationId xmlns:a16="http://schemas.microsoft.com/office/drawing/2014/main" id="{A144C9BD-5B8E-2C6A-9EE0-104707095D9A}"/>
              </a:ext>
            </a:extLst>
          </p:cNvPr>
          <p:cNvSpPr txBox="1"/>
          <p:nvPr/>
        </p:nvSpPr>
        <p:spPr>
          <a:xfrm>
            <a:off x="1905000" y="38735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Y0 / ITE / Y1</a:t>
            </a:r>
          </a:p>
        </p:txBody>
      </p:sp>
      <p:sp>
        <p:nvSpPr>
          <p:cNvPr id="37" name="Oval 36">
            <a:extLst>
              <a:ext uri="{FF2B5EF4-FFF2-40B4-BE49-F238E27FC236}">
                <a16:creationId xmlns:a16="http://schemas.microsoft.com/office/drawing/2014/main" id="{62964653-9BA5-37B6-2C24-D3C67A7D3EA7}"/>
              </a:ext>
            </a:extLst>
          </p:cNvPr>
          <p:cNvSpPr/>
          <p:nvPr/>
        </p:nvSpPr>
        <p:spPr>
          <a:xfrm>
            <a:off x="3721100" y="2984500"/>
            <a:ext cx="431800" cy="431800"/>
          </a:xfrm>
          <a:prstGeom prst="ellipse">
            <a:avLst/>
          </a:prstGeom>
          <a:solidFill>
            <a:srgbClr val="E978C6"/>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19A7E11-F7BA-0E61-75A4-30EAFEE059D7}"/>
              </a:ext>
            </a:extLst>
          </p:cNvPr>
          <p:cNvSpPr txBox="1"/>
          <p:nvPr/>
        </p:nvSpPr>
        <p:spPr>
          <a:xfrm>
            <a:off x="37592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W3</a:t>
            </a:r>
          </a:p>
        </p:txBody>
      </p:sp>
      <p:sp>
        <p:nvSpPr>
          <p:cNvPr id="39" name="TextBox 38">
            <a:extLst>
              <a:ext uri="{FF2B5EF4-FFF2-40B4-BE49-F238E27FC236}">
                <a16:creationId xmlns:a16="http://schemas.microsoft.com/office/drawing/2014/main" id="{5FD27EC2-CAC5-EC40-9407-B3B3399F1812}"/>
              </a:ext>
            </a:extLst>
          </p:cNvPr>
          <p:cNvSpPr txBox="1"/>
          <p:nvPr/>
        </p:nvSpPr>
        <p:spPr>
          <a:xfrm>
            <a:off x="3314700" y="22479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Segmentation</a:t>
            </a:r>
          </a:p>
        </p:txBody>
      </p:sp>
      <p:sp>
        <p:nvSpPr>
          <p:cNvPr id="40" name="TextBox 39">
            <a:extLst>
              <a:ext uri="{FF2B5EF4-FFF2-40B4-BE49-F238E27FC236}">
                <a16:creationId xmlns:a16="http://schemas.microsoft.com/office/drawing/2014/main" id="{457DCC5C-EC73-E3EA-BEAD-19317FC4D6D4}"/>
              </a:ext>
            </a:extLst>
          </p:cNvPr>
          <p:cNvSpPr txBox="1"/>
          <p:nvPr/>
        </p:nvSpPr>
        <p:spPr>
          <a:xfrm>
            <a:off x="3238500" y="25400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5 persona</a:t>
            </a:r>
          </a:p>
        </p:txBody>
      </p:sp>
      <p:sp>
        <p:nvSpPr>
          <p:cNvPr id="41" name="Oval 40">
            <a:extLst>
              <a:ext uri="{FF2B5EF4-FFF2-40B4-BE49-F238E27FC236}">
                <a16:creationId xmlns:a16="http://schemas.microsoft.com/office/drawing/2014/main" id="{8B2231B8-2BFF-2607-A335-2E04E067E23A}"/>
              </a:ext>
            </a:extLst>
          </p:cNvPr>
          <p:cNvSpPr/>
          <p:nvPr/>
        </p:nvSpPr>
        <p:spPr>
          <a:xfrm>
            <a:off x="5054600" y="2984500"/>
            <a:ext cx="431800" cy="431800"/>
          </a:xfrm>
          <a:prstGeom prst="ellipse">
            <a:avLst/>
          </a:prstGeom>
          <a:solidFill>
            <a:srgbClr val="25D0A2"/>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8E078666-C573-6DC7-FF5E-EF539556601C}"/>
              </a:ext>
            </a:extLst>
          </p:cNvPr>
          <p:cNvSpPr txBox="1"/>
          <p:nvPr/>
        </p:nvSpPr>
        <p:spPr>
          <a:xfrm>
            <a:off x="50927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W4</a:t>
            </a:r>
          </a:p>
        </p:txBody>
      </p:sp>
      <p:sp>
        <p:nvSpPr>
          <p:cNvPr id="43" name="TextBox 42">
            <a:extLst>
              <a:ext uri="{FF2B5EF4-FFF2-40B4-BE49-F238E27FC236}">
                <a16:creationId xmlns:a16="http://schemas.microsoft.com/office/drawing/2014/main" id="{24A3714F-C9F4-C2EF-CFD8-CE3C51CA733B}"/>
              </a:ext>
            </a:extLst>
          </p:cNvPr>
          <p:cNvSpPr txBox="1"/>
          <p:nvPr/>
        </p:nvSpPr>
        <p:spPr>
          <a:xfrm>
            <a:off x="4648200" y="35814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Experiment</a:t>
            </a:r>
          </a:p>
        </p:txBody>
      </p:sp>
      <p:sp>
        <p:nvSpPr>
          <p:cNvPr id="44" name="TextBox 43">
            <a:extLst>
              <a:ext uri="{FF2B5EF4-FFF2-40B4-BE49-F238E27FC236}">
                <a16:creationId xmlns:a16="http://schemas.microsoft.com/office/drawing/2014/main" id="{9A7D6123-675A-CC4F-1724-BCCBFDA411FF}"/>
              </a:ext>
            </a:extLst>
          </p:cNvPr>
          <p:cNvSpPr txBox="1"/>
          <p:nvPr/>
        </p:nvSpPr>
        <p:spPr>
          <a:xfrm>
            <a:off x="4572000" y="38735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A/A + A/B</a:t>
            </a:r>
          </a:p>
        </p:txBody>
      </p:sp>
      <p:sp>
        <p:nvSpPr>
          <p:cNvPr id="45" name="Oval 44">
            <a:extLst>
              <a:ext uri="{FF2B5EF4-FFF2-40B4-BE49-F238E27FC236}">
                <a16:creationId xmlns:a16="http://schemas.microsoft.com/office/drawing/2014/main" id="{41B91055-FE70-A521-DCAC-45C9B07F003A}"/>
              </a:ext>
            </a:extLst>
          </p:cNvPr>
          <p:cNvSpPr/>
          <p:nvPr/>
        </p:nvSpPr>
        <p:spPr>
          <a:xfrm>
            <a:off x="6388100" y="2984500"/>
            <a:ext cx="431800" cy="431800"/>
          </a:xfrm>
          <a:prstGeom prst="ellipse">
            <a:avLst/>
          </a:prstGeom>
          <a:solidFill>
            <a:srgbClr val="29B8E8"/>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14DE218B-230B-9FD2-5CC0-18865DB2B506}"/>
              </a:ext>
            </a:extLst>
          </p:cNvPr>
          <p:cNvSpPr txBox="1"/>
          <p:nvPr/>
        </p:nvSpPr>
        <p:spPr>
          <a:xfrm>
            <a:off x="64262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W5</a:t>
            </a:r>
          </a:p>
        </p:txBody>
      </p:sp>
      <p:sp>
        <p:nvSpPr>
          <p:cNvPr id="47" name="TextBox 46">
            <a:extLst>
              <a:ext uri="{FF2B5EF4-FFF2-40B4-BE49-F238E27FC236}">
                <a16:creationId xmlns:a16="http://schemas.microsoft.com/office/drawing/2014/main" id="{4102C23C-99AE-7930-C43B-0A8CB4F0629E}"/>
              </a:ext>
            </a:extLst>
          </p:cNvPr>
          <p:cNvSpPr txBox="1"/>
          <p:nvPr/>
        </p:nvSpPr>
        <p:spPr>
          <a:xfrm>
            <a:off x="5981700" y="22479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Uplift</a:t>
            </a:r>
          </a:p>
        </p:txBody>
      </p:sp>
      <p:sp>
        <p:nvSpPr>
          <p:cNvPr id="48" name="TextBox 47">
            <a:extLst>
              <a:ext uri="{FF2B5EF4-FFF2-40B4-BE49-F238E27FC236}">
                <a16:creationId xmlns:a16="http://schemas.microsoft.com/office/drawing/2014/main" id="{7C3695C1-D6E7-B651-B43F-B590627635C8}"/>
              </a:ext>
            </a:extLst>
          </p:cNvPr>
          <p:cNvSpPr txBox="1"/>
          <p:nvPr/>
        </p:nvSpPr>
        <p:spPr>
          <a:xfrm>
            <a:off x="5905500" y="25400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CATE + EV</a:t>
            </a:r>
          </a:p>
        </p:txBody>
      </p:sp>
      <p:sp>
        <p:nvSpPr>
          <p:cNvPr id="49" name="Oval 48">
            <a:extLst>
              <a:ext uri="{FF2B5EF4-FFF2-40B4-BE49-F238E27FC236}">
                <a16:creationId xmlns:a16="http://schemas.microsoft.com/office/drawing/2014/main" id="{D6D0001F-EC91-23C6-1007-561E13AAFB4E}"/>
              </a:ext>
            </a:extLst>
          </p:cNvPr>
          <p:cNvSpPr/>
          <p:nvPr/>
        </p:nvSpPr>
        <p:spPr>
          <a:xfrm>
            <a:off x="7721600" y="2984500"/>
            <a:ext cx="431800" cy="431800"/>
          </a:xfrm>
          <a:prstGeom prst="ellipse">
            <a:avLst/>
          </a:prstGeom>
          <a:solidFill>
            <a:srgbClr val="FFB44D"/>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E58F75CD-67B5-E1D6-8E81-8FB925E2946D}"/>
              </a:ext>
            </a:extLst>
          </p:cNvPr>
          <p:cNvSpPr txBox="1"/>
          <p:nvPr/>
        </p:nvSpPr>
        <p:spPr>
          <a:xfrm>
            <a:off x="7759700" y="30861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W6</a:t>
            </a:r>
          </a:p>
        </p:txBody>
      </p:sp>
      <p:sp>
        <p:nvSpPr>
          <p:cNvPr id="51" name="TextBox 50">
            <a:extLst>
              <a:ext uri="{FF2B5EF4-FFF2-40B4-BE49-F238E27FC236}">
                <a16:creationId xmlns:a16="http://schemas.microsoft.com/office/drawing/2014/main" id="{975E2BDA-901B-944A-5DD4-A2553BB83610}"/>
              </a:ext>
            </a:extLst>
          </p:cNvPr>
          <p:cNvSpPr txBox="1"/>
          <p:nvPr/>
        </p:nvSpPr>
        <p:spPr>
          <a:xfrm>
            <a:off x="7315200" y="3581400"/>
            <a:ext cx="1244600" cy="266700"/>
          </a:xfrm>
          <a:prstGeom prst="rect">
            <a:avLst/>
          </a:prstGeom>
          <a:noFill/>
        </p:spPr>
        <p:txBody>
          <a:bodyPr vert="horz" wrap="square" lIns="0" tIns="0" rIns="0" bIns="0" rtlCol="0" anchor="t">
            <a:noAutofit/>
          </a:bodyPr>
          <a:lstStyle/>
          <a:p>
            <a:pPr algn="ctr"/>
            <a:r>
              <a:rPr lang="en-US" sz="1200" b="1">
                <a:solidFill>
                  <a:srgbClr val="F7F8FA"/>
                </a:solidFill>
                <a:latin typeface="Arial" panose="020B0604020202020204" pitchFamily="34" charset="0"/>
              </a:rPr>
              <a:t>Stress test</a:t>
            </a:r>
          </a:p>
        </p:txBody>
      </p:sp>
      <p:sp>
        <p:nvSpPr>
          <p:cNvPr id="52" name="TextBox 51">
            <a:extLst>
              <a:ext uri="{FF2B5EF4-FFF2-40B4-BE49-F238E27FC236}">
                <a16:creationId xmlns:a16="http://schemas.microsoft.com/office/drawing/2014/main" id="{16BEA987-B6DE-9521-B5E9-CE7EC2C1DAF4}"/>
              </a:ext>
            </a:extLst>
          </p:cNvPr>
          <p:cNvSpPr txBox="1"/>
          <p:nvPr/>
        </p:nvSpPr>
        <p:spPr>
          <a:xfrm>
            <a:off x="7239000" y="3873500"/>
            <a:ext cx="1397000" cy="444500"/>
          </a:xfrm>
          <a:prstGeom prst="rect">
            <a:avLst/>
          </a:prstGeom>
          <a:noFill/>
        </p:spPr>
        <p:txBody>
          <a:bodyPr vert="horz" wrap="square" lIns="0" tIns="0" rIns="0" bIns="0" rtlCol="0" anchor="t">
            <a:noAutofit/>
          </a:bodyPr>
          <a:lstStyle/>
          <a:p>
            <a:pPr algn="ctr"/>
            <a:r>
              <a:rPr lang="en-US" sz="1050">
                <a:solidFill>
                  <a:srgbClr val="B7C2D1"/>
                </a:solidFill>
                <a:latin typeface="Arial" panose="020B0604020202020204" pitchFamily="34" charset="0"/>
              </a:rPr>
              <a:t>Robustness</a:t>
            </a:r>
          </a:p>
        </p:txBody>
      </p:sp>
      <p:sp>
        <p:nvSpPr>
          <p:cNvPr id="53" name="Rectangle: Rounded Corners 52">
            <a:extLst>
              <a:ext uri="{FF2B5EF4-FFF2-40B4-BE49-F238E27FC236}">
                <a16:creationId xmlns:a16="http://schemas.microsoft.com/office/drawing/2014/main" id="{D6D2A883-B228-0413-8BDC-77B4C62121A6}"/>
              </a:ext>
            </a:extLst>
          </p:cNvPr>
          <p:cNvSpPr/>
          <p:nvPr/>
        </p:nvSpPr>
        <p:spPr>
          <a:xfrm>
            <a:off x="914400" y="4889500"/>
            <a:ext cx="7315200" cy="812800"/>
          </a:xfrm>
          <a:prstGeom prst="roundRect">
            <a:avLst/>
          </a:prstGeom>
          <a:solidFill>
            <a:srgbClr val="17274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EB41D8B7-36A6-E404-1CC7-40D090FC97E0}"/>
              </a:ext>
            </a:extLst>
          </p:cNvPr>
          <p:cNvSpPr txBox="1"/>
          <p:nvPr/>
        </p:nvSpPr>
        <p:spPr>
          <a:xfrm>
            <a:off x="1168400" y="5041900"/>
            <a:ext cx="2159000" cy="254000"/>
          </a:xfrm>
          <a:prstGeom prst="rect">
            <a:avLst/>
          </a:prstGeom>
          <a:noFill/>
        </p:spPr>
        <p:txBody>
          <a:bodyPr vert="horz" wrap="square" lIns="0" tIns="0" rIns="0" bIns="0" rtlCol="0" anchor="t">
            <a:noAutofit/>
          </a:bodyPr>
          <a:lstStyle/>
          <a:p>
            <a:r>
              <a:rPr lang="en-US" sz="1200" b="1">
                <a:solidFill>
                  <a:srgbClr val="FFC000"/>
                </a:solidFill>
                <a:latin typeface="Arial" panose="020B0604020202020204" pitchFamily="34" charset="0"/>
              </a:rPr>
              <a:t>Câu hỏi xuyên suốt</a:t>
            </a:r>
          </a:p>
        </p:txBody>
      </p:sp>
      <p:sp>
        <p:nvSpPr>
          <p:cNvPr id="55" name="TextBox 54">
            <a:extLst>
              <a:ext uri="{FF2B5EF4-FFF2-40B4-BE49-F238E27FC236}">
                <a16:creationId xmlns:a16="http://schemas.microsoft.com/office/drawing/2014/main" id="{3E2A6C89-379F-837A-A2F4-22133D3B4F3C}"/>
              </a:ext>
            </a:extLst>
          </p:cNvPr>
          <p:cNvSpPr txBox="1"/>
          <p:nvPr/>
        </p:nvSpPr>
        <p:spPr>
          <a:xfrm>
            <a:off x="1168400" y="5334000"/>
            <a:ext cx="6731000" cy="304800"/>
          </a:xfrm>
          <a:prstGeom prst="rect">
            <a:avLst/>
          </a:prstGeom>
          <a:noFill/>
        </p:spPr>
        <p:txBody>
          <a:bodyPr vert="horz" wrap="square" lIns="0" tIns="0" rIns="0" bIns="0" rtlCol="0" anchor="t">
            <a:noAutofit/>
          </a:bodyPr>
          <a:lstStyle/>
          <a:p>
            <a:r>
              <a:rPr lang="en-US" sz="1700" b="1">
                <a:solidFill>
                  <a:srgbClr val="F7F8FA"/>
                </a:solidFill>
                <a:latin typeface="Arial" panose="020B0604020202020204" pitchFamily="34" charset="0"/>
              </a:rPr>
              <a:t>Voucher tạo thêm chuyến cho ai và có thật sự sinh lời?</a:t>
            </a:r>
          </a:p>
        </p:txBody>
      </p:sp>
    </p:spTree>
    <p:extLst>
      <p:ext uri="{BB962C8B-B14F-4D97-AF65-F5344CB8AC3E}">
        <p14:creationId xmlns:p14="http://schemas.microsoft.com/office/powerpoint/2010/main" val="3304420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FEDD262F-EBCC-C469-F869-2E7BD5E054AE}"/>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lideTitle">
            <a:extLst>
              <a:ext uri="{FF2B5EF4-FFF2-40B4-BE49-F238E27FC236}">
                <a16:creationId xmlns:a16="http://schemas.microsoft.com/office/drawing/2014/main" id="{9CA199CF-B18D-B0B1-37C7-18D09C5E5D05}"/>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700" b="1">
                <a:solidFill>
                  <a:srgbClr val="F7F8FA"/>
                </a:solidFill>
                <a:latin typeface="Arial" panose="020B0604020202020204" pitchFamily="34" charset="0"/>
              </a:rPr>
              <a:t>EDA tạo đầu vào cho synthetic causal data</a:t>
            </a:r>
          </a:p>
        </p:txBody>
      </p:sp>
      <p:sp>
        <p:nvSpPr>
          <p:cNvPr id="25" name="SlideSubtitle">
            <a:extLst>
              <a:ext uri="{FF2B5EF4-FFF2-40B4-BE49-F238E27FC236}">
                <a16:creationId xmlns:a16="http://schemas.microsoft.com/office/drawing/2014/main" id="{C9A4012E-9092-41F6-DDB9-0820FF08999F}"/>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Trip-level → user-level ground truth để kiểm chứng causal methods</a:t>
            </a:r>
          </a:p>
        </p:txBody>
      </p:sp>
      <p:sp>
        <p:nvSpPr>
          <p:cNvPr id="26" name="Rectangle 25">
            <a:extLst>
              <a:ext uri="{FF2B5EF4-FFF2-40B4-BE49-F238E27FC236}">
                <a16:creationId xmlns:a16="http://schemas.microsoft.com/office/drawing/2014/main" id="{BF002069-B7AC-471A-792E-815582CE2B36}"/>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8CF67-1090-F167-FADD-B87FB190864F}"/>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9EBED89-7976-D26D-4AE6-E1A7C9270741}"/>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9" name="Rectangle 28">
            <a:extLst>
              <a:ext uri="{FF2B5EF4-FFF2-40B4-BE49-F238E27FC236}">
                <a16:creationId xmlns:a16="http://schemas.microsoft.com/office/drawing/2014/main" id="{C1CA5D81-93AC-C351-2A85-E80EAB1C310D}"/>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AF737231-A639-7746-58B3-A3F1B49C68E0}"/>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31" name="TextBox 30">
            <a:extLst>
              <a:ext uri="{FF2B5EF4-FFF2-40B4-BE49-F238E27FC236}">
                <a16:creationId xmlns:a16="http://schemas.microsoft.com/office/drawing/2014/main" id="{B4E37D7F-67BE-E69E-FBDA-F04B32B38A64}"/>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02 / 07</a:t>
            </a:r>
          </a:p>
        </p:txBody>
      </p:sp>
      <p:cxnSp>
        <p:nvCxnSpPr>
          <p:cNvPr id="32" name="Straight Connector 31">
            <a:extLst>
              <a:ext uri="{FF2B5EF4-FFF2-40B4-BE49-F238E27FC236}">
                <a16:creationId xmlns:a16="http://schemas.microsoft.com/office/drawing/2014/main" id="{832D2E6B-3850-4F9F-2C77-9FE1B187629D}"/>
              </a:ext>
            </a:extLst>
          </p:cNvPr>
          <p:cNvCxnSpPr/>
          <p:nvPr/>
        </p:nvCxnSpPr>
        <p:spPr>
          <a:xfrm>
            <a:off x="2603500" y="2730500"/>
            <a:ext cx="508000" cy="0"/>
          </a:xfrm>
          <a:prstGeom prst="line">
            <a:avLst/>
          </a:prstGeom>
          <a:ln w="25400">
            <a:solidFill>
              <a:srgbClr val="60718A"/>
            </a:solidFill>
            <a:tailEnd type="arrow"/>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D5199E4-EAE9-C2CA-660A-1706B487B607}"/>
              </a:ext>
            </a:extLst>
          </p:cNvPr>
          <p:cNvCxnSpPr/>
          <p:nvPr/>
        </p:nvCxnSpPr>
        <p:spPr>
          <a:xfrm>
            <a:off x="4572000" y="2730500"/>
            <a:ext cx="508000" cy="0"/>
          </a:xfrm>
          <a:prstGeom prst="line">
            <a:avLst/>
          </a:prstGeom>
          <a:ln w="25400">
            <a:solidFill>
              <a:srgbClr val="60718A"/>
            </a:solidFill>
            <a:tailEnd type="arrow"/>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8348F150-7C73-E4FD-DF13-32D2C8C3D262}"/>
              </a:ext>
            </a:extLst>
          </p:cNvPr>
          <p:cNvCxnSpPr/>
          <p:nvPr/>
        </p:nvCxnSpPr>
        <p:spPr>
          <a:xfrm>
            <a:off x="6540500" y="2730500"/>
            <a:ext cx="508000" cy="0"/>
          </a:xfrm>
          <a:prstGeom prst="line">
            <a:avLst/>
          </a:prstGeom>
          <a:ln w="25400">
            <a:solidFill>
              <a:srgbClr val="60718A"/>
            </a:solidFill>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2EB9048-AF30-0029-53E1-147528FBAAA1}"/>
              </a:ext>
            </a:extLst>
          </p:cNvPr>
          <p:cNvSpPr txBox="1"/>
          <p:nvPr/>
        </p:nvSpPr>
        <p:spPr>
          <a:xfrm>
            <a:off x="736600" y="1600200"/>
            <a:ext cx="431800" cy="228600"/>
          </a:xfrm>
          <a:prstGeom prst="rect">
            <a:avLst/>
          </a:prstGeom>
          <a:noFill/>
        </p:spPr>
        <p:txBody>
          <a:bodyPr vert="horz" wrap="square" lIns="0" tIns="0" rIns="0" bIns="0" rtlCol="0" anchor="t">
            <a:noAutofit/>
          </a:bodyPr>
          <a:lstStyle/>
          <a:p>
            <a:r>
              <a:rPr lang="en-US" sz="1000" b="1">
                <a:solidFill>
                  <a:srgbClr val="FFC000"/>
                </a:solidFill>
                <a:latin typeface="Arial" panose="020B0604020202020204" pitchFamily="34" charset="0"/>
              </a:rPr>
              <a:t>01</a:t>
            </a:r>
          </a:p>
        </p:txBody>
      </p:sp>
      <p:sp>
        <p:nvSpPr>
          <p:cNvPr id="36" name="Rectangle 35">
            <a:extLst>
              <a:ext uri="{FF2B5EF4-FFF2-40B4-BE49-F238E27FC236}">
                <a16:creationId xmlns:a16="http://schemas.microsoft.com/office/drawing/2014/main" id="{E8522102-7171-4B14-1A7E-13411EEE3697}"/>
              </a:ext>
            </a:extLst>
          </p:cNvPr>
          <p:cNvSpPr/>
          <p:nvPr/>
        </p:nvSpPr>
        <p:spPr>
          <a:xfrm>
            <a:off x="736600" y="1917700"/>
            <a:ext cx="15494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5E46B55B-C817-D2D8-6A21-98715922B6A8}"/>
              </a:ext>
            </a:extLst>
          </p:cNvPr>
          <p:cNvSpPr txBox="1"/>
          <p:nvPr/>
        </p:nvSpPr>
        <p:spPr>
          <a:xfrm>
            <a:off x="736600" y="2095500"/>
            <a:ext cx="1651000" cy="457200"/>
          </a:xfrm>
          <a:prstGeom prst="rect">
            <a:avLst/>
          </a:prstGeom>
          <a:noFill/>
        </p:spPr>
        <p:txBody>
          <a:bodyPr vert="horz" wrap="square" lIns="0" tIns="0" rIns="0" bIns="0" rtlCol="0" anchor="t">
            <a:noAutofit/>
          </a:bodyPr>
          <a:lstStyle/>
          <a:p>
            <a:r>
              <a:rPr lang="en-US" sz="1300" b="1">
                <a:solidFill>
                  <a:srgbClr val="F7F8FA"/>
                </a:solidFill>
                <a:latin typeface="Arial" panose="020B0604020202020204" pitchFamily="34" charset="0"/>
              </a:rPr>
              <a:t>Public mobility data</a:t>
            </a:r>
          </a:p>
        </p:txBody>
      </p:sp>
      <p:sp>
        <p:nvSpPr>
          <p:cNvPr id="38" name="TextBox 37">
            <a:extLst>
              <a:ext uri="{FF2B5EF4-FFF2-40B4-BE49-F238E27FC236}">
                <a16:creationId xmlns:a16="http://schemas.microsoft.com/office/drawing/2014/main" id="{77983591-C651-96B1-C5CC-52B1DF120470}"/>
              </a:ext>
            </a:extLst>
          </p:cNvPr>
          <p:cNvSpPr txBox="1"/>
          <p:nvPr/>
        </p:nvSpPr>
        <p:spPr>
          <a:xfrm>
            <a:off x="736600" y="2603500"/>
            <a:ext cx="1714500" cy="381000"/>
          </a:xfrm>
          <a:prstGeom prst="rect">
            <a:avLst/>
          </a:prstGeom>
          <a:noFill/>
        </p:spPr>
        <p:txBody>
          <a:bodyPr vert="horz" wrap="square" lIns="0" tIns="0" rIns="0" bIns="0" rtlCol="0" anchor="t">
            <a:noAutofit/>
          </a:bodyPr>
          <a:lstStyle/>
          <a:p>
            <a:r>
              <a:rPr lang="en-US" sz="1150" b="1">
                <a:solidFill>
                  <a:srgbClr val="FFC000"/>
                </a:solidFill>
                <a:latin typeface="Arial" panose="020B0604020202020204" pitchFamily="34" charset="0"/>
              </a:rPr>
              <a:t>3,72 triệu trips • 20 biến</a:t>
            </a:r>
          </a:p>
        </p:txBody>
      </p:sp>
      <p:sp>
        <p:nvSpPr>
          <p:cNvPr id="39" name="TextBox 38">
            <a:extLst>
              <a:ext uri="{FF2B5EF4-FFF2-40B4-BE49-F238E27FC236}">
                <a16:creationId xmlns:a16="http://schemas.microsoft.com/office/drawing/2014/main" id="{92799386-89D4-320F-C3A3-523412A3181F}"/>
              </a:ext>
            </a:extLst>
          </p:cNvPr>
          <p:cNvSpPr txBox="1"/>
          <p:nvPr/>
        </p:nvSpPr>
        <p:spPr>
          <a:xfrm>
            <a:off x="736600" y="3009900"/>
            <a:ext cx="1714500" cy="533400"/>
          </a:xfrm>
          <a:prstGeom prst="rect">
            <a:avLst/>
          </a:prstGeom>
          <a:noFill/>
        </p:spPr>
        <p:txBody>
          <a:bodyPr vert="horz" wrap="square" lIns="0" tIns="0" rIns="0" bIns="0" rtlCol="0" anchor="t">
            <a:noAutofit/>
          </a:bodyPr>
          <a:lstStyle/>
          <a:p>
            <a:r>
              <a:rPr lang="en-US" sz="1050">
                <a:solidFill>
                  <a:srgbClr val="B7C2D1"/>
                </a:solidFill>
                <a:latin typeface="Arial" panose="020B0604020202020204" pitchFamily="34" charset="0"/>
              </a:rPr>
              <a:t>Yellow Taxi + ride-sharing references</a:t>
            </a:r>
          </a:p>
        </p:txBody>
      </p:sp>
      <p:sp>
        <p:nvSpPr>
          <p:cNvPr id="40" name="TextBox 39">
            <a:extLst>
              <a:ext uri="{FF2B5EF4-FFF2-40B4-BE49-F238E27FC236}">
                <a16:creationId xmlns:a16="http://schemas.microsoft.com/office/drawing/2014/main" id="{8371308E-AB40-6726-CA8E-74C5A9A74975}"/>
              </a:ext>
            </a:extLst>
          </p:cNvPr>
          <p:cNvSpPr txBox="1"/>
          <p:nvPr/>
        </p:nvSpPr>
        <p:spPr>
          <a:xfrm>
            <a:off x="2705100" y="1600200"/>
            <a:ext cx="431800" cy="228600"/>
          </a:xfrm>
          <a:prstGeom prst="rect">
            <a:avLst/>
          </a:prstGeom>
          <a:noFill/>
        </p:spPr>
        <p:txBody>
          <a:bodyPr vert="horz" wrap="square" lIns="0" tIns="0" rIns="0" bIns="0" rtlCol="0" anchor="t">
            <a:noAutofit/>
          </a:bodyPr>
          <a:lstStyle/>
          <a:p>
            <a:r>
              <a:rPr lang="en-US" sz="1000" b="1">
                <a:solidFill>
                  <a:srgbClr val="29B8E8"/>
                </a:solidFill>
                <a:latin typeface="Arial" panose="020B0604020202020204" pitchFamily="34" charset="0"/>
              </a:rPr>
              <a:t>02</a:t>
            </a:r>
          </a:p>
        </p:txBody>
      </p:sp>
      <p:sp>
        <p:nvSpPr>
          <p:cNvPr id="41" name="Rectangle 40">
            <a:extLst>
              <a:ext uri="{FF2B5EF4-FFF2-40B4-BE49-F238E27FC236}">
                <a16:creationId xmlns:a16="http://schemas.microsoft.com/office/drawing/2014/main" id="{C5997214-5A5B-64E0-B9B4-7C1A1D9EA84E}"/>
              </a:ext>
            </a:extLst>
          </p:cNvPr>
          <p:cNvSpPr/>
          <p:nvPr/>
        </p:nvSpPr>
        <p:spPr>
          <a:xfrm>
            <a:off x="2705100" y="1917700"/>
            <a:ext cx="1549400" cy="381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2DB8C7FF-F665-1DD6-300B-0793249FF48C}"/>
              </a:ext>
            </a:extLst>
          </p:cNvPr>
          <p:cNvSpPr txBox="1"/>
          <p:nvPr/>
        </p:nvSpPr>
        <p:spPr>
          <a:xfrm>
            <a:off x="2705100" y="2095500"/>
            <a:ext cx="1651000" cy="457200"/>
          </a:xfrm>
          <a:prstGeom prst="rect">
            <a:avLst/>
          </a:prstGeom>
          <a:noFill/>
        </p:spPr>
        <p:txBody>
          <a:bodyPr vert="horz" wrap="square" lIns="0" tIns="0" rIns="0" bIns="0" rtlCol="0" anchor="t">
            <a:noAutofit/>
          </a:bodyPr>
          <a:lstStyle/>
          <a:p>
            <a:r>
              <a:rPr lang="en-US" sz="1300" b="1">
                <a:solidFill>
                  <a:srgbClr val="F7F8FA"/>
                </a:solidFill>
                <a:latin typeface="Arial" panose="020B0604020202020204" pitchFamily="34" charset="0"/>
              </a:rPr>
              <a:t>Data quality &amp; EDA</a:t>
            </a:r>
          </a:p>
        </p:txBody>
      </p:sp>
      <p:sp>
        <p:nvSpPr>
          <p:cNvPr id="43" name="TextBox 42">
            <a:extLst>
              <a:ext uri="{FF2B5EF4-FFF2-40B4-BE49-F238E27FC236}">
                <a16:creationId xmlns:a16="http://schemas.microsoft.com/office/drawing/2014/main" id="{DE82A3A3-74DF-9496-3CEB-D11ABE147A8E}"/>
              </a:ext>
            </a:extLst>
          </p:cNvPr>
          <p:cNvSpPr txBox="1"/>
          <p:nvPr/>
        </p:nvSpPr>
        <p:spPr>
          <a:xfrm>
            <a:off x="2705100" y="2603500"/>
            <a:ext cx="1714500" cy="381000"/>
          </a:xfrm>
          <a:prstGeom prst="rect">
            <a:avLst/>
          </a:prstGeom>
          <a:noFill/>
        </p:spPr>
        <p:txBody>
          <a:bodyPr vert="horz" wrap="square" lIns="0" tIns="0" rIns="0" bIns="0" rtlCol="0" anchor="t">
            <a:noAutofit/>
          </a:bodyPr>
          <a:lstStyle/>
          <a:p>
            <a:r>
              <a:rPr lang="en-US" sz="1150" b="1">
                <a:solidFill>
                  <a:srgbClr val="29B8E8"/>
                </a:solidFill>
                <a:latin typeface="Arial" panose="020B0604020202020204" pitchFamily="34" charset="0"/>
              </a:rPr>
              <a:t>29,2% structural missing</a:t>
            </a:r>
          </a:p>
        </p:txBody>
      </p:sp>
      <p:sp>
        <p:nvSpPr>
          <p:cNvPr id="44" name="TextBox 43">
            <a:extLst>
              <a:ext uri="{FF2B5EF4-FFF2-40B4-BE49-F238E27FC236}">
                <a16:creationId xmlns:a16="http://schemas.microsoft.com/office/drawing/2014/main" id="{006A8D5E-C78C-9683-C319-87C7CA9AF3C5}"/>
              </a:ext>
            </a:extLst>
          </p:cNvPr>
          <p:cNvSpPr txBox="1"/>
          <p:nvPr/>
        </p:nvSpPr>
        <p:spPr>
          <a:xfrm>
            <a:off x="2705100" y="3009900"/>
            <a:ext cx="1714500" cy="533400"/>
          </a:xfrm>
          <a:prstGeom prst="rect">
            <a:avLst/>
          </a:prstGeom>
          <a:noFill/>
        </p:spPr>
        <p:txBody>
          <a:bodyPr vert="horz" wrap="square" lIns="0" tIns="0" rIns="0" bIns="0" rtlCol="0" anchor="t">
            <a:noAutofit/>
          </a:bodyPr>
          <a:lstStyle/>
          <a:p>
            <a:r>
              <a:rPr lang="en-US" sz="1050">
                <a:solidFill>
                  <a:srgbClr val="B7C2D1"/>
                </a:solidFill>
                <a:latin typeface="Arial" panose="020B0604020202020204" pitchFamily="34" charset="0"/>
              </a:rPr>
              <a:t>Negative fares, zero distance, outliers</a:t>
            </a:r>
          </a:p>
        </p:txBody>
      </p:sp>
      <p:sp>
        <p:nvSpPr>
          <p:cNvPr id="45" name="TextBox 44">
            <a:extLst>
              <a:ext uri="{FF2B5EF4-FFF2-40B4-BE49-F238E27FC236}">
                <a16:creationId xmlns:a16="http://schemas.microsoft.com/office/drawing/2014/main" id="{B589CB0E-644B-E4B7-38D9-758E4A2F1DBC}"/>
              </a:ext>
            </a:extLst>
          </p:cNvPr>
          <p:cNvSpPr txBox="1"/>
          <p:nvPr/>
        </p:nvSpPr>
        <p:spPr>
          <a:xfrm>
            <a:off x="4673600" y="1600200"/>
            <a:ext cx="431800" cy="228600"/>
          </a:xfrm>
          <a:prstGeom prst="rect">
            <a:avLst/>
          </a:prstGeom>
          <a:noFill/>
        </p:spPr>
        <p:txBody>
          <a:bodyPr vert="horz" wrap="square" lIns="0" tIns="0" rIns="0" bIns="0" rtlCol="0" anchor="t">
            <a:noAutofit/>
          </a:bodyPr>
          <a:lstStyle/>
          <a:p>
            <a:r>
              <a:rPr lang="en-US" sz="1000" b="1">
                <a:solidFill>
                  <a:srgbClr val="25D0A2"/>
                </a:solidFill>
                <a:latin typeface="Arial" panose="020B0604020202020204" pitchFamily="34" charset="0"/>
              </a:rPr>
              <a:t>03</a:t>
            </a:r>
          </a:p>
        </p:txBody>
      </p:sp>
      <p:sp>
        <p:nvSpPr>
          <p:cNvPr id="46" name="Rectangle 45">
            <a:extLst>
              <a:ext uri="{FF2B5EF4-FFF2-40B4-BE49-F238E27FC236}">
                <a16:creationId xmlns:a16="http://schemas.microsoft.com/office/drawing/2014/main" id="{3EBAFC43-C627-D8F8-C8B9-CA5C11A823BC}"/>
              </a:ext>
            </a:extLst>
          </p:cNvPr>
          <p:cNvSpPr/>
          <p:nvPr/>
        </p:nvSpPr>
        <p:spPr>
          <a:xfrm>
            <a:off x="4673600" y="1917700"/>
            <a:ext cx="1549400" cy="381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CD2EDC14-28AD-76B3-D5E8-3C58370A6EFB}"/>
              </a:ext>
            </a:extLst>
          </p:cNvPr>
          <p:cNvSpPr txBox="1"/>
          <p:nvPr/>
        </p:nvSpPr>
        <p:spPr>
          <a:xfrm>
            <a:off x="4673600" y="2095500"/>
            <a:ext cx="1651000" cy="457200"/>
          </a:xfrm>
          <a:prstGeom prst="rect">
            <a:avLst/>
          </a:prstGeom>
          <a:noFill/>
        </p:spPr>
        <p:txBody>
          <a:bodyPr vert="horz" wrap="square" lIns="0" tIns="0" rIns="0" bIns="0" rtlCol="0" anchor="t">
            <a:noAutofit/>
          </a:bodyPr>
          <a:lstStyle/>
          <a:p>
            <a:r>
              <a:rPr lang="en-US" sz="1300" b="1">
                <a:solidFill>
                  <a:srgbClr val="F7F8FA"/>
                </a:solidFill>
                <a:latin typeface="Arial" panose="020B0604020202020204" pitchFamily="34" charset="0"/>
              </a:rPr>
              <a:t>Synthetic causal data</a:t>
            </a:r>
          </a:p>
        </p:txBody>
      </p:sp>
      <p:sp>
        <p:nvSpPr>
          <p:cNvPr id="48" name="TextBox 47">
            <a:extLst>
              <a:ext uri="{FF2B5EF4-FFF2-40B4-BE49-F238E27FC236}">
                <a16:creationId xmlns:a16="http://schemas.microsoft.com/office/drawing/2014/main" id="{82880A89-0984-F875-BAAE-09DA362ADD42}"/>
              </a:ext>
            </a:extLst>
          </p:cNvPr>
          <p:cNvSpPr txBox="1"/>
          <p:nvPr/>
        </p:nvSpPr>
        <p:spPr>
          <a:xfrm>
            <a:off x="4673600" y="2603500"/>
            <a:ext cx="1714500" cy="381000"/>
          </a:xfrm>
          <a:prstGeom prst="rect">
            <a:avLst/>
          </a:prstGeom>
          <a:noFill/>
        </p:spPr>
        <p:txBody>
          <a:bodyPr vert="horz" wrap="square" lIns="0" tIns="0" rIns="0" bIns="0" rtlCol="0" anchor="t">
            <a:noAutofit/>
          </a:bodyPr>
          <a:lstStyle/>
          <a:p>
            <a:r>
              <a:rPr lang="en-US" sz="1150" b="1">
                <a:solidFill>
                  <a:srgbClr val="25D0A2"/>
                </a:solidFill>
                <a:latin typeface="Arial" panose="020B0604020202020204" pitchFamily="34" charset="0"/>
              </a:rPr>
              <a:t>20.000 users • cửa sổ 30 ngày</a:t>
            </a:r>
          </a:p>
        </p:txBody>
      </p:sp>
      <p:sp>
        <p:nvSpPr>
          <p:cNvPr id="49" name="TextBox 48">
            <a:extLst>
              <a:ext uri="{FF2B5EF4-FFF2-40B4-BE49-F238E27FC236}">
                <a16:creationId xmlns:a16="http://schemas.microsoft.com/office/drawing/2014/main" id="{4C420CF8-A781-8749-2950-271B25FB71CE}"/>
              </a:ext>
            </a:extLst>
          </p:cNvPr>
          <p:cNvSpPr txBox="1"/>
          <p:nvPr/>
        </p:nvSpPr>
        <p:spPr>
          <a:xfrm>
            <a:off x="4673600" y="3009900"/>
            <a:ext cx="1714500" cy="533400"/>
          </a:xfrm>
          <a:prstGeom prst="rect">
            <a:avLst/>
          </a:prstGeom>
          <a:noFill/>
        </p:spPr>
        <p:txBody>
          <a:bodyPr vert="horz" wrap="square" lIns="0" tIns="0" rIns="0" bIns="0" rtlCol="0" anchor="t">
            <a:noAutofit/>
          </a:bodyPr>
          <a:lstStyle/>
          <a:p>
            <a:r>
              <a:rPr lang="en-US" sz="1050">
                <a:solidFill>
                  <a:srgbClr val="B7C2D1"/>
                </a:solidFill>
                <a:latin typeface="Arial" panose="020B0604020202020204" pitchFamily="34" charset="0"/>
              </a:rPr>
              <a:t>X → Y0 → ITE → Y1</a:t>
            </a:r>
          </a:p>
        </p:txBody>
      </p:sp>
      <p:sp>
        <p:nvSpPr>
          <p:cNvPr id="50" name="TextBox 49">
            <a:extLst>
              <a:ext uri="{FF2B5EF4-FFF2-40B4-BE49-F238E27FC236}">
                <a16:creationId xmlns:a16="http://schemas.microsoft.com/office/drawing/2014/main" id="{311E33DA-C151-2BCA-12CE-E62FB7A10B50}"/>
              </a:ext>
            </a:extLst>
          </p:cNvPr>
          <p:cNvSpPr txBox="1"/>
          <p:nvPr/>
        </p:nvSpPr>
        <p:spPr>
          <a:xfrm>
            <a:off x="6642100" y="1600200"/>
            <a:ext cx="431800" cy="228600"/>
          </a:xfrm>
          <a:prstGeom prst="rect">
            <a:avLst/>
          </a:prstGeom>
          <a:noFill/>
        </p:spPr>
        <p:txBody>
          <a:bodyPr vert="horz" wrap="square" lIns="0" tIns="0" rIns="0" bIns="0" rtlCol="0" anchor="t">
            <a:noAutofit/>
          </a:bodyPr>
          <a:lstStyle/>
          <a:p>
            <a:r>
              <a:rPr lang="en-US" sz="1000" b="1">
                <a:solidFill>
                  <a:srgbClr val="E978C6"/>
                </a:solidFill>
                <a:latin typeface="Arial" panose="020B0604020202020204" pitchFamily="34" charset="0"/>
              </a:rPr>
              <a:t>04</a:t>
            </a:r>
          </a:p>
        </p:txBody>
      </p:sp>
      <p:sp>
        <p:nvSpPr>
          <p:cNvPr id="51" name="Rectangle 50">
            <a:extLst>
              <a:ext uri="{FF2B5EF4-FFF2-40B4-BE49-F238E27FC236}">
                <a16:creationId xmlns:a16="http://schemas.microsoft.com/office/drawing/2014/main" id="{B7E427E3-89F5-2573-19A6-8AA750DDBA06}"/>
              </a:ext>
            </a:extLst>
          </p:cNvPr>
          <p:cNvSpPr/>
          <p:nvPr/>
        </p:nvSpPr>
        <p:spPr>
          <a:xfrm>
            <a:off x="6642100" y="1917700"/>
            <a:ext cx="1549400" cy="38100"/>
          </a:xfrm>
          <a:prstGeom prst="rect">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3101DEDF-9720-69D8-7F47-38D02DBC4CDE}"/>
              </a:ext>
            </a:extLst>
          </p:cNvPr>
          <p:cNvSpPr txBox="1"/>
          <p:nvPr/>
        </p:nvSpPr>
        <p:spPr>
          <a:xfrm>
            <a:off x="6642100" y="2095500"/>
            <a:ext cx="1651000" cy="457200"/>
          </a:xfrm>
          <a:prstGeom prst="rect">
            <a:avLst/>
          </a:prstGeom>
          <a:noFill/>
        </p:spPr>
        <p:txBody>
          <a:bodyPr vert="horz" wrap="square" lIns="0" tIns="0" rIns="0" bIns="0" rtlCol="0" anchor="t">
            <a:noAutofit/>
          </a:bodyPr>
          <a:lstStyle/>
          <a:p>
            <a:r>
              <a:rPr lang="en-US" sz="1300" b="1">
                <a:solidFill>
                  <a:srgbClr val="F7F8FA"/>
                </a:solidFill>
                <a:latin typeface="Arial" panose="020B0604020202020204" pitchFamily="34" charset="0"/>
              </a:rPr>
              <a:t>Segmentation</a:t>
            </a:r>
          </a:p>
        </p:txBody>
      </p:sp>
      <p:sp>
        <p:nvSpPr>
          <p:cNvPr id="53" name="TextBox 52">
            <a:extLst>
              <a:ext uri="{FF2B5EF4-FFF2-40B4-BE49-F238E27FC236}">
                <a16:creationId xmlns:a16="http://schemas.microsoft.com/office/drawing/2014/main" id="{A9FC1FBA-186A-9300-80E2-69948348A221}"/>
              </a:ext>
            </a:extLst>
          </p:cNvPr>
          <p:cNvSpPr txBox="1"/>
          <p:nvPr/>
        </p:nvSpPr>
        <p:spPr>
          <a:xfrm>
            <a:off x="6642100" y="2603500"/>
            <a:ext cx="1714500" cy="381000"/>
          </a:xfrm>
          <a:prstGeom prst="rect">
            <a:avLst/>
          </a:prstGeom>
          <a:noFill/>
        </p:spPr>
        <p:txBody>
          <a:bodyPr vert="horz" wrap="square" lIns="0" tIns="0" rIns="0" bIns="0" rtlCol="0" anchor="t">
            <a:noAutofit/>
          </a:bodyPr>
          <a:lstStyle/>
          <a:p>
            <a:r>
              <a:rPr lang="en-US" sz="1150" b="1">
                <a:solidFill>
                  <a:srgbClr val="E978C6"/>
                </a:solidFill>
                <a:latin typeface="Arial" panose="020B0604020202020204" pitchFamily="34" charset="0"/>
              </a:rPr>
              <a:t>5 behavioral personas</a:t>
            </a:r>
          </a:p>
        </p:txBody>
      </p:sp>
      <p:sp>
        <p:nvSpPr>
          <p:cNvPr id="54" name="TextBox 53">
            <a:extLst>
              <a:ext uri="{FF2B5EF4-FFF2-40B4-BE49-F238E27FC236}">
                <a16:creationId xmlns:a16="http://schemas.microsoft.com/office/drawing/2014/main" id="{D8F1AF07-B7C9-1D2A-4459-3DFB51E9A584}"/>
              </a:ext>
            </a:extLst>
          </p:cNvPr>
          <p:cNvSpPr txBox="1"/>
          <p:nvPr/>
        </p:nvSpPr>
        <p:spPr>
          <a:xfrm>
            <a:off x="6642100" y="3009900"/>
            <a:ext cx="1714500" cy="533400"/>
          </a:xfrm>
          <a:prstGeom prst="rect">
            <a:avLst/>
          </a:prstGeom>
          <a:noFill/>
        </p:spPr>
        <p:txBody>
          <a:bodyPr vert="horz" wrap="square" lIns="0" tIns="0" rIns="0" bIns="0" rtlCol="0" anchor="t">
            <a:noAutofit/>
          </a:bodyPr>
          <a:lstStyle/>
          <a:p>
            <a:r>
              <a:rPr lang="en-US" sz="1050">
                <a:solidFill>
                  <a:srgbClr val="B7C2D1"/>
                </a:solidFill>
                <a:latin typeface="Arial" panose="020B0604020202020204" pitchFamily="34" charset="0"/>
              </a:rPr>
              <a:t>Descriptive layer cho business</a:t>
            </a:r>
          </a:p>
        </p:txBody>
      </p:sp>
      <p:sp>
        <p:nvSpPr>
          <p:cNvPr id="55" name="TextBox 54">
            <a:extLst>
              <a:ext uri="{FF2B5EF4-FFF2-40B4-BE49-F238E27FC236}">
                <a16:creationId xmlns:a16="http://schemas.microsoft.com/office/drawing/2014/main" id="{312F33B8-6257-627B-C1B0-6BBE922824C2}"/>
              </a:ext>
            </a:extLst>
          </p:cNvPr>
          <p:cNvSpPr txBox="1"/>
          <p:nvPr/>
        </p:nvSpPr>
        <p:spPr>
          <a:xfrm>
            <a:off x="736600" y="4000500"/>
            <a:ext cx="7670800" cy="279400"/>
          </a:xfrm>
          <a:prstGeom prst="rect">
            <a:avLst/>
          </a:prstGeom>
          <a:noFill/>
        </p:spPr>
        <p:txBody>
          <a:bodyPr vert="horz" wrap="square" lIns="0" tIns="0" rIns="0" bIns="0" rtlCol="0" anchor="t">
            <a:noAutofit/>
          </a:bodyPr>
          <a:lstStyle/>
          <a:p>
            <a:r>
              <a:rPr lang="en-US" sz="1200" b="1">
                <a:solidFill>
                  <a:srgbClr val="29B8E8"/>
                </a:solidFill>
                <a:latin typeface="Arial" panose="020B0604020202020204" pitchFamily="34" charset="0"/>
              </a:rPr>
              <a:t>Cấu trúc 20.000 khách hàng synthetic</a:t>
            </a:r>
          </a:p>
        </p:txBody>
      </p:sp>
      <p:sp>
        <p:nvSpPr>
          <p:cNvPr id="56" name="Rectangle 55">
            <a:extLst>
              <a:ext uri="{FF2B5EF4-FFF2-40B4-BE49-F238E27FC236}">
                <a16:creationId xmlns:a16="http://schemas.microsoft.com/office/drawing/2014/main" id="{FD1E5230-C36B-7AB7-ED0E-328153F7341E}"/>
              </a:ext>
            </a:extLst>
          </p:cNvPr>
          <p:cNvSpPr/>
          <p:nvPr/>
        </p:nvSpPr>
        <p:spPr>
          <a:xfrm>
            <a:off x="736600" y="4305300"/>
            <a:ext cx="7670800" cy="254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D71261E9-2094-8F64-670F-63D2C3DB2E89}"/>
              </a:ext>
            </a:extLst>
          </p:cNvPr>
          <p:cNvSpPr/>
          <p:nvPr/>
        </p:nvSpPr>
        <p:spPr>
          <a:xfrm>
            <a:off x="736600" y="4584700"/>
            <a:ext cx="3286171" cy="3302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9180A434-CC93-6942-3707-F546EFFF23B7}"/>
              </a:ext>
            </a:extLst>
          </p:cNvPr>
          <p:cNvSpPr/>
          <p:nvPr/>
        </p:nvSpPr>
        <p:spPr>
          <a:xfrm>
            <a:off x="4022771" y="4584700"/>
            <a:ext cx="2063828" cy="3302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F19A3EEF-23AD-E6B1-C44D-DDAC3762628C}"/>
              </a:ext>
            </a:extLst>
          </p:cNvPr>
          <p:cNvSpPr/>
          <p:nvPr/>
        </p:nvSpPr>
        <p:spPr>
          <a:xfrm>
            <a:off x="6086599" y="4584700"/>
            <a:ext cx="1027888" cy="3302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EF9154C6-AEC5-F081-5717-0FCCE10BB50A}"/>
              </a:ext>
            </a:extLst>
          </p:cNvPr>
          <p:cNvSpPr/>
          <p:nvPr/>
        </p:nvSpPr>
        <p:spPr>
          <a:xfrm>
            <a:off x="7114487" y="4584700"/>
            <a:ext cx="1016764" cy="330200"/>
          </a:xfrm>
          <a:prstGeom prst="rect">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C55E8C3A-DC4B-9F2E-C28A-81FBE182828D}"/>
              </a:ext>
            </a:extLst>
          </p:cNvPr>
          <p:cNvSpPr/>
          <p:nvPr/>
        </p:nvSpPr>
        <p:spPr>
          <a:xfrm>
            <a:off x="8131251" y="4584700"/>
            <a:ext cx="276149" cy="330200"/>
          </a:xfrm>
          <a:prstGeom prst="rect">
            <a:avLst/>
          </a:prstGeom>
          <a:solidFill>
            <a:srgbClr val="FFB4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045E439-98EC-4D66-5AAA-4604B0BB0FD2}"/>
              </a:ext>
            </a:extLst>
          </p:cNvPr>
          <p:cNvSpPr/>
          <p:nvPr/>
        </p:nvSpPr>
        <p:spPr>
          <a:xfrm>
            <a:off x="736600" y="5143500"/>
            <a:ext cx="101600" cy="101600"/>
          </a:xfrm>
          <a:prstGeom prst="ellipse">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FE7DC613-37B7-1E28-E613-FB44D5F5373F}"/>
              </a:ext>
            </a:extLst>
          </p:cNvPr>
          <p:cNvSpPr txBox="1"/>
          <p:nvPr/>
        </p:nvSpPr>
        <p:spPr>
          <a:xfrm>
            <a:off x="889000" y="5067300"/>
            <a:ext cx="1460500" cy="482600"/>
          </a:xfrm>
          <a:prstGeom prst="rect">
            <a:avLst/>
          </a:prstGeom>
          <a:noFill/>
        </p:spPr>
        <p:txBody>
          <a:bodyPr vert="horz" wrap="square" lIns="0" tIns="0" rIns="0" bIns="0" rtlCol="0" anchor="t">
            <a:noAutofit/>
          </a:bodyPr>
          <a:lstStyle/>
          <a:p>
            <a:r>
              <a:rPr lang="en-US" sz="950">
                <a:solidFill>
                  <a:srgbClr val="F7F8FA"/>
                </a:solidFill>
                <a:latin typeface="Arial" panose="020B0604020202020204" pitchFamily="34" charset="0"/>
              </a:rPr>
              <a:t>Urban Regulars
8,568 users</a:t>
            </a:r>
          </a:p>
        </p:txBody>
      </p:sp>
      <p:sp>
        <p:nvSpPr>
          <p:cNvPr id="64" name="Oval 63">
            <a:extLst>
              <a:ext uri="{FF2B5EF4-FFF2-40B4-BE49-F238E27FC236}">
                <a16:creationId xmlns:a16="http://schemas.microsoft.com/office/drawing/2014/main" id="{AEBB1882-F3FB-58DA-97A5-A3B92971D23E}"/>
              </a:ext>
            </a:extLst>
          </p:cNvPr>
          <p:cNvSpPr/>
          <p:nvPr/>
        </p:nvSpPr>
        <p:spPr>
          <a:xfrm>
            <a:off x="2921000" y="5143500"/>
            <a:ext cx="101600" cy="101600"/>
          </a:xfrm>
          <a:prstGeom prst="ellipse">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91891B91-D1D7-445F-47B7-D3F901444B41}"/>
              </a:ext>
            </a:extLst>
          </p:cNvPr>
          <p:cNvSpPr txBox="1"/>
          <p:nvPr/>
        </p:nvSpPr>
        <p:spPr>
          <a:xfrm>
            <a:off x="3073400" y="5067300"/>
            <a:ext cx="1460500" cy="482600"/>
          </a:xfrm>
          <a:prstGeom prst="rect">
            <a:avLst/>
          </a:prstGeom>
          <a:noFill/>
        </p:spPr>
        <p:txBody>
          <a:bodyPr vert="horz" wrap="square" lIns="0" tIns="0" rIns="0" bIns="0" rtlCol="0" anchor="t">
            <a:noAutofit/>
          </a:bodyPr>
          <a:lstStyle/>
          <a:p>
            <a:r>
              <a:rPr lang="en-US" sz="950">
                <a:solidFill>
                  <a:srgbClr val="F7F8FA"/>
                </a:solidFill>
                <a:latin typeface="Arial" panose="020B0604020202020204" pitchFamily="34" charset="0"/>
              </a:rPr>
              <a:t>Suburban Cash
5,381 users</a:t>
            </a:r>
          </a:p>
        </p:txBody>
      </p:sp>
      <p:sp>
        <p:nvSpPr>
          <p:cNvPr id="66" name="Oval 65">
            <a:extLst>
              <a:ext uri="{FF2B5EF4-FFF2-40B4-BE49-F238E27FC236}">
                <a16:creationId xmlns:a16="http://schemas.microsoft.com/office/drawing/2014/main" id="{D5DA63A1-FD26-FDAF-F85B-3D4112D8C003}"/>
              </a:ext>
            </a:extLst>
          </p:cNvPr>
          <p:cNvSpPr/>
          <p:nvPr/>
        </p:nvSpPr>
        <p:spPr>
          <a:xfrm>
            <a:off x="4737100" y="5143500"/>
            <a:ext cx="101600" cy="101600"/>
          </a:xfrm>
          <a:prstGeom prst="ellipse">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CB26A291-68F1-26EB-FD4B-47C90CC31C90}"/>
              </a:ext>
            </a:extLst>
          </p:cNvPr>
          <p:cNvSpPr txBox="1"/>
          <p:nvPr/>
        </p:nvSpPr>
        <p:spPr>
          <a:xfrm>
            <a:off x="4889500" y="5067300"/>
            <a:ext cx="1460500" cy="482600"/>
          </a:xfrm>
          <a:prstGeom prst="rect">
            <a:avLst/>
          </a:prstGeom>
          <a:noFill/>
        </p:spPr>
        <p:txBody>
          <a:bodyPr vert="horz" wrap="square" lIns="0" tIns="0" rIns="0" bIns="0" rtlCol="0" anchor="t">
            <a:noAutofit/>
          </a:bodyPr>
          <a:lstStyle/>
          <a:p>
            <a:r>
              <a:rPr lang="en-US" sz="950">
                <a:solidFill>
                  <a:srgbClr val="F7F8FA"/>
                </a:solidFill>
                <a:latin typeface="Arial" panose="020B0604020202020204" pitchFamily="34" charset="0"/>
              </a:rPr>
              <a:t>Suburban Card
2,680 users</a:t>
            </a:r>
          </a:p>
        </p:txBody>
      </p:sp>
      <p:sp>
        <p:nvSpPr>
          <p:cNvPr id="68" name="Oval 67">
            <a:extLst>
              <a:ext uri="{FF2B5EF4-FFF2-40B4-BE49-F238E27FC236}">
                <a16:creationId xmlns:a16="http://schemas.microsoft.com/office/drawing/2014/main" id="{CA627EF7-7527-7109-F24E-D0963BE69880}"/>
              </a:ext>
            </a:extLst>
          </p:cNvPr>
          <p:cNvSpPr/>
          <p:nvPr/>
        </p:nvSpPr>
        <p:spPr>
          <a:xfrm>
            <a:off x="6197600" y="5143500"/>
            <a:ext cx="101600" cy="101600"/>
          </a:xfrm>
          <a:prstGeom prst="ellipse">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7A5E697D-2D46-9399-CB99-F4321B5D7CE0}"/>
              </a:ext>
            </a:extLst>
          </p:cNvPr>
          <p:cNvSpPr txBox="1"/>
          <p:nvPr/>
        </p:nvSpPr>
        <p:spPr>
          <a:xfrm>
            <a:off x="6350000" y="5067300"/>
            <a:ext cx="1460500" cy="482600"/>
          </a:xfrm>
          <a:prstGeom prst="rect">
            <a:avLst/>
          </a:prstGeom>
          <a:noFill/>
        </p:spPr>
        <p:txBody>
          <a:bodyPr vert="horz" wrap="square" lIns="0" tIns="0" rIns="0" bIns="0" rtlCol="0" anchor="t">
            <a:noAutofit/>
          </a:bodyPr>
          <a:lstStyle/>
          <a:p>
            <a:r>
              <a:rPr lang="en-US" sz="950">
                <a:solidFill>
                  <a:srgbClr val="F7F8FA"/>
                </a:solidFill>
                <a:latin typeface="Arial" panose="020B0604020202020204" pitchFamily="34" charset="0"/>
              </a:rPr>
              <a:t>Rain Riders
2,651 users</a:t>
            </a:r>
          </a:p>
        </p:txBody>
      </p:sp>
      <p:sp>
        <p:nvSpPr>
          <p:cNvPr id="70" name="Oval 69">
            <a:extLst>
              <a:ext uri="{FF2B5EF4-FFF2-40B4-BE49-F238E27FC236}">
                <a16:creationId xmlns:a16="http://schemas.microsoft.com/office/drawing/2014/main" id="{1842FDCD-3D2A-F78A-1C52-6C5AC6E6E739}"/>
              </a:ext>
            </a:extLst>
          </p:cNvPr>
          <p:cNvSpPr/>
          <p:nvPr/>
        </p:nvSpPr>
        <p:spPr>
          <a:xfrm>
            <a:off x="7429500" y="5143500"/>
            <a:ext cx="101600" cy="101600"/>
          </a:xfrm>
          <a:prstGeom prst="ellipse">
            <a:avLst/>
          </a:prstGeom>
          <a:solidFill>
            <a:srgbClr val="FFB4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TextBox 70">
            <a:extLst>
              <a:ext uri="{FF2B5EF4-FFF2-40B4-BE49-F238E27FC236}">
                <a16:creationId xmlns:a16="http://schemas.microsoft.com/office/drawing/2014/main" id="{4A40F409-9106-BAFC-CCB1-33BD3CDBC10D}"/>
              </a:ext>
            </a:extLst>
          </p:cNvPr>
          <p:cNvSpPr txBox="1"/>
          <p:nvPr/>
        </p:nvSpPr>
        <p:spPr>
          <a:xfrm>
            <a:off x="7581900" y="5067300"/>
            <a:ext cx="1460500" cy="482600"/>
          </a:xfrm>
          <a:prstGeom prst="rect">
            <a:avLst/>
          </a:prstGeom>
          <a:noFill/>
        </p:spPr>
        <p:txBody>
          <a:bodyPr vert="horz" wrap="square" lIns="0" tIns="0" rIns="0" bIns="0" rtlCol="0" anchor="t">
            <a:noAutofit/>
          </a:bodyPr>
          <a:lstStyle/>
          <a:p>
            <a:r>
              <a:rPr lang="en-US" sz="950">
                <a:solidFill>
                  <a:srgbClr val="F7F8FA"/>
                </a:solidFill>
                <a:latin typeface="Arial" panose="020B0604020202020204" pitchFamily="34" charset="0"/>
              </a:rPr>
              <a:t>Airport Business
720 users</a:t>
            </a:r>
          </a:p>
        </p:txBody>
      </p:sp>
      <p:sp>
        <p:nvSpPr>
          <p:cNvPr id="72" name="TextBox 71">
            <a:extLst>
              <a:ext uri="{FF2B5EF4-FFF2-40B4-BE49-F238E27FC236}">
                <a16:creationId xmlns:a16="http://schemas.microsoft.com/office/drawing/2014/main" id="{88E1B589-FCAA-A3F7-35E6-54BC262D039F}"/>
              </a:ext>
            </a:extLst>
          </p:cNvPr>
          <p:cNvSpPr txBox="1"/>
          <p:nvPr/>
        </p:nvSpPr>
        <p:spPr>
          <a:xfrm>
            <a:off x="736600" y="5765800"/>
            <a:ext cx="7874000" cy="228600"/>
          </a:xfrm>
          <a:prstGeom prst="rect">
            <a:avLst/>
          </a:prstGeom>
          <a:noFill/>
        </p:spPr>
        <p:txBody>
          <a:bodyPr vert="horz" wrap="square" lIns="0" tIns="0" rIns="0" bIns="0" rtlCol="0" anchor="t">
            <a:noAutofit/>
          </a:bodyPr>
          <a:lstStyle/>
          <a:p>
            <a:r>
              <a:rPr lang="vi-VN" sz="950">
                <a:solidFill>
                  <a:srgbClr val="B7C2D1"/>
                </a:solidFill>
                <a:latin typeface="Arial" panose="020B0604020202020204" pitchFamily="34" charset="0"/>
              </a:rPr>
              <a:t>Persona giúp giải thích và vận hành theo nhóm; treatment effect vẫn được tạo trước segmentation.</a:t>
            </a:r>
            <a:endParaRPr lang="en-US" sz="950">
              <a:solidFill>
                <a:srgbClr val="B7C2D1"/>
              </a:solidFill>
              <a:latin typeface="Arial" panose="020B0604020202020204" pitchFamily="34" charset="0"/>
            </a:endParaRPr>
          </a:p>
        </p:txBody>
      </p:sp>
    </p:spTree>
    <p:extLst>
      <p:ext uri="{BB962C8B-B14F-4D97-AF65-F5344CB8AC3E}">
        <p14:creationId xmlns:p14="http://schemas.microsoft.com/office/powerpoint/2010/main" val="15095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405ABF9-6F83-DCC2-2062-CEAB280D245F}"/>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7C3EDBA6-1D87-6F32-EC15-53B07F31880F}"/>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vi-VN" sz="2800" b="1">
                <a:solidFill>
                  <a:srgbClr val="F7F8FA"/>
                </a:solidFill>
                <a:latin typeface="Arial" panose="020B0604020202020204" pitchFamily="34" charset="0"/>
              </a:rPr>
              <a:t>ATE dương, nhưng ROI âm ở cả 5 persona</a:t>
            </a:r>
            <a:endParaRPr lang="en-US" sz="2800" b="1">
              <a:solidFill>
                <a:srgbClr val="F7F8FA"/>
              </a:solidFill>
              <a:latin typeface="Arial" panose="020B0604020202020204" pitchFamily="34" charset="0"/>
            </a:endParaRPr>
          </a:p>
        </p:txBody>
      </p:sp>
      <p:sp>
        <p:nvSpPr>
          <p:cNvPr id="22" name="SlideSubtitle">
            <a:extLst>
              <a:ext uri="{FF2B5EF4-FFF2-40B4-BE49-F238E27FC236}">
                <a16:creationId xmlns:a16="http://schemas.microsoft.com/office/drawing/2014/main" id="{E78B4983-B40E-A8B2-EFDF-13EDD35F5C5D}"/>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A/B xác nhận causal effect; segment targeting vẫn quá thô</a:t>
            </a:r>
          </a:p>
        </p:txBody>
      </p:sp>
      <p:sp>
        <p:nvSpPr>
          <p:cNvPr id="23" name="Rectangle 22">
            <a:extLst>
              <a:ext uri="{FF2B5EF4-FFF2-40B4-BE49-F238E27FC236}">
                <a16:creationId xmlns:a16="http://schemas.microsoft.com/office/drawing/2014/main" id="{09788C32-E6E5-D670-5983-A40127F9E2E4}"/>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1ABBD10-D3BE-4F5C-E522-0CF6D71FC0F5}"/>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E1230D7-597C-109C-C458-0D13098E456D}"/>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6" name="Rectangle 25">
            <a:extLst>
              <a:ext uri="{FF2B5EF4-FFF2-40B4-BE49-F238E27FC236}">
                <a16:creationId xmlns:a16="http://schemas.microsoft.com/office/drawing/2014/main" id="{397DEC90-25FB-0FD3-F270-CE9636D872AA}"/>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1DAFDFD2-E798-4732-42F0-9389AE91C58F}"/>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8" name="TextBox 27">
            <a:extLst>
              <a:ext uri="{FF2B5EF4-FFF2-40B4-BE49-F238E27FC236}">
                <a16:creationId xmlns:a16="http://schemas.microsoft.com/office/drawing/2014/main" id="{B64423AA-A4CB-C108-A1F9-04EE1F950321}"/>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03 / 07</a:t>
            </a:r>
          </a:p>
        </p:txBody>
      </p:sp>
      <p:sp>
        <p:nvSpPr>
          <p:cNvPr id="29" name="TextBox 28">
            <a:extLst>
              <a:ext uri="{FF2B5EF4-FFF2-40B4-BE49-F238E27FC236}">
                <a16:creationId xmlns:a16="http://schemas.microsoft.com/office/drawing/2014/main" id="{2F42A67C-8A31-A2B5-863C-8552843F5942}"/>
              </a:ext>
            </a:extLst>
          </p:cNvPr>
          <p:cNvSpPr txBox="1"/>
          <p:nvPr/>
        </p:nvSpPr>
        <p:spPr>
          <a:xfrm>
            <a:off x="736600" y="1549400"/>
            <a:ext cx="2349500" cy="279400"/>
          </a:xfrm>
          <a:prstGeom prst="rect">
            <a:avLst/>
          </a:prstGeom>
          <a:noFill/>
        </p:spPr>
        <p:txBody>
          <a:bodyPr vert="horz" wrap="square" lIns="0" tIns="0" rIns="0" bIns="0" rtlCol="0" anchor="t">
            <a:noAutofit/>
          </a:bodyPr>
          <a:lstStyle/>
          <a:p>
            <a:r>
              <a:rPr lang="en-US" sz="1200" b="1">
                <a:solidFill>
                  <a:srgbClr val="25D0A2"/>
                </a:solidFill>
                <a:latin typeface="Arial" panose="020B0604020202020204" pitchFamily="34" charset="0"/>
              </a:rPr>
              <a:t>Tác động trung bình</a:t>
            </a:r>
          </a:p>
        </p:txBody>
      </p:sp>
      <p:sp>
        <p:nvSpPr>
          <p:cNvPr id="30" name="Rectangle 29">
            <a:extLst>
              <a:ext uri="{FF2B5EF4-FFF2-40B4-BE49-F238E27FC236}">
                <a16:creationId xmlns:a16="http://schemas.microsoft.com/office/drawing/2014/main" id="{372BD8CE-78D7-B982-212A-13439337259C}"/>
              </a:ext>
            </a:extLst>
          </p:cNvPr>
          <p:cNvSpPr/>
          <p:nvPr/>
        </p:nvSpPr>
        <p:spPr>
          <a:xfrm>
            <a:off x="736600" y="1854200"/>
            <a:ext cx="2349500" cy="254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3CE9F0F-6CA8-0B55-5A00-8F541AE4C9F1}"/>
              </a:ext>
            </a:extLst>
          </p:cNvPr>
          <p:cNvSpPr txBox="1"/>
          <p:nvPr/>
        </p:nvSpPr>
        <p:spPr>
          <a:xfrm>
            <a:off x="736600" y="2095500"/>
            <a:ext cx="2413000" cy="812800"/>
          </a:xfrm>
          <a:prstGeom prst="rect">
            <a:avLst/>
          </a:prstGeom>
          <a:noFill/>
        </p:spPr>
        <p:txBody>
          <a:bodyPr vert="horz" wrap="square" lIns="0" tIns="0" rIns="0" bIns="0" rtlCol="0" anchor="t">
            <a:noAutofit/>
          </a:bodyPr>
          <a:lstStyle/>
          <a:p>
            <a:r>
              <a:rPr lang="en-US" sz="4000" b="1">
                <a:solidFill>
                  <a:srgbClr val="25D0A2"/>
                </a:solidFill>
                <a:latin typeface="Arial" panose="020B0604020202020204" pitchFamily="34" charset="0"/>
              </a:rPr>
              <a:t>+0,95</a:t>
            </a:r>
          </a:p>
        </p:txBody>
      </p:sp>
      <p:sp>
        <p:nvSpPr>
          <p:cNvPr id="32" name="TextBox 31">
            <a:extLst>
              <a:ext uri="{FF2B5EF4-FFF2-40B4-BE49-F238E27FC236}">
                <a16:creationId xmlns:a16="http://schemas.microsoft.com/office/drawing/2014/main" id="{3796D42F-B3F4-ADC0-9272-9D060B7C05A4}"/>
              </a:ext>
            </a:extLst>
          </p:cNvPr>
          <p:cNvSpPr txBox="1"/>
          <p:nvPr/>
        </p:nvSpPr>
        <p:spPr>
          <a:xfrm>
            <a:off x="736600" y="2933700"/>
            <a:ext cx="2413000" cy="508000"/>
          </a:xfrm>
          <a:prstGeom prst="rect">
            <a:avLst/>
          </a:prstGeom>
          <a:noFill/>
        </p:spPr>
        <p:txBody>
          <a:bodyPr vert="horz" wrap="square" lIns="0" tIns="0" rIns="0" bIns="0" rtlCol="0" anchor="t">
            <a:noAutofit/>
          </a:bodyPr>
          <a:lstStyle/>
          <a:p>
            <a:r>
              <a:rPr lang="en-US" sz="1300" b="1">
                <a:solidFill>
                  <a:srgbClr val="F7F8FA"/>
                </a:solidFill>
                <a:latin typeface="Arial" panose="020B0604020202020204" pitchFamily="34" charset="0"/>
              </a:rPr>
              <a:t>chuyến / khách hàng / 30 ngày</a:t>
            </a:r>
          </a:p>
        </p:txBody>
      </p:sp>
      <p:sp>
        <p:nvSpPr>
          <p:cNvPr id="33" name="TextBox 32">
            <a:extLst>
              <a:ext uri="{FF2B5EF4-FFF2-40B4-BE49-F238E27FC236}">
                <a16:creationId xmlns:a16="http://schemas.microsoft.com/office/drawing/2014/main" id="{66DD3BFF-A473-FA4C-CEA5-7D568F775E73}"/>
              </a:ext>
            </a:extLst>
          </p:cNvPr>
          <p:cNvSpPr txBox="1"/>
          <p:nvPr/>
        </p:nvSpPr>
        <p:spPr>
          <a:xfrm>
            <a:off x="736600" y="3632200"/>
            <a:ext cx="2413000" cy="609600"/>
          </a:xfrm>
          <a:prstGeom prst="rect">
            <a:avLst/>
          </a:prstGeom>
          <a:noFill/>
        </p:spPr>
        <p:txBody>
          <a:bodyPr vert="horz" wrap="square" lIns="0" tIns="0" rIns="0" bIns="0" rtlCol="0" anchor="t">
            <a:noAutofit/>
          </a:bodyPr>
          <a:lstStyle/>
          <a:p>
            <a:r>
              <a:rPr lang="en-US" sz="1100">
                <a:solidFill>
                  <a:srgbClr val="B7C2D1"/>
                </a:solidFill>
                <a:latin typeface="Arial" panose="020B0604020202020204" pitchFamily="34" charset="0"/>
              </a:rPr>
              <a:t>95% CI: [0,76; 1,14]
Khoảng tin cậy hoàn toàn &gt; 0</a:t>
            </a:r>
          </a:p>
        </p:txBody>
      </p:sp>
      <p:sp>
        <p:nvSpPr>
          <p:cNvPr id="34" name="TextBox 33">
            <a:extLst>
              <a:ext uri="{FF2B5EF4-FFF2-40B4-BE49-F238E27FC236}">
                <a16:creationId xmlns:a16="http://schemas.microsoft.com/office/drawing/2014/main" id="{FF708583-7EE3-106D-7345-86852E1F5932}"/>
              </a:ext>
            </a:extLst>
          </p:cNvPr>
          <p:cNvSpPr txBox="1"/>
          <p:nvPr/>
        </p:nvSpPr>
        <p:spPr>
          <a:xfrm>
            <a:off x="736600" y="4445000"/>
            <a:ext cx="2413000" cy="228600"/>
          </a:xfrm>
          <a:prstGeom prst="rect">
            <a:avLst/>
          </a:prstGeom>
          <a:noFill/>
        </p:spPr>
        <p:txBody>
          <a:bodyPr vert="horz" wrap="square" lIns="0" tIns="0" rIns="0" bIns="0" rtlCol="0" anchor="t">
            <a:noAutofit/>
          </a:bodyPr>
          <a:lstStyle/>
          <a:p>
            <a:r>
              <a:rPr lang="en-US" sz="1000">
                <a:solidFill>
                  <a:srgbClr val="B7C2D1"/>
                </a:solidFill>
                <a:latin typeface="Arial" panose="020B0604020202020204" pitchFamily="34" charset="0"/>
              </a:rPr>
              <a:t>ATE đã hiệu chỉnh</a:t>
            </a:r>
          </a:p>
        </p:txBody>
      </p:sp>
      <p:sp>
        <p:nvSpPr>
          <p:cNvPr id="35" name="TextBox 34">
            <a:extLst>
              <a:ext uri="{FF2B5EF4-FFF2-40B4-BE49-F238E27FC236}">
                <a16:creationId xmlns:a16="http://schemas.microsoft.com/office/drawing/2014/main" id="{4A1BF640-4CED-56E0-3486-CBD5FC601ADE}"/>
              </a:ext>
            </a:extLst>
          </p:cNvPr>
          <p:cNvSpPr txBox="1"/>
          <p:nvPr/>
        </p:nvSpPr>
        <p:spPr>
          <a:xfrm>
            <a:off x="3581400" y="1549400"/>
            <a:ext cx="4826000" cy="279400"/>
          </a:xfrm>
          <a:prstGeom prst="rect">
            <a:avLst/>
          </a:prstGeom>
          <a:noFill/>
        </p:spPr>
        <p:txBody>
          <a:bodyPr vert="horz" wrap="square" lIns="0" tIns="0" rIns="0" bIns="0" rtlCol="0" anchor="t">
            <a:noAutofit/>
          </a:bodyPr>
          <a:lstStyle/>
          <a:p>
            <a:r>
              <a:rPr lang="vi-VN" sz="1200" b="1">
                <a:solidFill>
                  <a:srgbClr val="FF5D66"/>
                </a:solidFill>
                <a:latin typeface="Arial" panose="020B0604020202020204" pitchFamily="34" charset="0"/>
              </a:rPr>
              <a:t>Cùng persona: ATE dương | ROI âm</a:t>
            </a:r>
            <a:endParaRPr lang="en-US" sz="1200" b="1">
              <a:solidFill>
                <a:srgbClr val="FF5D66"/>
              </a:solidFill>
              <a:latin typeface="Arial" panose="020B0604020202020204" pitchFamily="34" charset="0"/>
            </a:endParaRPr>
          </a:p>
        </p:txBody>
      </p:sp>
      <p:sp>
        <p:nvSpPr>
          <p:cNvPr id="36" name="Rectangle 35">
            <a:extLst>
              <a:ext uri="{FF2B5EF4-FFF2-40B4-BE49-F238E27FC236}">
                <a16:creationId xmlns:a16="http://schemas.microsoft.com/office/drawing/2014/main" id="{A1FABB01-3071-45AD-CDE4-9E2F9D0F0C5F}"/>
              </a:ext>
            </a:extLst>
          </p:cNvPr>
          <p:cNvSpPr/>
          <p:nvPr/>
        </p:nvSpPr>
        <p:spPr>
          <a:xfrm>
            <a:off x="3581400" y="1854200"/>
            <a:ext cx="4826000" cy="254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D3F87A7E-D404-C618-42C2-DC5A3FFDF3AD}"/>
              </a:ext>
            </a:extLst>
          </p:cNvPr>
          <p:cNvSpPr txBox="1"/>
          <p:nvPr/>
        </p:nvSpPr>
        <p:spPr>
          <a:xfrm>
            <a:off x="3581400" y="2006600"/>
            <a:ext cx="1905000" cy="228600"/>
          </a:xfrm>
          <a:prstGeom prst="rect">
            <a:avLst/>
          </a:prstGeom>
          <a:noFill/>
        </p:spPr>
        <p:txBody>
          <a:bodyPr vert="horz" wrap="square" lIns="0" tIns="0" rIns="0" bIns="0" rtlCol="0" anchor="t">
            <a:noAutofit/>
          </a:bodyPr>
          <a:lstStyle/>
          <a:p>
            <a:r>
              <a:rPr lang="en-US" sz="950" b="1">
                <a:solidFill>
                  <a:srgbClr val="B7C2D1"/>
                </a:solidFill>
                <a:latin typeface="Arial" panose="020B0604020202020204" pitchFamily="34" charset="0"/>
              </a:rPr>
              <a:t>Persona</a:t>
            </a:r>
          </a:p>
        </p:txBody>
      </p:sp>
      <p:sp>
        <p:nvSpPr>
          <p:cNvPr id="38" name="TextBox 37">
            <a:extLst>
              <a:ext uri="{FF2B5EF4-FFF2-40B4-BE49-F238E27FC236}">
                <a16:creationId xmlns:a16="http://schemas.microsoft.com/office/drawing/2014/main" id="{E76974E4-3B6F-333C-CE55-9AABF13C5927}"/>
              </a:ext>
            </a:extLst>
          </p:cNvPr>
          <p:cNvSpPr txBox="1"/>
          <p:nvPr/>
        </p:nvSpPr>
        <p:spPr>
          <a:xfrm>
            <a:off x="5524500" y="2006600"/>
            <a:ext cx="609600" cy="228600"/>
          </a:xfrm>
          <a:prstGeom prst="rect">
            <a:avLst/>
          </a:prstGeom>
          <a:noFill/>
        </p:spPr>
        <p:txBody>
          <a:bodyPr vert="horz" wrap="square" lIns="0" tIns="0" rIns="0" bIns="0" rtlCol="0" anchor="t">
            <a:noAutofit/>
          </a:bodyPr>
          <a:lstStyle/>
          <a:p>
            <a:pPr algn="r"/>
            <a:r>
              <a:rPr lang="en-US" sz="950" b="1">
                <a:solidFill>
                  <a:srgbClr val="B7C2D1"/>
                </a:solidFill>
                <a:latin typeface="Arial" panose="020B0604020202020204" pitchFamily="34" charset="0"/>
              </a:rPr>
              <a:t>ATE</a:t>
            </a:r>
          </a:p>
        </p:txBody>
      </p:sp>
      <p:sp>
        <p:nvSpPr>
          <p:cNvPr id="39" name="TextBox 38">
            <a:extLst>
              <a:ext uri="{FF2B5EF4-FFF2-40B4-BE49-F238E27FC236}">
                <a16:creationId xmlns:a16="http://schemas.microsoft.com/office/drawing/2014/main" id="{4D17D945-D228-5E71-F04E-8E416C6FBEB5}"/>
              </a:ext>
            </a:extLst>
          </p:cNvPr>
          <p:cNvSpPr txBox="1"/>
          <p:nvPr/>
        </p:nvSpPr>
        <p:spPr>
          <a:xfrm>
            <a:off x="7239000" y="2006600"/>
            <a:ext cx="1168400" cy="228600"/>
          </a:xfrm>
          <a:prstGeom prst="rect">
            <a:avLst/>
          </a:prstGeom>
          <a:noFill/>
        </p:spPr>
        <p:txBody>
          <a:bodyPr vert="horz" wrap="square" lIns="0" tIns="0" rIns="0" bIns="0" rtlCol="0" anchor="t">
            <a:noAutofit/>
          </a:bodyPr>
          <a:lstStyle/>
          <a:p>
            <a:pPr algn="r"/>
            <a:r>
              <a:rPr lang="en-US" sz="950" b="1">
                <a:solidFill>
                  <a:srgbClr val="B7C2D1"/>
                </a:solidFill>
                <a:latin typeface="Arial" panose="020B0604020202020204" pitchFamily="34" charset="0"/>
              </a:rPr>
              <a:t>ROI  →  0%</a:t>
            </a:r>
          </a:p>
        </p:txBody>
      </p:sp>
      <p:cxnSp>
        <p:nvCxnSpPr>
          <p:cNvPr id="40" name="Straight Connector 39">
            <a:extLst>
              <a:ext uri="{FF2B5EF4-FFF2-40B4-BE49-F238E27FC236}">
                <a16:creationId xmlns:a16="http://schemas.microsoft.com/office/drawing/2014/main" id="{E6F8A9FF-F5BF-7F59-C798-DA732CDC62B2}"/>
              </a:ext>
            </a:extLst>
          </p:cNvPr>
          <p:cNvCxnSpPr/>
          <p:nvPr/>
        </p:nvCxnSpPr>
        <p:spPr>
          <a:xfrm>
            <a:off x="8407400" y="2235200"/>
            <a:ext cx="0" cy="2768600"/>
          </a:xfrm>
          <a:prstGeom prst="line">
            <a:avLst/>
          </a:prstGeom>
          <a:ln w="12700">
            <a:solidFill>
              <a:srgbClr val="60718A"/>
            </a:solidFill>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DF052010-C74D-0824-A31A-06D6190F8953}"/>
              </a:ext>
            </a:extLst>
          </p:cNvPr>
          <p:cNvSpPr txBox="1"/>
          <p:nvPr/>
        </p:nvSpPr>
        <p:spPr>
          <a:xfrm>
            <a:off x="3581400" y="2374900"/>
            <a:ext cx="1841500" cy="228600"/>
          </a:xfrm>
          <a:prstGeom prst="rect">
            <a:avLst/>
          </a:prstGeom>
          <a:noFill/>
        </p:spPr>
        <p:txBody>
          <a:bodyPr vert="horz" wrap="square" lIns="0" tIns="0" rIns="0" bIns="0" rtlCol="0" anchor="t">
            <a:noAutofit/>
          </a:bodyPr>
          <a:lstStyle/>
          <a:p>
            <a:r>
              <a:rPr lang="en-US" sz="1050" b="1">
                <a:solidFill>
                  <a:srgbClr val="F7F8FA"/>
                </a:solidFill>
                <a:latin typeface="Arial" panose="020B0604020202020204" pitchFamily="34" charset="0"/>
              </a:rPr>
              <a:t>Suburban Card</a:t>
            </a:r>
          </a:p>
        </p:txBody>
      </p:sp>
      <p:sp>
        <p:nvSpPr>
          <p:cNvPr id="42" name="TextBox 41">
            <a:extLst>
              <a:ext uri="{FF2B5EF4-FFF2-40B4-BE49-F238E27FC236}">
                <a16:creationId xmlns:a16="http://schemas.microsoft.com/office/drawing/2014/main" id="{AFF8601D-C574-6174-FA59-1A9DE8426BA2}"/>
              </a:ext>
            </a:extLst>
          </p:cNvPr>
          <p:cNvSpPr txBox="1"/>
          <p:nvPr/>
        </p:nvSpPr>
        <p:spPr>
          <a:xfrm>
            <a:off x="5473700" y="2374900"/>
            <a:ext cx="660400" cy="228600"/>
          </a:xfrm>
          <a:prstGeom prst="rect">
            <a:avLst/>
          </a:prstGeom>
          <a:noFill/>
        </p:spPr>
        <p:txBody>
          <a:bodyPr vert="horz" wrap="square" lIns="0" tIns="0" rIns="0" bIns="0" rtlCol="0" anchor="t">
            <a:noAutofit/>
          </a:bodyPr>
          <a:lstStyle/>
          <a:p>
            <a:pPr algn="r"/>
            <a:r>
              <a:rPr lang="en-US" sz="1050" b="1">
                <a:solidFill>
                  <a:srgbClr val="25D0A2"/>
                </a:solidFill>
                <a:latin typeface="Arial" panose="020B0604020202020204" pitchFamily="34" charset="0"/>
              </a:rPr>
              <a:t>+1,22</a:t>
            </a:r>
          </a:p>
        </p:txBody>
      </p:sp>
      <p:sp>
        <p:nvSpPr>
          <p:cNvPr id="43" name="Rectangle 42">
            <a:extLst>
              <a:ext uri="{FF2B5EF4-FFF2-40B4-BE49-F238E27FC236}">
                <a16:creationId xmlns:a16="http://schemas.microsoft.com/office/drawing/2014/main" id="{582BE74F-8BEE-9B62-5BD9-D50B7BEA7B21}"/>
              </a:ext>
            </a:extLst>
          </p:cNvPr>
          <p:cNvSpPr/>
          <p:nvPr/>
        </p:nvSpPr>
        <p:spPr>
          <a:xfrm>
            <a:off x="8234759" y="2387600"/>
            <a:ext cx="172641" cy="1905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8552228D-D3F4-71ED-2330-76553D653F6E}"/>
              </a:ext>
            </a:extLst>
          </p:cNvPr>
          <p:cNvSpPr txBox="1"/>
          <p:nvPr/>
        </p:nvSpPr>
        <p:spPr>
          <a:xfrm>
            <a:off x="6292453" y="2374900"/>
            <a:ext cx="762000" cy="228600"/>
          </a:xfrm>
          <a:prstGeom prst="rect">
            <a:avLst/>
          </a:prstGeom>
          <a:noFill/>
        </p:spPr>
        <p:txBody>
          <a:bodyPr vert="horz" wrap="square" lIns="0" tIns="0" rIns="0" bIns="0" rtlCol="0" anchor="t">
            <a:noAutofit/>
          </a:bodyPr>
          <a:lstStyle/>
          <a:p>
            <a:pPr algn="r"/>
            <a:r>
              <a:rPr lang="en-US" sz="950" b="1">
                <a:solidFill>
                  <a:srgbClr val="F7F8FA"/>
                </a:solidFill>
                <a:latin typeface="Arial" panose="020B0604020202020204" pitchFamily="34" charset="0"/>
              </a:rPr>
              <a:t>-7,5%</a:t>
            </a:r>
          </a:p>
        </p:txBody>
      </p:sp>
      <p:sp>
        <p:nvSpPr>
          <p:cNvPr id="45" name="TextBox 44">
            <a:extLst>
              <a:ext uri="{FF2B5EF4-FFF2-40B4-BE49-F238E27FC236}">
                <a16:creationId xmlns:a16="http://schemas.microsoft.com/office/drawing/2014/main" id="{BF212E33-2D55-9C24-F2DB-5847C5B1368D}"/>
              </a:ext>
            </a:extLst>
          </p:cNvPr>
          <p:cNvSpPr txBox="1"/>
          <p:nvPr/>
        </p:nvSpPr>
        <p:spPr>
          <a:xfrm>
            <a:off x="3581400" y="2895600"/>
            <a:ext cx="18415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Suburban Cash</a:t>
            </a:r>
          </a:p>
        </p:txBody>
      </p:sp>
      <p:sp>
        <p:nvSpPr>
          <p:cNvPr id="46" name="TextBox 45">
            <a:extLst>
              <a:ext uri="{FF2B5EF4-FFF2-40B4-BE49-F238E27FC236}">
                <a16:creationId xmlns:a16="http://schemas.microsoft.com/office/drawing/2014/main" id="{C62AA266-A154-5203-5EC7-488DF2849E9D}"/>
              </a:ext>
            </a:extLst>
          </p:cNvPr>
          <p:cNvSpPr txBox="1"/>
          <p:nvPr/>
        </p:nvSpPr>
        <p:spPr>
          <a:xfrm>
            <a:off x="5473700" y="2895600"/>
            <a:ext cx="660400" cy="228600"/>
          </a:xfrm>
          <a:prstGeom prst="rect">
            <a:avLst/>
          </a:prstGeom>
          <a:noFill/>
        </p:spPr>
        <p:txBody>
          <a:bodyPr vert="horz" wrap="square" lIns="0" tIns="0" rIns="0" bIns="0" rtlCol="0" anchor="t">
            <a:noAutofit/>
          </a:bodyPr>
          <a:lstStyle/>
          <a:p>
            <a:pPr algn="r"/>
            <a:r>
              <a:rPr lang="en-US" sz="1050" b="1">
                <a:solidFill>
                  <a:srgbClr val="25D0A2"/>
                </a:solidFill>
                <a:latin typeface="Arial" panose="020B0604020202020204" pitchFamily="34" charset="0"/>
              </a:rPr>
              <a:t>+0,86</a:t>
            </a:r>
          </a:p>
        </p:txBody>
      </p:sp>
      <p:sp>
        <p:nvSpPr>
          <p:cNvPr id="47" name="Rectangle 46">
            <a:extLst>
              <a:ext uri="{FF2B5EF4-FFF2-40B4-BE49-F238E27FC236}">
                <a16:creationId xmlns:a16="http://schemas.microsoft.com/office/drawing/2014/main" id="{88EDC441-A8DC-22E7-FA6E-2F926B134F03}"/>
              </a:ext>
            </a:extLst>
          </p:cNvPr>
          <p:cNvSpPr/>
          <p:nvPr/>
        </p:nvSpPr>
        <p:spPr>
          <a:xfrm>
            <a:off x="8147288" y="2908300"/>
            <a:ext cx="260112" cy="1905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20818B0D-740C-636A-0616-165ACF39BE08}"/>
              </a:ext>
            </a:extLst>
          </p:cNvPr>
          <p:cNvSpPr txBox="1"/>
          <p:nvPr/>
        </p:nvSpPr>
        <p:spPr>
          <a:xfrm>
            <a:off x="6263296" y="2895600"/>
            <a:ext cx="762000" cy="228600"/>
          </a:xfrm>
          <a:prstGeom prst="rect">
            <a:avLst/>
          </a:prstGeom>
          <a:noFill/>
        </p:spPr>
        <p:txBody>
          <a:bodyPr vert="horz" wrap="square" lIns="0" tIns="0" rIns="0" bIns="0" rtlCol="0" anchor="t">
            <a:noAutofit/>
          </a:bodyPr>
          <a:lstStyle/>
          <a:p>
            <a:pPr algn="r"/>
            <a:r>
              <a:rPr lang="en-US" sz="950" b="1">
                <a:solidFill>
                  <a:srgbClr val="F7F8FA"/>
                </a:solidFill>
                <a:latin typeface="Arial" panose="020B0604020202020204" pitchFamily="34" charset="0"/>
              </a:rPr>
              <a:t>-11,3%</a:t>
            </a:r>
          </a:p>
        </p:txBody>
      </p:sp>
      <p:sp>
        <p:nvSpPr>
          <p:cNvPr id="49" name="TextBox 48">
            <a:extLst>
              <a:ext uri="{FF2B5EF4-FFF2-40B4-BE49-F238E27FC236}">
                <a16:creationId xmlns:a16="http://schemas.microsoft.com/office/drawing/2014/main" id="{AD2EAD53-FF2B-D8E2-B4F1-A2A3BCB31DB3}"/>
              </a:ext>
            </a:extLst>
          </p:cNvPr>
          <p:cNvSpPr txBox="1"/>
          <p:nvPr/>
        </p:nvSpPr>
        <p:spPr>
          <a:xfrm>
            <a:off x="3581400" y="3416300"/>
            <a:ext cx="18415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Rain Riders</a:t>
            </a:r>
          </a:p>
        </p:txBody>
      </p:sp>
      <p:sp>
        <p:nvSpPr>
          <p:cNvPr id="50" name="TextBox 49">
            <a:extLst>
              <a:ext uri="{FF2B5EF4-FFF2-40B4-BE49-F238E27FC236}">
                <a16:creationId xmlns:a16="http://schemas.microsoft.com/office/drawing/2014/main" id="{72448447-7F65-C7D1-4822-584E544F3D4C}"/>
              </a:ext>
            </a:extLst>
          </p:cNvPr>
          <p:cNvSpPr txBox="1"/>
          <p:nvPr/>
        </p:nvSpPr>
        <p:spPr>
          <a:xfrm>
            <a:off x="5473700" y="3416300"/>
            <a:ext cx="660400" cy="228600"/>
          </a:xfrm>
          <a:prstGeom prst="rect">
            <a:avLst/>
          </a:prstGeom>
          <a:noFill/>
        </p:spPr>
        <p:txBody>
          <a:bodyPr vert="horz" wrap="square" lIns="0" tIns="0" rIns="0" bIns="0" rtlCol="0" anchor="t">
            <a:noAutofit/>
          </a:bodyPr>
          <a:lstStyle/>
          <a:p>
            <a:pPr algn="r"/>
            <a:r>
              <a:rPr lang="en-US" sz="1050" b="1">
                <a:solidFill>
                  <a:srgbClr val="25D0A2"/>
                </a:solidFill>
                <a:latin typeface="Arial" panose="020B0604020202020204" pitchFamily="34" charset="0"/>
              </a:rPr>
              <a:t>+1,12</a:t>
            </a:r>
          </a:p>
        </p:txBody>
      </p:sp>
      <p:sp>
        <p:nvSpPr>
          <p:cNvPr id="51" name="Rectangle 50">
            <a:extLst>
              <a:ext uri="{FF2B5EF4-FFF2-40B4-BE49-F238E27FC236}">
                <a16:creationId xmlns:a16="http://schemas.microsoft.com/office/drawing/2014/main" id="{561BC198-C2E7-597B-1FED-8863877630F2}"/>
              </a:ext>
            </a:extLst>
          </p:cNvPr>
          <p:cNvSpPr/>
          <p:nvPr/>
        </p:nvSpPr>
        <p:spPr>
          <a:xfrm>
            <a:off x="7046992" y="3429000"/>
            <a:ext cx="1360408" cy="1905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A6D32BAA-8C49-E2A5-2351-F1280B939A08}"/>
              </a:ext>
            </a:extLst>
          </p:cNvPr>
          <p:cNvSpPr txBox="1"/>
          <p:nvPr/>
        </p:nvSpPr>
        <p:spPr>
          <a:xfrm>
            <a:off x="5896531" y="3416300"/>
            <a:ext cx="762000" cy="228600"/>
          </a:xfrm>
          <a:prstGeom prst="rect">
            <a:avLst/>
          </a:prstGeom>
          <a:noFill/>
        </p:spPr>
        <p:txBody>
          <a:bodyPr vert="horz" wrap="square" lIns="0" tIns="0" rIns="0" bIns="0" rtlCol="0" anchor="t">
            <a:noAutofit/>
          </a:bodyPr>
          <a:lstStyle/>
          <a:p>
            <a:pPr algn="r"/>
            <a:r>
              <a:rPr lang="en-US" sz="950" b="1">
                <a:solidFill>
                  <a:srgbClr val="F7F8FA"/>
                </a:solidFill>
                <a:latin typeface="Arial" panose="020B0604020202020204" pitchFamily="34" charset="0"/>
              </a:rPr>
              <a:t>-59,1%</a:t>
            </a:r>
          </a:p>
        </p:txBody>
      </p:sp>
      <p:sp>
        <p:nvSpPr>
          <p:cNvPr id="53" name="TextBox 52">
            <a:extLst>
              <a:ext uri="{FF2B5EF4-FFF2-40B4-BE49-F238E27FC236}">
                <a16:creationId xmlns:a16="http://schemas.microsoft.com/office/drawing/2014/main" id="{C6E9A22F-30B0-315B-5786-5A43A0CE37C1}"/>
              </a:ext>
            </a:extLst>
          </p:cNvPr>
          <p:cNvSpPr txBox="1"/>
          <p:nvPr/>
        </p:nvSpPr>
        <p:spPr>
          <a:xfrm>
            <a:off x="3581400" y="3937000"/>
            <a:ext cx="18415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Airport Business</a:t>
            </a:r>
          </a:p>
        </p:txBody>
      </p:sp>
      <p:sp>
        <p:nvSpPr>
          <p:cNvPr id="54" name="TextBox 53">
            <a:extLst>
              <a:ext uri="{FF2B5EF4-FFF2-40B4-BE49-F238E27FC236}">
                <a16:creationId xmlns:a16="http://schemas.microsoft.com/office/drawing/2014/main" id="{31547180-36BE-0F7F-44D3-95A8C847F90B}"/>
              </a:ext>
            </a:extLst>
          </p:cNvPr>
          <p:cNvSpPr txBox="1"/>
          <p:nvPr/>
        </p:nvSpPr>
        <p:spPr>
          <a:xfrm>
            <a:off x="5473700" y="3937000"/>
            <a:ext cx="660400" cy="228600"/>
          </a:xfrm>
          <a:prstGeom prst="rect">
            <a:avLst/>
          </a:prstGeom>
          <a:noFill/>
        </p:spPr>
        <p:txBody>
          <a:bodyPr vert="horz" wrap="square" lIns="0" tIns="0" rIns="0" bIns="0" rtlCol="0" anchor="t">
            <a:noAutofit/>
          </a:bodyPr>
          <a:lstStyle/>
          <a:p>
            <a:pPr algn="r"/>
            <a:r>
              <a:rPr lang="en-US" sz="1050" b="1">
                <a:solidFill>
                  <a:srgbClr val="25D0A2"/>
                </a:solidFill>
                <a:latin typeface="Arial" panose="020B0604020202020204" pitchFamily="34" charset="0"/>
              </a:rPr>
              <a:t>+0,79</a:t>
            </a:r>
          </a:p>
        </p:txBody>
      </p:sp>
      <p:sp>
        <p:nvSpPr>
          <p:cNvPr id="55" name="Rectangle 54">
            <a:extLst>
              <a:ext uri="{FF2B5EF4-FFF2-40B4-BE49-F238E27FC236}">
                <a16:creationId xmlns:a16="http://schemas.microsoft.com/office/drawing/2014/main" id="{6AD5FB43-36D6-8DFF-EE27-E5DFA6BDE452}"/>
              </a:ext>
            </a:extLst>
          </p:cNvPr>
          <p:cNvSpPr/>
          <p:nvPr/>
        </p:nvSpPr>
        <p:spPr>
          <a:xfrm>
            <a:off x="6952615" y="3949700"/>
            <a:ext cx="1454785" cy="1905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2AE35DC2-93BE-D669-220D-16948C3F900D}"/>
              </a:ext>
            </a:extLst>
          </p:cNvPr>
          <p:cNvSpPr txBox="1"/>
          <p:nvPr/>
        </p:nvSpPr>
        <p:spPr>
          <a:xfrm>
            <a:off x="5865072" y="3937000"/>
            <a:ext cx="762000" cy="228600"/>
          </a:xfrm>
          <a:prstGeom prst="rect">
            <a:avLst/>
          </a:prstGeom>
          <a:noFill/>
        </p:spPr>
        <p:txBody>
          <a:bodyPr vert="horz" wrap="square" lIns="0" tIns="0" rIns="0" bIns="0" rtlCol="0" anchor="t">
            <a:noAutofit/>
          </a:bodyPr>
          <a:lstStyle/>
          <a:p>
            <a:pPr algn="r"/>
            <a:r>
              <a:rPr lang="en-US" sz="950" b="1">
                <a:solidFill>
                  <a:srgbClr val="F7F8FA"/>
                </a:solidFill>
                <a:latin typeface="Arial" panose="020B0604020202020204" pitchFamily="34" charset="0"/>
              </a:rPr>
              <a:t>-63,2%</a:t>
            </a:r>
          </a:p>
        </p:txBody>
      </p:sp>
      <p:sp>
        <p:nvSpPr>
          <p:cNvPr id="57" name="TextBox 56">
            <a:extLst>
              <a:ext uri="{FF2B5EF4-FFF2-40B4-BE49-F238E27FC236}">
                <a16:creationId xmlns:a16="http://schemas.microsoft.com/office/drawing/2014/main" id="{77A3A388-0605-D859-0EC3-262568BD7D13}"/>
              </a:ext>
            </a:extLst>
          </p:cNvPr>
          <p:cNvSpPr txBox="1"/>
          <p:nvPr/>
        </p:nvSpPr>
        <p:spPr>
          <a:xfrm>
            <a:off x="3581400" y="4457700"/>
            <a:ext cx="18415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Urban Regulars</a:t>
            </a:r>
          </a:p>
        </p:txBody>
      </p:sp>
      <p:sp>
        <p:nvSpPr>
          <p:cNvPr id="58" name="TextBox 57">
            <a:extLst>
              <a:ext uri="{FF2B5EF4-FFF2-40B4-BE49-F238E27FC236}">
                <a16:creationId xmlns:a16="http://schemas.microsoft.com/office/drawing/2014/main" id="{8BF9564B-BB1A-F84E-F842-3AAFD8891358}"/>
              </a:ext>
            </a:extLst>
          </p:cNvPr>
          <p:cNvSpPr txBox="1"/>
          <p:nvPr/>
        </p:nvSpPr>
        <p:spPr>
          <a:xfrm>
            <a:off x="5473700" y="4457700"/>
            <a:ext cx="660400" cy="228600"/>
          </a:xfrm>
          <a:prstGeom prst="rect">
            <a:avLst/>
          </a:prstGeom>
          <a:noFill/>
        </p:spPr>
        <p:txBody>
          <a:bodyPr vert="horz" wrap="square" lIns="0" tIns="0" rIns="0" bIns="0" rtlCol="0" anchor="t">
            <a:noAutofit/>
          </a:bodyPr>
          <a:lstStyle/>
          <a:p>
            <a:pPr algn="r"/>
            <a:r>
              <a:rPr lang="en-US" sz="1050" b="1">
                <a:solidFill>
                  <a:srgbClr val="25D0A2"/>
                </a:solidFill>
                <a:latin typeface="Arial" panose="020B0604020202020204" pitchFamily="34" charset="0"/>
              </a:rPr>
              <a:t>+0,84</a:t>
            </a:r>
          </a:p>
        </p:txBody>
      </p:sp>
      <p:sp>
        <p:nvSpPr>
          <p:cNvPr id="59" name="Rectangle 58">
            <a:extLst>
              <a:ext uri="{FF2B5EF4-FFF2-40B4-BE49-F238E27FC236}">
                <a16:creationId xmlns:a16="http://schemas.microsoft.com/office/drawing/2014/main" id="{D5971F47-3F1A-AE4E-C11A-F06BD445ECB4}"/>
              </a:ext>
            </a:extLst>
          </p:cNvPr>
          <p:cNvSpPr/>
          <p:nvPr/>
        </p:nvSpPr>
        <p:spPr>
          <a:xfrm>
            <a:off x="6724729" y="4470400"/>
            <a:ext cx="1682671" cy="1905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7718E201-222B-12A6-999B-97D0F3723C17}"/>
              </a:ext>
            </a:extLst>
          </p:cNvPr>
          <p:cNvSpPr txBox="1"/>
          <p:nvPr/>
        </p:nvSpPr>
        <p:spPr>
          <a:xfrm>
            <a:off x="5789110" y="4457700"/>
            <a:ext cx="762000" cy="228600"/>
          </a:xfrm>
          <a:prstGeom prst="rect">
            <a:avLst/>
          </a:prstGeom>
          <a:noFill/>
        </p:spPr>
        <p:txBody>
          <a:bodyPr vert="horz" wrap="square" lIns="0" tIns="0" rIns="0" bIns="0" rtlCol="0" anchor="t">
            <a:noAutofit/>
          </a:bodyPr>
          <a:lstStyle/>
          <a:p>
            <a:pPr algn="r"/>
            <a:r>
              <a:rPr lang="en-US" sz="950" b="1">
                <a:solidFill>
                  <a:srgbClr val="F7F8FA"/>
                </a:solidFill>
                <a:latin typeface="Arial" panose="020B0604020202020204" pitchFamily="34" charset="0"/>
              </a:rPr>
              <a:t>-73,1%</a:t>
            </a:r>
          </a:p>
        </p:txBody>
      </p:sp>
      <p:sp>
        <p:nvSpPr>
          <p:cNvPr id="61" name="Rectangle: Rounded Corners 60">
            <a:extLst>
              <a:ext uri="{FF2B5EF4-FFF2-40B4-BE49-F238E27FC236}">
                <a16:creationId xmlns:a16="http://schemas.microsoft.com/office/drawing/2014/main" id="{1DC3CFE1-BD68-8341-667B-7D4E8F15A320}"/>
              </a:ext>
            </a:extLst>
          </p:cNvPr>
          <p:cNvSpPr/>
          <p:nvPr/>
        </p:nvSpPr>
        <p:spPr>
          <a:xfrm>
            <a:off x="736600" y="5359400"/>
            <a:ext cx="7670800" cy="558800"/>
          </a:xfrm>
          <a:prstGeom prst="roundRect">
            <a:avLst/>
          </a:prstGeom>
          <a:solidFill>
            <a:srgbClr val="17274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2A0B9FDD-58D2-A0A9-2032-C22A415D8B5C}"/>
              </a:ext>
            </a:extLst>
          </p:cNvPr>
          <p:cNvSpPr txBox="1"/>
          <p:nvPr/>
        </p:nvSpPr>
        <p:spPr>
          <a:xfrm>
            <a:off x="965200" y="5524500"/>
            <a:ext cx="7239000" cy="254000"/>
          </a:xfrm>
          <a:prstGeom prst="rect">
            <a:avLst/>
          </a:prstGeom>
          <a:noFill/>
        </p:spPr>
        <p:txBody>
          <a:bodyPr vert="horz" wrap="square" lIns="0" tIns="0" rIns="0" bIns="0" rtlCol="0" anchor="t">
            <a:noAutofit/>
          </a:bodyPr>
          <a:lstStyle/>
          <a:p>
            <a:r>
              <a:rPr lang="en-US" sz="1400" b="1">
                <a:solidFill>
                  <a:srgbClr val="F7F8FA"/>
                </a:solidFill>
                <a:latin typeface="Arial" panose="020B0604020202020204" pitchFamily="34" charset="0"/>
              </a:rPr>
              <a:t>Response ≠ Profit  →  cần CATE cấp user + Expected Value</a:t>
            </a:r>
          </a:p>
        </p:txBody>
      </p:sp>
      <p:sp>
        <p:nvSpPr>
          <p:cNvPr id="63" name="TextBox 62">
            <a:extLst>
              <a:ext uri="{FF2B5EF4-FFF2-40B4-BE49-F238E27FC236}">
                <a16:creationId xmlns:a16="http://schemas.microsoft.com/office/drawing/2014/main" id="{98C02AF2-10DE-0872-EB2E-F2B6DA2BA7A3}"/>
              </a:ext>
            </a:extLst>
          </p:cNvPr>
          <p:cNvSpPr txBox="1"/>
          <p:nvPr/>
        </p:nvSpPr>
        <p:spPr>
          <a:xfrm>
            <a:off x="3581400" y="5054600"/>
            <a:ext cx="4826000" cy="177800"/>
          </a:xfrm>
          <a:prstGeom prst="rect">
            <a:avLst/>
          </a:prstGeom>
          <a:noFill/>
        </p:spPr>
        <p:txBody>
          <a:bodyPr vert="horz" wrap="square" lIns="0" tIns="0" rIns="0" bIns="0" rtlCol="0" anchor="t">
            <a:noAutofit/>
          </a:bodyPr>
          <a:lstStyle/>
          <a:p>
            <a:pPr algn="r"/>
            <a:r>
              <a:rPr lang="en-US" sz="820">
                <a:solidFill>
                  <a:srgbClr val="B7C2D1"/>
                </a:solidFill>
                <a:latin typeface="Arial" panose="020B0604020202020204" pitchFamily="34" charset="0"/>
              </a:rPr>
              <a:t>ATE adjusted từ randomized outcome; segment metrics dùng synthetic Y0/Y1 benchmark.</a:t>
            </a:r>
          </a:p>
        </p:txBody>
      </p:sp>
    </p:spTree>
    <p:extLst>
      <p:ext uri="{BB962C8B-B14F-4D97-AF65-F5344CB8AC3E}">
        <p14:creationId xmlns:p14="http://schemas.microsoft.com/office/powerpoint/2010/main" val="3916291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8C6D080-A199-F355-65C4-DE3D9FE8C4AD}"/>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F01A5468-CC9E-34FD-B53D-355F7C691CC0}"/>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900" b="1">
                <a:solidFill>
                  <a:srgbClr val="F7F8FA"/>
                </a:solidFill>
                <a:latin typeface="Arial" panose="020B0604020202020204" pitchFamily="34" charset="0"/>
              </a:rPr>
              <a:t>R-Learner-style dẫn đầu về Qini</a:t>
            </a:r>
          </a:p>
        </p:txBody>
      </p:sp>
      <p:sp>
        <p:nvSpPr>
          <p:cNvPr id="22" name="SlideSubtitle">
            <a:extLst>
              <a:ext uri="{FF2B5EF4-FFF2-40B4-BE49-F238E27FC236}">
                <a16:creationId xmlns:a16="http://schemas.microsoft.com/office/drawing/2014/main" id="{21EE2EE6-53CB-34ED-9C59-55253B2F82A0}"/>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So sánh 5 uplift learners trên cùng held-out test set gồm 4.000 khách hàng</a:t>
            </a:r>
          </a:p>
        </p:txBody>
      </p:sp>
      <p:sp>
        <p:nvSpPr>
          <p:cNvPr id="23" name="Rectangle 22">
            <a:extLst>
              <a:ext uri="{FF2B5EF4-FFF2-40B4-BE49-F238E27FC236}">
                <a16:creationId xmlns:a16="http://schemas.microsoft.com/office/drawing/2014/main" id="{609CA441-CAB9-EF61-0D59-52ED1B9E6B1A}"/>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0928ADC9-53AC-D1A2-C413-F65D9F20344A}"/>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6DF9BE8-A6C3-1676-B63D-FC8A96E84DD8}"/>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6" name="Rectangle 25">
            <a:extLst>
              <a:ext uri="{FF2B5EF4-FFF2-40B4-BE49-F238E27FC236}">
                <a16:creationId xmlns:a16="http://schemas.microsoft.com/office/drawing/2014/main" id="{BDC9F3B1-51A9-CB57-B8BE-8F4FA3BE8D87}"/>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D40929FF-D7F2-A96C-91EF-5EA53EF5685A}"/>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8" name="TextBox 27">
            <a:extLst>
              <a:ext uri="{FF2B5EF4-FFF2-40B4-BE49-F238E27FC236}">
                <a16:creationId xmlns:a16="http://schemas.microsoft.com/office/drawing/2014/main" id="{612B5799-591D-9A73-6676-211A41F41F41}"/>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04 / 07</a:t>
            </a:r>
          </a:p>
        </p:txBody>
      </p:sp>
      <p:sp>
        <p:nvSpPr>
          <p:cNvPr id="29" name="TextBox 28">
            <a:extLst>
              <a:ext uri="{FF2B5EF4-FFF2-40B4-BE49-F238E27FC236}">
                <a16:creationId xmlns:a16="http://schemas.microsoft.com/office/drawing/2014/main" id="{AA66FD9A-0DA3-C393-4E9F-F0879AFD10CE}"/>
              </a:ext>
            </a:extLst>
          </p:cNvPr>
          <p:cNvSpPr txBox="1"/>
          <p:nvPr/>
        </p:nvSpPr>
        <p:spPr>
          <a:xfrm>
            <a:off x="736600" y="1549400"/>
            <a:ext cx="2794000" cy="279400"/>
          </a:xfrm>
          <a:prstGeom prst="rect">
            <a:avLst/>
          </a:prstGeom>
          <a:noFill/>
        </p:spPr>
        <p:txBody>
          <a:bodyPr vert="horz" wrap="square" lIns="0" tIns="0" rIns="0" bIns="0" rtlCol="0" anchor="t">
            <a:noAutofit/>
          </a:bodyPr>
          <a:lstStyle/>
          <a:p>
            <a:r>
              <a:rPr lang="en-US" sz="1200" b="1">
                <a:solidFill>
                  <a:srgbClr val="29B8E8"/>
                </a:solidFill>
                <a:latin typeface="Arial" panose="020B0604020202020204" pitchFamily="34" charset="0"/>
              </a:rPr>
              <a:t>Qini Coefficient</a:t>
            </a:r>
          </a:p>
        </p:txBody>
      </p:sp>
      <p:sp>
        <p:nvSpPr>
          <p:cNvPr id="30" name="Rectangle 29">
            <a:extLst>
              <a:ext uri="{FF2B5EF4-FFF2-40B4-BE49-F238E27FC236}">
                <a16:creationId xmlns:a16="http://schemas.microsoft.com/office/drawing/2014/main" id="{1703E435-D29E-896E-FF1D-74045E500674}"/>
              </a:ext>
            </a:extLst>
          </p:cNvPr>
          <p:cNvSpPr/>
          <p:nvPr/>
        </p:nvSpPr>
        <p:spPr>
          <a:xfrm>
            <a:off x="736600" y="1854200"/>
            <a:ext cx="2794000" cy="254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3D53135D-40F7-3930-0019-3A9307E1660D}"/>
              </a:ext>
            </a:extLst>
          </p:cNvPr>
          <p:cNvSpPr txBox="1"/>
          <p:nvPr/>
        </p:nvSpPr>
        <p:spPr>
          <a:xfrm>
            <a:off x="736600" y="2235200"/>
            <a:ext cx="1168400" cy="228600"/>
          </a:xfrm>
          <a:prstGeom prst="rect">
            <a:avLst/>
          </a:prstGeom>
          <a:noFill/>
        </p:spPr>
        <p:txBody>
          <a:bodyPr vert="horz" wrap="square" lIns="0" tIns="0" rIns="0" bIns="0" rtlCol="0" anchor="t">
            <a:noAutofit/>
          </a:bodyPr>
          <a:lstStyle/>
          <a:p>
            <a:r>
              <a:rPr lang="en-US" sz="1050" b="1">
                <a:solidFill>
                  <a:srgbClr val="F7F8FA"/>
                </a:solidFill>
                <a:latin typeface="Arial" panose="020B0604020202020204" pitchFamily="34" charset="0"/>
              </a:rPr>
              <a:t>R-Learner</a:t>
            </a:r>
          </a:p>
        </p:txBody>
      </p:sp>
      <p:sp>
        <p:nvSpPr>
          <p:cNvPr id="32" name="Rectangle 31">
            <a:extLst>
              <a:ext uri="{FF2B5EF4-FFF2-40B4-BE49-F238E27FC236}">
                <a16:creationId xmlns:a16="http://schemas.microsoft.com/office/drawing/2014/main" id="{6A3B49AE-C9C6-D54A-ED6B-96ABC47CF9DB}"/>
              </a:ext>
            </a:extLst>
          </p:cNvPr>
          <p:cNvSpPr/>
          <p:nvPr/>
        </p:nvSpPr>
        <p:spPr>
          <a:xfrm>
            <a:off x="2032000" y="2247900"/>
            <a:ext cx="1217676" cy="2032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806F9787-F699-D330-8090-95805892F0CB}"/>
              </a:ext>
            </a:extLst>
          </p:cNvPr>
          <p:cNvSpPr txBox="1"/>
          <p:nvPr/>
        </p:nvSpPr>
        <p:spPr>
          <a:xfrm>
            <a:off x="3313176" y="2235200"/>
            <a:ext cx="609600" cy="228600"/>
          </a:xfrm>
          <a:prstGeom prst="rect">
            <a:avLst/>
          </a:prstGeom>
          <a:noFill/>
        </p:spPr>
        <p:txBody>
          <a:bodyPr vert="horz" wrap="square" lIns="0" tIns="0" rIns="0" bIns="0" rtlCol="0" anchor="t">
            <a:noAutofit/>
          </a:bodyPr>
          <a:lstStyle/>
          <a:p>
            <a:r>
              <a:rPr lang="en-US" sz="950" b="1">
                <a:solidFill>
                  <a:srgbClr val="29B8E8"/>
                </a:solidFill>
                <a:latin typeface="Arial" panose="020B0604020202020204" pitchFamily="34" charset="0"/>
              </a:rPr>
              <a:t>0,188</a:t>
            </a:r>
          </a:p>
        </p:txBody>
      </p:sp>
      <p:sp>
        <p:nvSpPr>
          <p:cNvPr id="34" name="TextBox 33">
            <a:extLst>
              <a:ext uri="{FF2B5EF4-FFF2-40B4-BE49-F238E27FC236}">
                <a16:creationId xmlns:a16="http://schemas.microsoft.com/office/drawing/2014/main" id="{F721386E-40BB-6D65-FA87-789C175CE701}"/>
              </a:ext>
            </a:extLst>
          </p:cNvPr>
          <p:cNvSpPr txBox="1"/>
          <p:nvPr/>
        </p:nvSpPr>
        <p:spPr>
          <a:xfrm>
            <a:off x="736600" y="2768600"/>
            <a:ext cx="11684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S-Learner</a:t>
            </a:r>
          </a:p>
        </p:txBody>
      </p:sp>
      <p:sp>
        <p:nvSpPr>
          <p:cNvPr id="35" name="Rectangle 34">
            <a:extLst>
              <a:ext uri="{FF2B5EF4-FFF2-40B4-BE49-F238E27FC236}">
                <a16:creationId xmlns:a16="http://schemas.microsoft.com/office/drawing/2014/main" id="{351C6AAE-929E-0BCF-C48A-A77B733F404C}"/>
              </a:ext>
            </a:extLst>
          </p:cNvPr>
          <p:cNvSpPr/>
          <p:nvPr/>
        </p:nvSpPr>
        <p:spPr>
          <a:xfrm>
            <a:off x="2032000" y="2781300"/>
            <a:ext cx="990981" cy="2032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B16FCB6D-B1CA-8A45-059D-DFC31E0425D0}"/>
              </a:ext>
            </a:extLst>
          </p:cNvPr>
          <p:cNvSpPr txBox="1"/>
          <p:nvPr/>
        </p:nvSpPr>
        <p:spPr>
          <a:xfrm>
            <a:off x="3086481" y="2768600"/>
            <a:ext cx="609600" cy="228600"/>
          </a:xfrm>
          <a:prstGeom prst="rect">
            <a:avLst/>
          </a:prstGeom>
          <a:noFill/>
        </p:spPr>
        <p:txBody>
          <a:bodyPr vert="horz" wrap="square" lIns="0" tIns="0" rIns="0" bIns="0" rtlCol="0" anchor="t">
            <a:noAutofit/>
          </a:bodyPr>
          <a:lstStyle/>
          <a:p>
            <a:r>
              <a:rPr lang="en-US" sz="950" b="1">
                <a:solidFill>
                  <a:srgbClr val="25D0A2"/>
                </a:solidFill>
                <a:latin typeface="Arial" panose="020B0604020202020204" pitchFamily="34" charset="0"/>
              </a:rPr>
              <a:t>0,153</a:t>
            </a:r>
          </a:p>
        </p:txBody>
      </p:sp>
      <p:sp>
        <p:nvSpPr>
          <p:cNvPr id="37" name="TextBox 36">
            <a:extLst>
              <a:ext uri="{FF2B5EF4-FFF2-40B4-BE49-F238E27FC236}">
                <a16:creationId xmlns:a16="http://schemas.microsoft.com/office/drawing/2014/main" id="{98F88498-2033-F507-F5C7-2EAD0A138FCF}"/>
              </a:ext>
            </a:extLst>
          </p:cNvPr>
          <p:cNvSpPr txBox="1"/>
          <p:nvPr/>
        </p:nvSpPr>
        <p:spPr>
          <a:xfrm>
            <a:off x="736600" y="3302000"/>
            <a:ext cx="11684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DR-Learner</a:t>
            </a:r>
          </a:p>
        </p:txBody>
      </p:sp>
      <p:sp>
        <p:nvSpPr>
          <p:cNvPr id="38" name="Rectangle 37">
            <a:extLst>
              <a:ext uri="{FF2B5EF4-FFF2-40B4-BE49-F238E27FC236}">
                <a16:creationId xmlns:a16="http://schemas.microsoft.com/office/drawing/2014/main" id="{B7967DB3-6EF6-DAD8-5C23-632A669D4EAB}"/>
              </a:ext>
            </a:extLst>
          </p:cNvPr>
          <p:cNvSpPr/>
          <p:nvPr/>
        </p:nvSpPr>
        <p:spPr>
          <a:xfrm>
            <a:off x="2032000" y="3314700"/>
            <a:ext cx="893826" cy="203200"/>
          </a:xfrm>
          <a:prstGeom prst="rect">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58379B58-EFDD-D6BE-BFA4-DC833D78E03C}"/>
              </a:ext>
            </a:extLst>
          </p:cNvPr>
          <p:cNvSpPr txBox="1"/>
          <p:nvPr/>
        </p:nvSpPr>
        <p:spPr>
          <a:xfrm>
            <a:off x="2989326" y="3302000"/>
            <a:ext cx="609600" cy="228600"/>
          </a:xfrm>
          <a:prstGeom prst="rect">
            <a:avLst/>
          </a:prstGeom>
          <a:noFill/>
        </p:spPr>
        <p:txBody>
          <a:bodyPr vert="horz" wrap="square" lIns="0" tIns="0" rIns="0" bIns="0" rtlCol="0" anchor="t">
            <a:noAutofit/>
          </a:bodyPr>
          <a:lstStyle/>
          <a:p>
            <a:r>
              <a:rPr lang="en-US" sz="950" b="1">
                <a:solidFill>
                  <a:srgbClr val="E978C6"/>
                </a:solidFill>
                <a:latin typeface="Arial" panose="020B0604020202020204" pitchFamily="34" charset="0"/>
              </a:rPr>
              <a:t>0,138</a:t>
            </a:r>
          </a:p>
        </p:txBody>
      </p:sp>
      <p:sp>
        <p:nvSpPr>
          <p:cNvPr id="40" name="TextBox 39">
            <a:extLst>
              <a:ext uri="{FF2B5EF4-FFF2-40B4-BE49-F238E27FC236}">
                <a16:creationId xmlns:a16="http://schemas.microsoft.com/office/drawing/2014/main" id="{87833720-58A2-4018-56D1-026A2FB1DD34}"/>
              </a:ext>
            </a:extLst>
          </p:cNvPr>
          <p:cNvSpPr txBox="1"/>
          <p:nvPr/>
        </p:nvSpPr>
        <p:spPr>
          <a:xfrm>
            <a:off x="736600" y="3835400"/>
            <a:ext cx="11684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X-Learner</a:t>
            </a:r>
          </a:p>
        </p:txBody>
      </p:sp>
      <p:sp>
        <p:nvSpPr>
          <p:cNvPr id="41" name="Rectangle 40">
            <a:extLst>
              <a:ext uri="{FF2B5EF4-FFF2-40B4-BE49-F238E27FC236}">
                <a16:creationId xmlns:a16="http://schemas.microsoft.com/office/drawing/2014/main" id="{512AEE43-4F2B-D529-A4A3-3AFA3820DB9B}"/>
              </a:ext>
            </a:extLst>
          </p:cNvPr>
          <p:cNvSpPr/>
          <p:nvPr/>
        </p:nvSpPr>
        <p:spPr>
          <a:xfrm>
            <a:off x="2032000" y="3848100"/>
            <a:ext cx="246126" cy="2032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B6C89F7D-7A9E-7580-A054-049F50696D61}"/>
              </a:ext>
            </a:extLst>
          </p:cNvPr>
          <p:cNvSpPr txBox="1"/>
          <p:nvPr/>
        </p:nvSpPr>
        <p:spPr>
          <a:xfrm>
            <a:off x="2341626" y="3835400"/>
            <a:ext cx="609600" cy="228600"/>
          </a:xfrm>
          <a:prstGeom prst="rect">
            <a:avLst/>
          </a:prstGeom>
          <a:noFill/>
        </p:spPr>
        <p:txBody>
          <a:bodyPr vert="horz" wrap="square" lIns="0" tIns="0" rIns="0" bIns="0" rtlCol="0" anchor="t">
            <a:noAutofit/>
          </a:bodyPr>
          <a:lstStyle/>
          <a:p>
            <a:r>
              <a:rPr lang="en-US" sz="950" b="1">
                <a:solidFill>
                  <a:srgbClr val="FFC000"/>
                </a:solidFill>
                <a:latin typeface="Arial" panose="020B0604020202020204" pitchFamily="34" charset="0"/>
              </a:rPr>
              <a:t>0,038</a:t>
            </a:r>
          </a:p>
        </p:txBody>
      </p:sp>
      <p:sp>
        <p:nvSpPr>
          <p:cNvPr id="43" name="TextBox 42">
            <a:extLst>
              <a:ext uri="{FF2B5EF4-FFF2-40B4-BE49-F238E27FC236}">
                <a16:creationId xmlns:a16="http://schemas.microsoft.com/office/drawing/2014/main" id="{34CA80F6-AF56-A2D5-F79B-74DF39E94A8E}"/>
              </a:ext>
            </a:extLst>
          </p:cNvPr>
          <p:cNvSpPr txBox="1"/>
          <p:nvPr/>
        </p:nvSpPr>
        <p:spPr>
          <a:xfrm>
            <a:off x="736600" y="4368800"/>
            <a:ext cx="1168400" cy="228600"/>
          </a:xfrm>
          <a:prstGeom prst="rect">
            <a:avLst/>
          </a:prstGeom>
          <a:noFill/>
        </p:spPr>
        <p:txBody>
          <a:bodyPr vert="horz" wrap="square" lIns="0" tIns="0" rIns="0" bIns="0" rtlCol="0" anchor="t">
            <a:noAutofit/>
          </a:bodyPr>
          <a:lstStyle/>
          <a:p>
            <a:r>
              <a:rPr lang="en-US" sz="1050">
                <a:solidFill>
                  <a:srgbClr val="F7F8FA"/>
                </a:solidFill>
                <a:latin typeface="Arial" panose="020B0604020202020204" pitchFamily="34" charset="0"/>
              </a:rPr>
              <a:t>T-Learner</a:t>
            </a:r>
          </a:p>
        </p:txBody>
      </p:sp>
      <p:sp>
        <p:nvSpPr>
          <p:cNvPr id="44" name="Rectangle 43">
            <a:extLst>
              <a:ext uri="{FF2B5EF4-FFF2-40B4-BE49-F238E27FC236}">
                <a16:creationId xmlns:a16="http://schemas.microsoft.com/office/drawing/2014/main" id="{E38EF85B-486C-548E-EE1D-648D3FF35709}"/>
              </a:ext>
            </a:extLst>
          </p:cNvPr>
          <p:cNvSpPr/>
          <p:nvPr/>
        </p:nvSpPr>
        <p:spPr>
          <a:xfrm>
            <a:off x="2032000" y="4381500"/>
            <a:ext cx="1486263" cy="203200"/>
          </a:xfrm>
          <a:prstGeom prst="rect">
            <a:avLst/>
          </a:prstGeom>
          <a:solidFill>
            <a:srgbClr val="FF5D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9014654-B283-12AA-7C0B-756825C82857}"/>
              </a:ext>
            </a:extLst>
          </p:cNvPr>
          <p:cNvSpPr txBox="1"/>
          <p:nvPr/>
        </p:nvSpPr>
        <p:spPr>
          <a:xfrm>
            <a:off x="3581763" y="4368800"/>
            <a:ext cx="609600" cy="228600"/>
          </a:xfrm>
          <a:prstGeom prst="rect">
            <a:avLst/>
          </a:prstGeom>
          <a:noFill/>
        </p:spPr>
        <p:txBody>
          <a:bodyPr vert="horz" wrap="square" lIns="0" tIns="0" rIns="0" bIns="0" rtlCol="0" anchor="t">
            <a:noAutofit/>
          </a:bodyPr>
          <a:lstStyle/>
          <a:p>
            <a:r>
              <a:rPr lang="en-US" sz="950" b="1">
                <a:solidFill>
                  <a:srgbClr val="FF5D66"/>
                </a:solidFill>
                <a:latin typeface="Arial" panose="020B0604020202020204" pitchFamily="34" charset="0"/>
              </a:rPr>
              <a:t>-0,320</a:t>
            </a:r>
          </a:p>
        </p:txBody>
      </p:sp>
      <p:pic>
        <p:nvPicPr>
          <p:cNvPr id="47" name="Picture 46">
            <a:extLst>
              <a:ext uri="{FF2B5EF4-FFF2-40B4-BE49-F238E27FC236}">
                <a16:creationId xmlns:a16="http://schemas.microsoft.com/office/drawing/2014/main" id="{1B88C6E6-161A-9959-F7EB-39EA7CCD319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00500" y="1714500"/>
            <a:ext cx="4699000" cy="3302000"/>
          </a:xfrm>
          <a:prstGeom prst="rect">
            <a:avLst/>
          </a:prstGeom>
        </p:spPr>
      </p:pic>
      <p:sp>
        <p:nvSpPr>
          <p:cNvPr id="48" name="Rectangle: Rounded Corners 47">
            <a:extLst>
              <a:ext uri="{FF2B5EF4-FFF2-40B4-BE49-F238E27FC236}">
                <a16:creationId xmlns:a16="http://schemas.microsoft.com/office/drawing/2014/main" id="{BCA3BA64-C525-B561-D85C-6EAD5D933446}"/>
              </a:ext>
            </a:extLst>
          </p:cNvPr>
          <p:cNvSpPr/>
          <p:nvPr/>
        </p:nvSpPr>
        <p:spPr>
          <a:xfrm>
            <a:off x="736600" y="5397500"/>
            <a:ext cx="7962900" cy="533400"/>
          </a:xfrm>
          <a:prstGeom prst="roundRect">
            <a:avLst/>
          </a:prstGeom>
          <a:solidFill>
            <a:srgbClr val="17274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236369A2-BD39-B603-45F6-74C924FF8201}"/>
              </a:ext>
            </a:extLst>
          </p:cNvPr>
          <p:cNvSpPr txBox="1"/>
          <p:nvPr/>
        </p:nvSpPr>
        <p:spPr>
          <a:xfrm>
            <a:off x="965200" y="5549900"/>
            <a:ext cx="7493000" cy="254000"/>
          </a:xfrm>
          <a:prstGeom prst="rect">
            <a:avLst/>
          </a:prstGeom>
          <a:noFill/>
        </p:spPr>
        <p:txBody>
          <a:bodyPr vert="horz" wrap="square" lIns="0" tIns="0" rIns="0" bIns="0" rtlCol="0" anchor="t">
            <a:noAutofit/>
          </a:bodyPr>
          <a:lstStyle/>
          <a:p>
            <a:r>
              <a:rPr lang="vi-VN" sz="1450" b="1">
                <a:solidFill>
                  <a:srgbClr val="F7F8FA"/>
                </a:solidFill>
                <a:latin typeface="Arial" panose="020B0604020202020204" pitchFamily="34" charset="0"/>
              </a:rPr>
              <a:t>Qini 0,188: ranking tốt hơn random và cao nhất trong các model đã thử.</a:t>
            </a:r>
            <a:endParaRPr lang="en-US" sz="1450" b="1">
              <a:solidFill>
                <a:srgbClr val="F7F8FA"/>
              </a:solidFill>
              <a:latin typeface="Arial" panose="020B0604020202020204" pitchFamily="34" charset="0"/>
            </a:endParaRPr>
          </a:p>
        </p:txBody>
      </p:sp>
    </p:spTree>
    <p:extLst>
      <p:ext uri="{BB962C8B-B14F-4D97-AF65-F5344CB8AC3E}">
        <p14:creationId xmlns:p14="http://schemas.microsoft.com/office/powerpoint/2010/main" val="249728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AB99EE34-D140-66BD-239D-C597656E734C}"/>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A50E3BD2-F00C-4281-23FF-AE924F6C4201}"/>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900" b="1">
                <a:solidFill>
                  <a:srgbClr val="F7F8FA"/>
                </a:solidFill>
                <a:latin typeface="Arial" panose="020B0604020202020204" pitchFamily="34" charset="0"/>
              </a:rPr>
              <a:t>Expected Value biến CATE thành quyết định</a:t>
            </a:r>
          </a:p>
        </p:txBody>
      </p:sp>
      <p:sp>
        <p:nvSpPr>
          <p:cNvPr id="21" name="SlideSubtitle">
            <a:extLst>
              <a:ext uri="{FF2B5EF4-FFF2-40B4-BE49-F238E27FC236}">
                <a16:creationId xmlns:a16="http://schemas.microsoft.com/office/drawing/2014/main" id="{493C4CA6-2846-D076-98F4-D127CEBA6CB0}"/>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User phản ứng mạnh vẫn có thể lỗ nếu voucher burn lớn</a:t>
            </a:r>
          </a:p>
        </p:txBody>
      </p:sp>
      <p:sp>
        <p:nvSpPr>
          <p:cNvPr id="22" name="Rectangle 21">
            <a:extLst>
              <a:ext uri="{FF2B5EF4-FFF2-40B4-BE49-F238E27FC236}">
                <a16:creationId xmlns:a16="http://schemas.microsoft.com/office/drawing/2014/main" id="{CF60C367-F604-245C-FC64-B763E17C572C}"/>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A436F1E-C981-BE2E-06C7-140FF6878009}"/>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C9885949-87F9-45F9-D528-701828FB59B2}"/>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5" name="Rectangle 24">
            <a:extLst>
              <a:ext uri="{FF2B5EF4-FFF2-40B4-BE49-F238E27FC236}">
                <a16:creationId xmlns:a16="http://schemas.microsoft.com/office/drawing/2014/main" id="{6E2D7DF7-AA09-CD97-5987-6396652FBD72}"/>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6B3E15-5DE4-3B85-8B28-6F90EDD9C605}"/>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7" name="TextBox 26">
            <a:extLst>
              <a:ext uri="{FF2B5EF4-FFF2-40B4-BE49-F238E27FC236}">
                <a16:creationId xmlns:a16="http://schemas.microsoft.com/office/drawing/2014/main" id="{C73474D6-AEB1-E5F2-1A98-3454ED7D982F}"/>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05 / 07</a:t>
            </a:r>
          </a:p>
        </p:txBody>
      </p:sp>
      <p:sp>
        <p:nvSpPr>
          <p:cNvPr id="28" name="Rectangle: Rounded Corners 27">
            <a:extLst>
              <a:ext uri="{FF2B5EF4-FFF2-40B4-BE49-F238E27FC236}">
                <a16:creationId xmlns:a16="http://schemas.microsoft.com/office/drawing/2014/main" id="{463A0710-AC60-7713-F2FE-471AC3E973B0}"/>
              </a:ext>
            </a:extLst>
          </p:cNvPr>
          <p:cNvSpPr/>
          <p:nvPr/>
        </p:nvSpPr>
        <p:spPr>
          <a:xfrm>
            <a:off x="939800" y="1651000"/>
            <a:ext cx="7264400" cy="965200"/>
          </a:xfrm>
          <a:prstGeom prst="roundRect">
            <a:avLst/>
          </a:prstGeom>
          <a:solidFill>
            <a:srgbClr val="172746"/>
          </a:solidFill>
          <a:ln w="12700">
            <a:solidFill>
              <a:srgbClr val="3446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F402146E-2695-6082-531D-42FDEE2E627D}"/>
              </a:ext>
            </a:extLst>
          </p:cNvPr>
          <p:cNvSpPr txBox="1"/>
          <p:nvPr/>
        </p:nvSpPr>
        <p:spPr>
          <a:xfrm>
            <a:off x="1168400" y="1943100"/>
            <a:ext cx="6807200" cy="431800"/>
          </a:xfrm>
          <a:prstGeom prst="rect">
            <a:avLst/>
          </a:prstGeom>
          <a:noFill/>
        </p:spPr>
        <p:txBody>
          <a:bodyPr vert="horz" wrap="square" lIns="0" tIns="0" rIns="0" bIns="0" rtlCol="0" anchor="ctr">
            <a:noAutofit/>
          </a:bodyPr>
          <a:lstStyle/>
          <a:p>
            <a:pPr algn="ctr"/>
            <a:r>
              <a:rPr lang="en-US" sz="2200" b="1">
                <a:solidFill>
                  <a:srgbClr val="F7F8FA"/>
                </a:solidFill>
                <a:latin typeface="Arial" panose="020B0604020202020204" pitchFamily="34" charset="0"/>
              </a:rPr>
              <a:t>EVᵢ = CATEᵢ × (fareᵢ × 70%)  −  Ŷᵢ(1) × (fareᵢ × 15%)</a:t>
            </a:r>
          </a:p>
        </p:txBody>
      </p:sp>
      <p:sp>
        <p:nvSpPr>
          <p:cNvPr id="30" name="TextBox 29">
            <a:extLst>
              <a:ext uri="{FF2B5EF4-FFF2-40B4-BE49-F238E27FC236}">
                <a16:creationId xmlns:a16="http://schemas.microsoft.com/office/drawing/2014/main" id="{057DF97C-9E54-EC54-ADF3-0D8E9402CA2C}"/>
              </a:ext>
            </a:extLst>
          </p:cNvPr>
          <p:cNvSpPr txBox="1"/>
          <p:nvPr/>
        </p:nvSpPr>
        <p:spPr>
          <a:xfrm>
            <a:off x="2019300" y="2425700"/>
            <a:ext cx="1841500" cy="203200"/>
          </a:xfrm>
          <a:prstGeom prst="rect">
            <a:avLst/>
          </a:prstGeom>
          <a:noFill/>
        </p:spPr>
        <p:txBody>
          <a:bodyPr vert="horz" wrap="square" lIns="0" tIns="0" rIns="0" bIns="0" rtlCol="0" anchor="t">
            <a:noAutofit/>
          </a:bodyPr>
          <a:lstStyle/>
          <a:p>
            <a:pPr algn="ctr"/>
            <a:r>
              <a:rPr lang="en-US" sz="900" b="1">
                <a:solidFill>
                  <a:srgbClr val="25D0A2"/>
                </a:solidFill>
                <a:latin typeface="Arial" panose="020B0604020202020204" pitchFamily="34" charset="0"/>
              </a:rPr>
              <a:t>incremental margin</a:t>
            </a:r>
          </a:p>
        </p:txBody>
      </p:sp>
      <p:sp>
        <p:nvSpPr>
          <p:cNvPr id="31" name="TextBox 30">
            <a:extLst>
              <a:ext uri="{FF2B5EF4-FFF2-40B4-BE49-F238E27FC236}">
                <a16:creationId xmlns:a16="http://schemas.microsoft.com/office/drawing/2014/main" id="{FA305583-1DDF-718D-6BCC-D2A38D2759B5}"/>
              </a:ext>
            </a:extLst>
          </p:cNvPr>
          <p:cNvSpPr txBox="1"/>
          <p:nvPr/>
        </p:nvSpPr>
        <p:spPr>
          <a:xfrm>
            <a:off x="5486400" y="2425700"/>
            <a:ext cx="1968500" cy="203200"/>
          </a:xfrm>
          <a:prstGeom prst="rect">
            <a:avLst/>
          </a:prstGeom>
          <a:noFill/>
        </p:spPr>
        <p:txBody>
          <a:bodyPr vert="horz" wrap="square" lIns="0" tIns="0" rIns="0" bIns="0" rtlCol="0" anchor="t">
            <a:noAutofit/>
          </a:bodyPr>
          <a:lstStyle/>
          <a:p>
            <a:pPr algn="ctr"/>
            <a:r>
              <a:rPr lang="en-US" sz="900" b="1">
                <a:solidFill>
                  <a:srgbClr val="FF5D66"/>
                </a:solidFill>
                <a:latin typeface="Arial" panose="020B0604020202020204" pitchFamily="34" charset="0"/>
              </a:rPr>
              <a:t>expected voucher burn</a:t>
            </a:r>
          </a:p>
        </p:txBody>
      </p:sp>
      <p:cxnSp>
        <p:nvCxnSpPr>
          <p:cNvPr id="32" name="Straight Connector 31">
            <a:extLst>
              <a:ext uri="{FF2B5EF4-FFF2-40B4-BE49-F238E27FC236}">
                <a16:creationId xmlns:a16="http://schemas.microsoft.com/office/drawing/2014/main" id="{D2A9FED4-F5B2-8B1D-7D5C-15F12778D909}"/>
              </a:ext>
            </a:extLst>
          </p:cNvPr>
          <p:cNvCxnSpPr/>
          <p:nvPr/>
        </p:nvCxnSpPr>
        <p:spPr>
          <a:xfrm>
            <a:off x="1447800" y="3860800"/>
            <a:ext cx="6223000" cy="0"/>
          </a:xfrm>
          <a:prstGeom prst="line">
            <a:avLst/>
          </a:prstGeom>
          <a:ln w="38100">
            <a:solidFill>
              <a:srgbClr val="60718A"/>
            </a:solidFill>
            <a:tailEnd type="arrow"/>
          </a:ln>
        </p:spPr>
        <p:style>
          <a:lnRef idx="2">
            <a:schemeClr val="accent1"/>
          </a:lnRef>
          <a:fillRef idx="0">
            <a:schemeClr val="accent1"/>
          </a:fillRef>
          <a:effectRef idx="1">
            <a:schemeClr val="accent1"/>
          </a:effectRef>
          <a:fontRef idx="minor">
            <a:schemeClr val="tx1"/>
          </a:fontRef>
        </p:style>
      </p:cxnSp>
      <p:sp>
        <p:nvSpPr>
          <p:cNvPr id="33" name="Oval 32">
            <a:extLst>
              <a:ext uri="{FF2B5EF4-FFF2-40B4-BE49-F238E27FC236}">
                <a16:creationId xmlns:a16="http://schemas.microsoft.com/office/drawing/2014/main" id="{EEBC48B4-037A-2D9E-F496-E5D8105AEAF6}"/>
              </a:ext>
            </a:extLst>
          </p:cNvPr>
          <p:cNvSpPr/>
          <p:nvPr/>
        </p:nvSpPr>
        <p:spPr>
          <a:xfrm>
            <a:off x="1320800" y="3632200"/>
            <a:ext cx="457200" cy="457200"/>
          </a:xfrm>
          <a:prstGeom prst="ellipse">
            <a:avLst/>
          </a:prstGeom>
          <a:solidFill>
            <a:srgbClr val="25D0A2"/>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E35B633-9983-A56A-1635-6C2C633C30CA}"/>
              </a:ext>
            </a:extLst>
          </p:cNvPr>
          <p:cNvSpPr txBox="1"/>
          <p:nvPr/>
        </p:nvSpPr>
        <p:spPr>
          <a:xfrm>
            <a:off x="1371600" y="37338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1</a:t>
            </a:r>
          </a:p>
        </p:txBody>
      </p:sp>
      <p:sp>
        <p:nvSpPr>
          <p:cNvPr id="35" name="TextBox 34">
            <a:extLst>
              <a:ext uri="{FF2B5EF4-FFF2-40B4-BE49-F238E27FC236}">
                <a16:creationId xmlns:a16="http://schemas.microsoft.com/office/drawing/2014/main" id="{A8A19C93-E48A-800D-8F2F-CB5E234BE7B8}"/>
              </a:ext>
            </a:extLst>
          </p:cNvPr>
          <p:cNvSpPr txBox="1"/>
          <p:nvPr/>
        </p:nvSpPr>
        <p:spPr>
          <a:xfrm>
            <a:off x="812800" y="4241800"/>
            <a:ext cx="1473200" cy="254000"/>
          </a:xfrm>
          <a:prstGeom prst="rect">
            <a:avLst/>
          </a:prstGeom>
          <a:noFill/>
        </p:spPr>
        <p:txBody>
          <a:bodyPr vert="horz" wrap="square" lIns="0" tIns="0" rIns="0" bIns="0" rtlCol="0" anchor="t">
            <a:noAutofit/>
          </a:bodyPr>
          <a:lstStyle/>
          <a:p>
            <a:pPr algn="ctr"/>
            <a:r>
              <a:rPr lang="en-US" sz="1300" b="1">
                <a:solidFill>
                  <a:srgbClr val="25D0A2"/>
                </a:solidFill>
                <a:latin typeface="Arial" panose="020B0604020202020204" pitchFamily="34" charset="0"/>
              </a:rPr>
              <a:t>CATE</a:t>
            </a:r>
          </a:p>
        </p:txBody>
      </p:sp>
      <p:sp>
        <p:nvSpPr>
          <p:cNvPr id="36" name="TextBox 35">
            <a:extLst>
              <a:ext uri="{FF2B5EF4-FFF2-40B4-BE49-F238E27FC236}">
                <a16:creationId xmlns:a16="http://schemas.microsoft.com/office/drawing/2014/main" id="{B411EC57-C060-08AB-1EC3-0BF90E85527F}"/>
              </a:ext>
            </a:extLst>
          </p:cNvPr>
          <p:cNvSpPr txBox="1"/>
          <p:nvPr/>
        </p:nvSpPr>
        <p:spPr>
          <a:xfrm>
            <a:off x="711200" y="4546600"/>
            <a:ext cx="1676400" cy="533400"/>
          </a:xfrm>
          <a:prstGeom prst="rect">
            <a:avLst/>
          </a:prstGeom>
          <a:noFill/>
        </p:spPr>
        <p:txBody>
          <a:bodyPr vert="horz" wrap="square" lIns="0" tIns="0" rIns="0" bIns="0" rtlCol="0" anchor="t">
            <a:noAutofit/>
          </a:bodyPr>
          <a:lstStyle/>
          <a:p>
            <a:pPr algn="ctr"/>
            <a:r>
              <a:rPr lang="en-US" sz="1050">
                <a:solidFill>
                  <a:srgbClr val="F7F8FA"/>
                </a:solidFill>
                <a:latin typeface="Arial" panose="020B0604020202020204" pitchFamily="34" charset="0"/>
              </a:rPr>
              <a:t>Chuyến dự kiến tăng thêm</a:t>
            </a:r>
          </a:p>
        </p:txBody>
      </p:sp>
      <p:sp>
        <p:nvSpPr>
          <p:cNvPr id="37" name="Oval 36">
            <a:extLst>
              <a:ext uri="{FF2B5EF4-FFF2-40B4-BE49-F238E27FC236}">
                <a16:creationId xmlns:a16="http://schemas.microsoft.com/office/drawing/2014/main" id="{5B2F1ECC-31D3-B8DC-733C-E156DEE28CB2}"/>
              </a:ext>
            </a:extLst>
          </p:cNvPr>
          <p:cNvSpPr/>
          <p:nvPr/>
        </p:nvSpPr>
        <p:spPr>
          <a:xfrm>
            <a:off x="3327400" y="3632200"/>
            <a:ext cx="457200" cy="457200"/>
          </a:xfrm>
          <a:prstGeom prst="ellipse">
            <a:avLst/>
          </a:prstGeom>
          <a:solidFill>
            <a:srgbClr val="29B8E8"/>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5316DCE-DACC-6B42-45EB-F594EE730C9C}"/>
              </a:ext>
            </a:extLst>
          </p:cNvPr>
          <p:cNvSpPr txBox="1"/>
          <p:nvPr/>
        </p:nvSpPr>
        <p:spPr>
          <a:xfrm>
            <a:off x="3378200" y="37338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2</a:t>
            </a:r>
          </a:p>
        </p:txBody>
      </p:sp>
      <p:sp>
        <p:nvSpPr>
          <p:cNvPr id="39" name="TextBox 38">
            <a:extLst>
              <a:ext uri="{FF2B5EF4-FFF2-40B4-BE49-F238E27FC236}">
                <a16:creationId xmlns:a16="http://schemas.microsoft.com/office/drawing/2014/main" id="{C28EEF46-147A-48B8-FF1A-58BFA025E306}"/>
              </a:ext>
            </a:extLst>
          </p:cNvPr>
          <p:cNvSpPr txBox="1"/>
          <p:nvPr/>
        </p:nvSpPr>
        <p:spPr>
          <a:xfrm>
            <a:off x="2819400" y="4241800"/>
            <a:ext cx="1473200" cy="254000"/>
          </a:xfrm>
          <a:prstGeom prst="rect">
            <a:avLst/>
          </a:prstGeom>
          <a:noFill/>
        </p:spPr>
        <p:txBody>
          <a:bodyPr vert="horz" wrap="square" lIns="0" tIns="0" rIns="0" bIns="0" rtlCol="0" anchor="t">
            <a:noAutofit/>
          </a:bodyPr>
          <a:lstStyle/>
          <a:p>
            <a:pPr algn="ctr"/>
            <a:r>
              <a:rPr lang="en-US" sz="1300" b="1">
                <a:solidFill>
                  <a:srgbClr val="29B8E8"/>
                </a:solidFill>
                <a:latin typeface="Arial" panose="020B0604020202020204" pitchFamily="34" charset="0"/>
              </a:rPr>
              <a:t>Margin</a:t>
            </a:r>
          </a:p>
        </p:txBody>
      </p:sp>
      <p:sp>
        <p:nvSpPr>
          <p:cNvPr id="40" name="TextBox 39">
            <a:extLst>
              <a:ext uri="{FF2B5EF4-FFF2-40B4-BE49-F238E27FC236}">
                <a16:creationId xmlns:a16="http://schemas.microsoft.com/office/drawing/2014/main" id="{F165C77B-B55F-8F65-FA97-87AEFBE5F042}"/>
              </a:ext>
            </a:extLst>
          </p:cNvPr>
          <p:cNvSpPr txBox="1"/>
          <p:nvPr/>
        </p:nvSpPr>
        <p:spPr>
          <a:xfrm>
            <a:off x="2717800" y="4546600"/>
            <a:ext cx="1676400" cy="533400"/>
          </a:xfrm>
          <a:prstGeom prst="rect">
            <a:avLst/>
          </a:prstGeom>
          <a:noFill/>
        </p:spPr>
        <p:txBody>
          <a:bodyPr vert="horz" wrap="square" lIns="0" tIns="0" rIns="0" bIns="0" rtlCol="0" anchor="t">
            <a:noAutofit/>
          </a:bodyPr>
          <a:lstStyle/>
          <a:p>
            <a:pPr algn="ctr"/>
            <a:r>
              <a:rPr lang="en-US" sz="1050">
                <a:solidFill>
                  <a:srgbClr val="F7F8FA"/>
                </a:solidFill>
                <a:latin typeface="Arial" panose="020B0604020202020204" pitchFamily="34" charset="0"/>
              </a:rPr>
              <a:t>Giá trị biên tạo thêm</a:t>
            </a:r>
          </a:p>
        </p:txBody>
      </p:sp>
      <p:sp>
        <p:nvSpPr>
          <p:cNvPr id="41" name="Oval 40">
            <a:extLst>
              <a:ext uri="{FF2B5EF4-FFF2-40B4-BE49-F238E27FC236}">
                <a16:creationId xmlns:a16="http://schemas.microsoft.com/office/drawing/2014/main" id="{A32D195F-9607-61C7-1A02-1FC652B82F9A}"/>
              </a:ext>
            </a:extLst>
          </p:cNvPr>
          <p:cNvSpPr/>
          <p:nvPr/>
        </p:nvSpPr>
        <p:spPr>
          <a:xfrm>
            <a:off x="5334000" y="3632200"/>
            <a:ext cx="457200" cy="457200"/>
          </a:xfrm>
          <a:prstGeom prst="ellipse">
            <a:avLst/>
          </a:prstGeom>
          <a:solidFill>
            <a:srgbClr val="FF5D66"/>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82DD0F91-0CA1-BF7A-0CD1-D398EABC7F47}"/>
              </a:ext>
            </a:extLst>
          </p:cNvPr>
          <p:cNvSpPr txBox="1"/>
          <p:nvPr/>
        </p:nvSpPr>
        <p:spPr>
          <a:xfrm>
            <a:off x="5384800" y="37338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3</a:t>
            </a:r>
          </a:p>
        </p:txBody>
      </p:sp>
      <p:sp>
        <p:nvSpPr>
          <p:cNvPr id="43" name="TextBox 42">
            <a:extLst>
              <a:ext uri="{FF2B5EF4-FFF2-40B4-BE49-F238E27FC236}">
                <a16:creationId xmlns:a16="http://schemas.microsoft.com/office/drawing/2014/main" id="{C31B6898-36A5-3BA0-428D-45FEA0C80D7F}"/>
              </a:ext>
            </a:extLst>
          </p:cNvPr>
          <p:cNvSpPr txBox="1"/>
          <p:nvPr/>
        </p:nvSpPr>
        <p:spPr>
          <a:xfrm>
            <a:off x="4826000" y="4241800"/>
            <a:ext cx="1473200" cy="254000"/>
          </a:xfrm>
          <a:prstGeom prst="rect">
            <a:avLst/>
          </a:prstGeom>
          <a:noFill/>
        </p:spPr>
        <p:txBody>
          <a:bodyPr vert="horz" wrap="square" lIns="0" tIns="0" rIns="0" bIns="0" rtlCol="0" anchor="t">
            <a:noAutofit/>
          </a:bodyPr>
          <a:lstStyle/>
          <a:p>
            <a:pPr algn="ctr"/>
            <a:r>
              <a:rPr lang="en-US" sz="1300" b="1">
                <a:solidFill>
                  <a:srgbClr val="FF5D66"/>
                </a:solidFill>
                <a:latin typeface="Arial" panose="020B0604020202020204" pitchFamily="34" charset="0"/>
              </a:rPr>
              <a:t>Burn</a:t>
            </a:r>
          </a:p>
        </p:txBody>
      </p:sp>
      <p:sp>
        <p:nvSpPr>
          <p:cNvPr id="44" name="TextBox 43">
            <a:extLst>
              <a:ext uri="{FF2B5EF4-FFF2-40B4-BE49-F238E27FC236}">
                <a16:creationId xmlns:a16="http://schemas.microsoft.com/office/drawing/2014/main" id="{B963D89C-51E8-2894-44AA-A3D5A57F591A}"/>
              </a:ext>
            </a:extLst>
          </p:cNvPr>
          <p:cNvSpPr txBox="1"/>
          <p:nvPr/>
        </p:nvSpPr>
        <p:spPr>
          <a:xfrm>
            <a:off x="4724400" y="4546600"/>
            <a:ext cx="1676400" cy="533400"/>
          </a:xfrm>
          <a:prstGeom prst="rect">
            <a:avLst/>
          </a:prstGeom>
          <a:noFill/>
        </p:spPr>
        <p:txBody>
          <a:bodyPr vert="horz" wrap="square" lIns="0" tIns="0" rIns="0" bIns="0" rtlCol="0" anchor="t">
            <a:noAutofit/>
          </a:bodyPr>
          <a:lstStyle/>
          <a:p>
            <a:pPr algn="ctr"/>
            <a:r>
              <a:rPr lang="en-US" sz="1050">
                <a:solidFill>
                  <a:srgbClr val="F7F8FA"/>
                </a:solidFill>
                <a:latin typeface="Arial" panose="020B0604020202020204" pitchFamily="34" charset="0"/>
              </a:rPr>
              <a:t>Chi phí trên toàn bộ Ŷ(1)</a:t>
            </a:r>
          </a:p>
        </p:txBody>
      </p:sp>
      <p:sp>
        <p:nvSpPr>
          <p:cNvPr id="45" name="Oval 44">
            <a:extLst>
              <a:ext uri="{FF2B5EF4-FFF2-40B4-BE49-F238E27FC236}">
                <a16:creationId xmlns:a16="http://schemas.microsoft.com/office/drawing/2014/main" id="{37E0C3A7-AE4E-2D25-766B-505C5BC32FD7}"/>
              </a:ext>
            </a:extLst>
          </p:cNvPr>
          <p:cNvSpPr/>
          <p:nvPr/>
        </p:nvSpPr>
        <p:spPr>
          <a:xfrm>
            <a:off x="7340600" y="3632200"/>
            <a:ext cx="457200" cy="457200"/>
          </a:xfrm>
          <a:prstGeom prst="ellipse">
            <a:avLst/>
          </a:prstGeom>
          <a:solidFill>
            <a:srgbClr val="FFC000"/>
          </a:solidFill>
          <a:ln w="15240">
            <a:solidFill>
              <a:srgbClr val="0A142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8B1BFA5D-FB09-7691-C812-207210F3C099}"/>
              </a:ext>
            </a:extLst>
          </p:cNvPr>
          <p:cNvSpPr txBox="1"/>
          <p:nvPr/>
        </p:nvSpPr>
        <p:spPr>
          <a:xfrm>
            <a:off x="7391400" y="3733800"/>
            <a:ext cx="355600" cy="203200"/>
          </a:xfrm>
          <a:prstGeom prst="rect">
            <a:avLst/>
          </a:prstGeom>
          <a:noFill/>
        </p:spPr>
        <p:txBody>
          <a:bodyPr vert="horz" wrap="square" lIns="0" tIns="0" rIns="0" bIns="0" rtlCol="0" anchor="ctr">
            <a:noAutofit/>
          </a:bodyPr>
          <a:lstStyle/>
          <a:p>
            <a:pPr algn="ctr"/>
            <a:r>
              <a:rPr lang="en-US" sz="1000" b="1">
                <a:solidFill>
                  <a:srgbClr val="0A1423"/>
                </a:solidFill>
                <a:latin typeface="Arial" panose="020B0604020202020204" pitchFamily="34" charset="0"/>
              </a:rPr>
              <a:t>4</a:t>
            </a:r>
          </a:p>
        </p:txBody>
      </p:sp>
      <p:sp>
        <p:nvSpPr>
          <p:cNvPr id="47" name="TextBox 46">
            <a:extLst>
              <a:ext uri="{FF2B5EF4-FFF2-40B4-BE49-F238E27FC236}">
                <a16:creationId xmlns:a16="http://schemas.microsoft.com/office/drawing/2014/main" id="{38BE1CE2-0797-10CC-75C8-5F59E4755D3D}"/>
              </a:ext>
            </a:extLst>
          </p:cNvPr>
          <p:cNvSpPr txBox="1"/>
          <p:nvPr/>
        </p:nvSpPr>
        <p:spPr>
          <a:xfrm>
            <a:off x="6832600" y="4241800"/>
            <a:ext cx="1473200" cy="254000"/>
          </a:xfrm>
          <a:prstGeom prst="rect">
            <a:avLst/>
          </a:prstGeom>
          <a:noFill/>
        </p:spPr>
        <p:txBody>
          <a:bodyPr vert="horz" wrap="square" lIns="0" tIns="0" rIns="0" bIns="0" rtlCol="0" anchor="t">
            <a:noAutofit/>
          </a:bodyPr>
          <a:lstStyle/>
          <a:p>
            <a:pPr algn="ctr"/>
            <a:r>
              <a:rPr lang="en-US" sz="1300" b="1">
                <a:solidFill>
                  <a:srgbClr val="FFC000"/>
                </a:solidFill>
                <a:latin typeface="Arial" panose="020B0604020202020204" pitchFamily="34" charset="0"/>
              </a:rPr>
              <a:t>EV &gt; 0</a:t>
            </a:r>
          </a:p>
        </p:txBody>
      </p:sp>
      <p:sp>
        <p:nvSpPr>
          <p:cNvPr id="48" name="TextBox 47">
            <a:extLst>
              <a:ext uri="{FF2B5EF4-FFF2-40B4-BE49-F238E27FC236}">
                <a16:creationId xmlns:a16="http://schemas.microsoft.com/office/drawing/2014/main" id="{C323E819-D930-4043-1E8A-4D21F2BA8386}"/>
              </a:ext>
            </a:extLst>
          </p:cNvPr>
          <p:cNvSpPr txBox="1"/>
          <p:nvPr/>
        </p:nvSpPr>
        <p:spPr>
          <a:xfrm>
            <a:off x="6731000" y="4546600"/>
            <a:ext cx="1676400" cy="533400"/>
          </a:xfrm>
          <a:prstGeom prst="rect">
            <a:avLst/>
          </a:prstGeom>
          <a:noFill/>
        </p:spPr>
        <p:txBody>
          <a:bodyPr vert="horz" wrap="square" lIns="0" tIns="0" rIns="0" bIns="0" rtlCol="0" anchor="t">
            <a:noAutofit/>
          </a:bodyPr>
          <a:lstStyle/>
          <a:p>
            <a:pPr algn="ctr"/>
            <a:r>
              <a:rPr lang="en-US" sz="1050">
                <a:solidFill>
                  <a:srgbClr val="F7F8FA"/>
                </a:solidFill>
                <a:latin typeface="Arial" panose="020B0604020202020204" pitchFamily="34" charset="0"/>
              </a:rPr>
              <a:t>Quyết định phát voucher</a:t>
            </a:r>
          </a:p>
        </p:txBody>
      </p:sp>
      <p:sp>
        <p:nvSpPr>
          <p:cNvPr id="49" name="Rectangle: Rounded Corners 48">
            <a:extLst>
              <a:ext uri="{FF2B5EF4-FFF2-40B4-BE49-F238E27FC236}">
                <a16:creationId xmlns:a16="http://schemas.microsoft.com/office/drawing/2014/main" id="{8E63DE08-7530-8E12-0D49-B0A316269E6A}"/>
              </a:ext>
            </a:extLst>
          </p:cNvPr>
          <p:cNvSpPr/>
          <p:nvPr/>
        </p:nvSpPr>
        <p:spPr>
          <a:xfrm>
            <a:off x="939800" y="5346700"/>
            <a:ext cx="7264400" cy="546100"/>
          </a:xfrm>
          <a:prstGeom prst="roundRect">
            <a:avLst/>
          </a:prstGeom>
          <a:solidFill>
            <a:srgbClr val="111C30"/>
          </a:solidFill>
          <a:ln w="12700">
            <a:solidFill>
              <a:srgbClr val="3446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8E49230F-C8F2-7BE7-99FC-7F6E121C84FF}"/>
              </a:ext>
            </a:extLst>
          </p:cNvPr>
          <p:cNvSpPr txBox="1"/>
          <p:nvPr/>
        </p:nvSpPr>
        <p:spPr>
          <a:xfrm>
            <a:off x="1168400" y="5410200"/>
            <a:ext cx="6807200" cy="444500"/>
          </a:xfrm>
          <a:prstGeom prst="rect">
            <a:avLst/>
          </a:prstGeom>
          <a:noFill/>
        </p:spPr>
        <p:txBody>
          <a:bodyPr vert="horz" wrap="square" lIns="0" tIns="0" rIns="0" bIns="0" rtlCol="0" anchor="t">
            <a:noAutofit/>
          </a:bodyPr>
          <a:lstStyle/>
          <a:p>
            <a:pPr algn="ctr"/>
            <a:r>
              <a:rPr lang="en-US" sz="1300" b="1">
                <a:solidFill>
                  <a:srgbClr val="F7F8FA"/>
                </a:solidFill>
                <a:latin typeface="Arial" panose="020B0604020202020204" pitchFamily="34" charset="0"/>
              </a:rPr>
              <a:t>Không dùng quota top 20%/30% cố định: tập target thay đổi theo economics và budget.</a:t>
            </a:r>
          </a:p>
        </p:txBody>
      </p:sp>
    </p:spTree>
    <p:extLst>
      <p:ext uri="{BB962C8B-B14F-4D97-AF65-F5344CB8AC3E}">
        <p14:creationId xmlns:p14="http://schemas.microsoft.com/office/powerpoint/2010/main" val="289331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1A27C1FC-2598-B46A-55D4-E0B245E26874}"/>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395E611B-B458-8156-03A3-DEB45D38EA26}"/>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800" b="1">
                <a:solidFill>
                  <a:srgbClr val="F7F8FA"/>
                </a:solidFill>
                <a:latin typeface="Arial" panose="020B0604020202020204" pitchFamily="34" charset="0"/>
              </a:rPr>
              <a:t>Week 6: stress test measurement framework</a:t>
            </a:r>
          </a:p>
        </p:txBody>
      </p:sp>
      <p:sp>
        <p:nvSpPr>
          <p:cNvPr id="21" name="SlideSubtitle">
            <a:extLst>
              <a:ext uri="{FF2B5EF4-FFF2-40B4-BE49-F238E27FC236}">
                <a16:creationId xmlns:a16="http://schemas.microsoft.com/office/drawing/2014/main" id="{21058BFE-5E2F-7CC9-7416-1C4F7C1577EE}"/>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Đo false positive, mất cân bằng treatment và nhiễu outcome</a:t>
            </a:r>
          </a:p>
        </p:txBody>
      </p:sp>
      <p:sp>
        <p:nvSpPr>
          <p:cNvPr id="22" name="Rectangle 21">
            <a:extLst>
              <a:ext uri="{FF2B5EF4-FFF2-40B4-BE49-F238E27FC236}">
                <a16:creationId xmlns:a16="http://schemas.microsoft.com/office/drawing/2014/main" id="{FE302953-0626-7687-B5D2-C905793B55EC}"/>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D249B11-6625-E989-67B0-303577B2C0D9}"/>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C0AFB217-A264-B3DA-D6A2-2FE26E47D558}"/>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5" name="Rectangle 24">
            <a:extLst>
              <a:ext uri="{FF2B5EF4-FFF2-40B4-BE49-F238E27FC236}">
                <a16:creationId xmlns:a16="http://schemas.microsoft.com/office/drawing/2014/main" id="{6F6731E2-F597-0869-B761-93F8CA2584B6}"/>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B193E9F-9C0A-EF77-2008-FE9825D607D4}"/>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7" name="TextBox 26">
            <a:extLst>
              <a:ext uri="{FF2B5EF4-FFF2-40B4-BE49-F238E27FC236}">
                <a16:creationId xmlns:a16="http://schemas.microsoft.com/office/drawing/2014/main" id="{8ABA6D47-EFB0-900C-B398-A03C6C585A2E}"/>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06 / 07</a:t>
            </a:r>
          </a:p>
        </p:txBody>
      </p:sp>
      <p:sp>
        <p:nvSpPr>
          <p:cNvPr id="28" name="TextBox 27">
            <a:extLst>
              <a:ext uri="{FF2B5EF4-FFF2-40B4-BE49-F238E27FC236}">
                <a16:creationId xmlns:a16="http://schemas.microsoft.com/office/drawing/2014/main" id="{3B93F47E-83A9-BCDE-9F84-6E8A9BDEC1D3}"/>
              </a:ext>
            </a:extLst>
          </p:cNvPr>
          <p:cNvSpPr txBox="1"/>
          <p:nvPr/>
        </p:nvSpPr>
        <p:spPr>
          <a:xfrm>
            <a:off x="1041400" y="1600200"/>
            <a:ext cx="1905000" cy="254000"/>
          </a:xfrm>
          <a:prstGeom prst="rect">
            <a:avLst/>
          </a:prstGeom>
          <a:noFill/>
        </p:spPr>
        <p:txBody>
          <a:bodyPr vert="horz" wrap="square" lIns="0" tIns="0" rIns="0" bIns="0" rtlCol="0" anchor="t">
            <a:noAutofit/>
          </a:bodyPr>
          <a:lstStyle/>
          <a:p>
            <a:r>
              <a:rPr lang="en-US" sz="1000" b="1">
                <a:solidFill>
                  <a:srgbClr val="B7C2D1"/>
                </a:solidFill>
                <a:latin typeface="Arial" panose="020B0604020202020204" pitchFamily="34" charset="0"/>
              </a:rPr>
              <a:t>Stress test</a:t>
            </a:r>
          </a:p>
        </p:txBody>
      </p:sp>
      <p:sp>
        <p:nvSpPr>
          <p:cNvPr id="29" name="TextBox 28">
            <a:extLst>
              <a:ext uri="{FF2B5EF4-FFF2-40B4-BE49-F238E27FC236}">
                <a16:creationId xmlns:a16="http://schemas.microsoft.com/office/drawing/2014/main" id="{AA6AB516-E839-CEE7-FED6-8BB0331BEA62}"/>
              </a:ext>
            </a:extLst>
          </p:cNvPr>
          <p:cNvSpPr txBox="1"/>
          <p:nvPr/>
        </p:nvSpPr>
        <p:spPr>
          <a:xfrm>
            <a:off x="3492500" y="1600200"/>
            <a:ext cx="2159000" cy="254000"/>
          </a:xfrm>
          <a:prstGeom prst="rect">
            <a:avLst/>
          </a:prstGeom>
          <a:noFill/>
        </p:spPr>
        <p:txBody>
          <a:bodyPr vert="horz" wrap="square" lIns="0" tIns="0" rIns="0" bIns="0" rtlCol="0" anchor="t">
            <a:noAutofit/>
          </a:bodyPr>
          <a:lstStyle/>
          <a:p>
            <a:r>
              <a:rPr lang="en-US" sz="1000" b="1">
                <a:solidFill>
                  <a:srgbClr val="B7C2D1"/>
                </a:solidFill>
                <a:latin typeface="Arial" panose="020B0604020202020204" pitchFamily="34" charset="0"/>
              </a:rPr>
              <a:t>Kết quả</a:t>
            </a:r>
          </a:p>
        </p:txBody>
      </p:sp>
      <p:sp>
        <p:nvSpPr>
          <p:cNvPr id="30" name="TextBox 29">
            <a:extLst>
              <a:ext uri="{FF2B5EF4-FFF2-40B4-BE49-F238E27FC236}">
                <a16:creationId xmlns:a16="http://schemas.microsoft.com/office/drawing/2014/main" id="{6BF68940-635B-1E09-C0D8-17BE9D12F67E}"/>
              </a:ext>
            </a:extLst>
          </p:cNvPr>
          <p:cNvSpPr txBox="1"/>
          <p:nvPr/>
        </p:nvSpPr>
        <p:spPr>
          <a:xfrm>
            <a:off x="6223000" y="1600200"/>
            <a:ext cx="2159000" cy="254000"/>
          </a:xfrm>
          <a:prstGeom prst="rect">
            <a:avLst/>
          </a:prstGeom>
          <a:noFill/>
        </p:spPr>
        <p:txBody>
          <a:bodyPr vert="horz" wrap="square" lIns="0" tIns="0" rIns="0" bIns="0" rtlCol="0" anchor="t">
            <a:noAutofit/>
          </a:bodyPr>
          <a:lstStyle/>
          <a:p>
            <a:r>
              <a:rPr lang="en-US" sz="1000" b="1">
                <a:solidFill>
                  <a:srgbClr val="B7C2D1"/>
                </a:solidFill>
                <a:latin typeface="Arial" panose="020B0604020202020204" pitchFamily="34" charset="0"/>
              </a:rPr>
              <a:t>Diễn giải</a:t>
            </a:r>
          </a:p>
        </p:txBody>
      </p:sp>
      <p:sp>
        <p:nvSpPr>
          <p:cNvPr id="31" name="Oval 30">
            <a:extLst>
              <a:ext uri="{FF2B5EF4-FFF2-40B4-BE49-F238E27FC236}">
                <a16:creationId xmlns:a16="http://schemas.microsoft.com/office/drawing/2014/main" id="{C3A2AF2D-68D1-E43C-4499-26500F50D027}"/>
              </a:ext>
            </a:extLst>
          </p:cNvPr>
          <p:cNvSpPr/>
          <p:nvPr/>
        </p:nvSpPr>
        <p:spPr>
          <a:xfrm>
            <a:off x="787400" y="2095500"/>
            <a:ext cx="342900" cy="342900"/>
          </a:xfrm>
          <a:prstGeom prst="ellipse">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97967174-207F-15A9-CE74-FB70ED7516EC}"/>
              </a:ext>
            </a:extLst>
          </p:cNvPr>
          <p:cNvSpPr txBox="1"/>
          <p:nvPr/>
        </p:nvSpPr>
        <p:spPr>
          <a:xfrm>
            <a:off x="863600" y="2171700"/>
            <a:ext cx="190500" cy="177800"/>
          </a:xfrm>
          <a:prstGeom prst="rect">
            <a:avLst/>
          </a:prstGeom>
          <a:noFill/>
        </p:spPr>
        <p:txBody>
          <a:bodyPr vert="horz" wrap="square" lIns="0" tIns="0" rIns="0" bIns="0" rtlCol="0" anchor="ctr">
            <a:noAutofit/>
          </a:bodyPr>
          <a:lstStyle/>
          <a:p>
            <a:pPr algn="ctr"/>
            <a:r>
              <a:rPr lang="en-US" sz="900" b="1">
                <a:solidFill>
                  <a:srgbClr val="0A1423"/>
                </a:solidFill>
                <a:latin typeface="Arial" panose="020B0604020202020204" pitchFamily="34" charset="0"/>
              </a:rPr>
              <a:t>1</a:t>
            </a:r>
          </a:p>
        </p:txBody>
      </p:sp>
      <p:sp>
        <p:nvSpPr>
          <p:cNvPr id="33" name="TextBox 32">
            <a:extLst>
              <a:ext uri="{FF2B5EF4-FFF2-40B4-BE49-F238E27FC236}">
                <a16:creationId xmlns:a16="http://schemas.microsoft.com/office/drawing/2014/main" id="{7C9BC6CC-2085-FE45-B343-1239AD37DA89}"/>
              </a:ext>
            </a:extLst>
          </p:cNvPr>
          <p:cNvSpPr txBox="1"/>
          <p:nvPr/>
        </p:nvSpPr>
        <p:spPr>
          <a:xfrm>
            <a:off x="1282700" y="2146300"/>
            <a:ext cx="1968500" cy="533400"/>
          </a:xfrm>
          <a:prstGeom prst="rect">
            <a:avLst/>
          </a:prstGeom>
          <a:noFill/>
        </p:spPr>
        <p:txBody>
          <a:bodyPr vert="horz" wrap="square" lIns="0" tIns="0" rIns="0" bIns="0" rtlCol="0" anchor="t">
            <a:noAutofit/>
          </a:bodyPr>
          <a:lstStyle/>
          <a:p>
            <a:r>
              <a:rPr lang="en-US" sz="1200" b="1">
                <a:solidFill>
                  <a:srgbClr val="F7F8FA"/>
                </a:solidFill>
                <a:latin typeface="Arial" panose="020B0604020202020204" pitchFamily="34" charset="0"/>
              </a:rPr>
              <a:t>A/A • 5.000 runs</a:t>
            </a:r>
          </a:p>
        </p:txBody>
      </p:sp>
      <p:sp>
        <p:nvSpPr>
          <p:cNvPr id="34" name="TextBox 33">
            <a:extLst>
              <a:ext uri="{FF2B5EF4-FFF2-40B4-BE49-F238E27FC236}">
                <a16:creationId xmlns:a16="http://schemas.microsoft.com/office/drawing/2014/main" id="{9DFE28FC-BCAA-84B1-82F0-69C6CB49C11E}"/>
              </a:ext>
            </a:extLst>
          </p:cNvPr>
          <p:cNvSpPr txBox="1"/>
          <p:nvPr/>
        </p:nvSpPr>
        <p:spPr>
          <a:xfrm>
            <a:off x="3492500" y="2146300"/>
            <a:ext cx="2349500" cy="533400"/>
          </a:xfrm>
          <a:prstGeom prst="rect">
            <a:avLst/>
          </a:prstGeom>
          <a:noFill/>
        </p:spPr>
        <p:txBody>
          <a:bodyPr vert="horz" wrap="square" lIns="0" tIns="0" rIns="0" bIns="0" rtlCol="0" anchor="t">
            <a:noAutofit/>
          </a:bodyPr>
          <a:lstStyle/>
          <a:p>
            <a:r>
              <a:rPr lang="en-US" sz="1250" b="1">
                <a:solidFill>
                  <a:srgbClr val="25D0A2"/>
                </a:solidFill>
                <a:latin typeface="Arial" panose="020B0604020202020204" pitchFamily="34" charset="0"/>
              </a:rPr>
              <a:t>FPR 5,04%  ≈  alpha 5%</a:t>
            </a:r>
          </a:p>
        </p:txBody>
      </p:sp>
      <p:sp>
        <p:nvSpPr>
          <p:cNvPr id="35" name="TextBox 34">
            <a:extLst>
              <a:ext uri="{FF2B5EF4-FFF2-40B4-BE49-F238E27FC236}">
                <a16:creationId xmlns:a16="http://schemas.microsoft.com/office/drawing/2014/main" id="{6B57AA32-DF71-0911-A291-EBFAC3A8CD88}"/>
              </a:ext>
            </a:extLst>
          </p:cNvPr>
          <p:cNvSpPr txBox="1"/>
          <p:nvPr/>
        </p:nvSpPr>
        <p:spPr>
          <a:xfrm>
            <a:off x="6223000" y="2146300"/>
            <a:ext cx="2222500" cy="533400"/>
          </a:xfrm>
          <a:prstGeom prst="rect">
            <a:avLst/>
          </a:prstGeom>
          <a:noFill/>
        </p:spPr>
        <p:txBody>
          <a:bodyPr vert="horz" wrap="square" lIns="0" tIns="0" rIns="0" bIns="0" rtlCol="0" anchor="t">
            <a:noAutofit/>
          </a:bodyPr>
          <a:lstStyle/>
          <a:p>
            <a:r>
              <a:rPr lang="en-US" sz="1150">
                <a:solidFill>
                  <a:srgbClr val="F7F8FA"/>
                </a:solidFill>
                <a:latin typeface="Arial" panose="020B0604020202020204" pitchFamily="34" charset="0"/>
              </a:rPr>
              <a:t>False-positive đúng mức thiết kế</a:t>
            </a:r>
          </a:p>
        </p:txBody>
      </p:sp>
      <p:cxnSp>
        <p:nvCxnSpPr>
          <p:cNvPr id="36" name="Straight Connector 35">
            <a:extLst>
              <a:ext uri="{FF2B5EF4-FFF2-40B4-BE49-F238E27FC236}">
                <a16:creationId xmlns:a16="http://schemas.microsoft.com/office/drawing/2014/main" id="{43EB35BB-7610-FDD0-EB8B-4464830CAE09}"/>
              </a:ext>
            </a:extLst>
          </p:cNvPr>
          <p:cNvCxnSpPr/>
          <p:nvPr/>
        </p:nvCxnSpPr>
        <p:spPr>
          <a:xfrm>
            <a:off x="736600" y="2870200"/>
            <a:ext cx="7670800" cy="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0A0E810-4B5B-4ACB-0D17-AE74F5338BBC}"/>
              </a:ext>
            </a:extLst>
          </p:cNvPr>
          <p:cNvSpPr/>
          <p:nvPr/>
        </p:nvSpPr>
        <p:spPr>
          <a:xfrm>
            <a:off x="787400" y="3136900"/>
            <a:ext cx="342900" cy="342900"/>
          </a:xfrm>
          <a:prstGeom prst="ellipse">
            <a:avLst/>
          </a:prstGeom>
          <a:solidFill>
            <a:srgbClr val="FFB4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ACE849-934B-3419-4A78-3BB7A393B116}"/>
              </a:ext>
            </a:extLst>
          </p:cNvPr>
          <p:cNvSpPr txBox="1"/>
          <p:nvPr/>
        </p:nvSpPr>
        <p:spPr>
          <a:xfrm>
            <a:off x="863600" y="3213100"/>
            <a:ext cx="190500" cy="177800"/>
          </a:xfrm>
          <a:prstGeom prst="rect">
            <a:avLst/>
          </a:prstGeom>
          <a:noFill/>
        </p:spPr>
        <p:txBody>
          <a:bodyPr vert="horz" wrap="square" lIns="0" tIns="0" rIns="0" bIns="0" rtlCol="0" anchor="ctr">
            <a:noAutofit/>
          </a:bodyPr>
          <a:lstStyle/>
          <a:p>
            <a:pPr algn="ctr"/>
            <a:r>
              <a:rPr lang="en-US" sz="900" b="1">
                <a:solidFill>
                  <a:srgbClr val="0A1423"/>
                </a:solidFill>
                <a:latin typeface="Arial" panose="020B0604020202020204" pitchFamily="34" charset="0"/>
              </a:rPr>
              <a:t>2</a:t>
            </a:r>
          </a:p>
        </p:txBody>
      </p:sp>
      <p:sp>
        <p:nvSpPr>
          <p:cNvPr id="39" name="TextBox 38">
            <a:extLst>
              <a:ext uri="{FF2B5EF4-FFF2-40B4-BE49-F238E27FC236}">
                <a16:creationId xmlns:a16="http://schemas.microsoft.com/office/drawing/2014/main" id="{651B57B7-EA72-4D85-2976-5324761444A6}"/>
              </a:ext>
            </a:extLst>
          </p:cNvPr>
          <p:cNvSpPr txBox="1"/>
          <p:nvPr/>
        </p:nvSpPr>
        <p:spPr>
          <a:xfrm>
            <a:off x="1282700" y="3187700"/>
            <a:ext cx="1968500" cy="533400"/>
          </a:xfrm>
          <a:prstGeom prst="rect">
            <a:avLst/>
          </a:prstGeom>
          <a:noFill/>
        </p:spPr>
        <p:txBody>
          <a:bodyPr vert="horz" wrap="square" lIns="0" tIns="0" rIns="0" bIns="0" rtlCol="0" anchor="t">
            <a:noAutofit/>
          </a:bodyPr>
          <a:lstStyle/>
          <a:p>
            <a:r>
              <a:rPr lang="en-US" sz="1200" b="1">
                <a:solidFill>
                  <a:srgbClr val="F7F8FA"/>
                </a:solidFill>
                <a:latin typeface="Arial" panose="020B0604020202020204" pitchFamily="34" charset="0"/>
              </a:rPr>
              <a:t>Treatment 10/90</a:t>
            </a:r>
          </a:p>
        </p:txBody>
      </p:sp>
      <p:sp>
        <p:nvSpPr>
          <p:cNvPr id="40" name="TextBox 39">
            <a:extLst>
              <a:ext uri="{FF2B5EF4-FFF2-40B4-BE49-F238E27FC236}">
                <a16:creationId xmlns:a16="http://schemas.microsoft.com/office/drawing/2014/main" id="{77D225BD-6A19-BC46-1879-044686B5314A}"/>
              </a:ext>
            </a:extLst>
          </p:cNvPr>
          <p:cNvSpPr txBox="1"/>
          <p:nvPr/>
        </p:nvSpPr>
        <p:spPr>
          <a:xfrm>
            <a:off x="3492500" y="3187700"/>
            <a:ext cx="2349500" cy="533400"/>
          </a:xfrm>
          <a:prstGeom prst="rect">
            <a:avLst/>
          </a:prstGeom>
          <a:noFill/>
        </p:spPr>
        <p:txBody>
          <a:bodyPr vert="horz" wrap="square" lIns="0" tIns="0" rIns="0" bIns="0" rtlCol="0" anchor="t">
            <a:noAutofit/>
          </a:bodyPr>
          <a:lstStyle/>
          <a:p>
            <a:r>
              <a:rPr lang="en-US" sz="1250" b="1">
                <a:solidFill>
                  <a:srgbClr val="FFB44D"/>
                </a:solidFill>
                <a:latin typeface="Arial" panose="020B0604020202020204" pitchFamily="34" charset="0"/>
              </a:rPr>
              <a:t>SD 0,157 vs 0,093  (+69%)</a:t>
            </a:r>
          </a:p>
        </p:txBody>
      </p:sp>
      <p:sp>
        <p:nvSpPr>
          <p:cNvPr id="41" name="TextBox 40">
            <a:extLst>
              <a:ext uri="{FF2B5EF4-FFF2-40B4-BE49-F238E27FC236}">
                <a16:creationId xmlns:a16="http://schemas.microsoft.com/office/drawing/2014/main" id="{62F3AB36-7BFE-C2ED-38F5-2D190AA9D3FA}"/>
              </a:ext>
            </a:extLst>
          </p:cNvPr>
          <p:cNvSpPr txBox="1"/>
          <p:nvPr/>
        </p:nvSpPr>
        <p:spPr>
          <a:xfrm>
            <a:off x="6223000" y="3187700"/>
            <a:ext cx="2222500" cy="533400"/>
          </a:xfrm>
          <a:prstGeom prst="rect">
            <a:avLst/>
          </a:prstGeom>
          <a:noFill/>
        </p:spPr>
        <p:txBody>
          <a:bodyPr vert="horz" wrap="square" lIns="0" tIns="0" rIns="0" bIns="0" rtlCol="0" anchor="t">
            <a:noAutofit/>
          </a:bodyPr>
          <a:lstStyle/>
          <a:p>
            <a:r>
              <a:rPr lang="en-US" sz="1150">
                <a:solidFill>
                  <a:srgbClr val="F7F8FA"/>
                </a:solidFill>
                <a:latin typeface="Arial" panose="020B0604020202020204" pitchFamily="34" charset="0"/>
              </a:rPr>
              <a:t>Bias nhỏ; uncertainty tăng rõ</a:t>
            </a:r>
          </a:p>
        </p:txBody>
      </p:sp>
      <p:cxnSp>
        <p:nvCxnSpPr>
          <p:cNvPr id="42" name="Straight Connector 41">
            <a:extLst>
              <a:ext uri="{FF2B5EF4-FFF2-40B4-BE49-F238E27FC236}">
                <a16:creationId xmlns:a16="http://schemas.microsoft.com/office/drawing/2014/main" id="{3BBB88B7-48BB-C956-A593-A6D2982A42C6}"/>
              </a:ext>
            </a:extLst>
          </p:cNvPr>
          <p:cNvCxnSpPr/>
          <p:nvPr/>
        </p:nvCxnSpPr>
        <p:spPr>
          <a:xfrm>
            <a:off x="736600" y="3911600"/>
            <a:ext cx="7670800" cy="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57FBE17-A3B9-1BD9-097F-BE7D676127D7}"/>
              </a:ext>
            </a:extLst>
          </p:cNvPr>
          <p:cNvSpPr/>
          <p:nvPr/>
        </p:nvSpPr>
        <p:spPr>
          <a:xfrm>
            <a:off x="787400" y="4178300"/>
            <a:ext cx="342900" cy="342900"/>
          </a:xfrm>
          <a:prstGeom prst="ellipse">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CEAE0C4C-984A-6572-CD3B-5FC50A9A3AE9}"/>
              </a:ext>
            </a:extLst>
          </p:cNvPr>
          <p:cNvSpPr txBox="1"/>
          <p:nvPr/>
        </p:nvSpPr>
        <p:spPr>
          <a:xfrm>
            <a:off x="863600" y="4254500"/>
            <a:ext cx="190500" cy="177800"/>
          </a:xfrm>
          <a:prstGeom prst="rect">
            <a:avLst/>
          </a:prstGeom>
          <a:noFill/>
        </p:spPr>
        <p:txBody>
          <a:bodyPr vert="horz" wrap="square" lIns="0" tIns="0" rIns="0" bIns="0" rtlCol="0" anchor="ctr">
            <a:noAutofit/>
          </a:bodyPr>
          <a:lstStyle/>
          <a:p>
            <a:pPr algn="ctr"/>
            <a:r>
              <a:rPr lang="en-US" sz="900" b="1">
                <a:solidFill>
                  <a:srgbClr val="0A1423"/>
                </a:solidFill>
                <a:latin typeface="Arial" panose="020B0604020202020204" pitchFamily="34" charset="0"/>
              </a:rPr>
              <a:t>3</a:t>
            </a:r>
          </a:p>
        </p:txBody>
      </p:sp>
      <p:sp>
        <p:nvSpPr>
          <p:cNvPr id="45" name="TextBox 44">
            <a:extLst>
              <a:ext uri="{FF2B5EF4-FFF2-40B4-BE49-F238E27FC236}">
                <a16:creationId xmlns:a16="http://schemas.microsoft.com/office/drawing/2014/main" id="{1AA78CAB-43D4-9723-09C3-86D7C3704CFE}"/>
              </a:ext>
            </a:extLst>
          </p:cNvPr>
          <p:cNvSpPr txBox="1"/>
          <p:nvPr/>
        </p:nvSpPr>
        <p:spPr>
          <a:xfrm>
            <a:off x="1282700" y="4229100"/>
            <a:ext cx="1968500" cy="533400"/>
          </a:xfrm>
          <a:prstGeom prst="rect">
            <a:avLst/>
          </a:prstGeom>
          <a:noFill/>
        </p:spPr>
        <p:txBody>
          <a:bodyPr vert="horz" wrap="square" lIns="0" tIns="0" rIns="0" bIns="0" rtlCol="0" anchor="t">
            <a:noAutofit/>
          </a:bodyPr>
          <a:lstStyle/>
          <a:p>
            <a:r>
              <a:rPr lang="en-US" sz="1200" b="1">
                <a:solidFill>
                  <a:srgbClr val="F7F8FA"/>
                </a:solidFill>
                <a:latin typeface="Arial" panose="020B0604020202020204" pitchFamily="34" charset="0"/>
              </a:rPr>
              <a:t>Gaussian noise SD=1</a:t>
            </a:r>
          </a:p>
        </p:txBody>
      </p:sp>
      <p:sp>
        <p:nvSpPr>
          <p:cNvPr id="46" name="TextBox 45">
            <a:extLst>
              <a:ext uri="{FF2B5EF4-FFF2-40B4-BE49-F238E27FC236}">
                <a16:creationId xmlns:a16="http://schemas.microsoft.com/office/drawing/2014/main" id="{F2194C7A-1969-FBE0-B7A5-6EE84F17C1AB}"/>
              </a:ext>
            </a:extLst>
          </p:cNvPr>
          <p:cNvSpPr txBox="1"/>
          <p:nvPr/>
        </p:nvSpPr>
        <p:spPr>
          <a:xfrm>
            <a:off x="3492500" y="4229100"/>
            <a:ext cx="2349500" cy="533400"/>
          </a:xfrm>
          <a:prstGeom prst="rect">
            <a:avLst/>
          </a:prstGeom>
          <a:noFill/>
        </p:spPr>
        <p:txBody>
          <a:bodyPr vert="horz" wrap="square" lIns="0" tIns="0" rIns="0" bIns="0" rtlCol="0" anchor="t">
            <a:noAutofit/>
          </a:bodyPr>
          <a:lstStyle/>
          <a:p>
            <a:r>
              <a:rPr lang="en-US" sz="1250" b="1">
                <a:solidFill>
                  <a:srgbClr val="29B8E8"/>
                </a:solidFill>
                <a:latin typeface="Arial" panose="020B0604020202020204" pitchFamily="34" charset="0"/>
              </a:rPr>
              <a:t>SD 0,092 vs 0,091</a:t>
            </a:r>
          </a:p>
        </p:txBody>
      </p:sp>
      <p:sp>
        <p:nvSpPr>
          <p:cNvPr id="47" name="TextBox 46">
            <a:extLst>
              <a:ext uri="{FF2B5EF4-FFF2-40B4-BE49-F238E27FC236}">
                <a16:creationId xmlns:a16="http://schemas.microsoft.com/office/drawing/2014/main" id="{E4472ECB-481D-1C87-2A14-21E7499A92DA}"/>
              </a:ext>
            </a:extLst>
          </p:cNvPr>
          <p:cNvSpPr txBox="1"/>
          <p:nvPr/>
        </p:nvSpPr>
        <p:spPr>
          <a:xfrm>
            <a:off x="6223000" y="4229100"/>
            <a:ext cx="2222500" cy="533400"/>
          </a:xfrm>
          <a:prstGeom prst="rect">
            <a:avLst/>
          </a:prstGeom>
          <a:noFill/>
        </p:spPr>
        <p:txBody>
          <a:bodyPr vert="horz" wrap="square" lIns="0" tIns="0" rIns="0" bIns="0" rtlCol="0" anchor="t">
            <a:noAutofit/>
          </a:bodyPr>
          <a:lstStyle/>
          <a:p>
            <a:r>
              <a:rPr lang="en-US" sz="1150">
                <a:solidFill>
                  <a:srgbClr val="F7F8FA"/>
                </a:solidFill>
                <a:latin typeface="Arial" panose="020B0604020202020204" pitchFamily="34" charset="0"/>
              </a:rPr>
              <a:t>Uncertainty chỉ tăng nhẹ</a:t>
            </a:r>
          </a:p>
        </p:txBody>
      </p:sp>
      <p:sp>
        <p:nvSpPr>
          <p:cNvPr id="48" name="Rectangle: Rounded Corners 47">
            <a:extLst>
              <a:ext uri="{FF2B5EF4-FFF2-40B4-BE49-F238E27FC236}">
                <a16:creationId xmlns:a16="http://schemas.microsoft.com/office/drawing/2014/main" id="{5A0464CF-AAD5-590A-1B2F-1E99485E9F40}"/>
              </a:ext>
            </a:extLst>
          </p:cNvPr>
          <p:cNvSpPr/>
          <p:nvPr/>
        </p:nvSpPr>
        <p:spPr>
          <a:xfrm>
            <a:off x="736600" y="5346700"/>
            <a:ext cx="7670800" cy="558800"/>
          </a:xfrm>
          <a:prstGeom prst="roundRect">
            <a:avLst/>
          </a:prstGeom>
          <a:solidFill>
            <a:srgbClr val="111C30"/>
          </a:solidFill>
          <a:ln w="12700">
            <a:solidFill>
              <a:srgbClr val="FFB4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9237A001-E745-F918-A6F1-6DBE1CD35D8A}"/>
              </a:ext>
            </a:extLst>
          </p:cNvPr>
          <p:cNvSpPr txBox="1"/>
          <p:nvPr/>
        </p:nvSpPr>
        <p:spPr>
          <a:xfrm>
            <a:off x="965200" y="5435600"/>
            <a:ext cx="7213600" cy="431800"/>
          </a:xfrm>
          <a:prstGeom prst="rect">
            <a:avLst/>
          </a:prstGeom>
          <a:noFill/>
        </p:spPr>
        <p:txBody>
          <a:bodyPr vert="horz" wrap="square" lIns="0" tIns="0" rIns="0" bIns="0" rtlCol="0" anchor="t">
            <a:noAutofit/>
          </a:bodyPr>
          <a:lstStyle/>
          <a:p>
            <a:pPr algn="ctr"/>
            <a:r>
              <a:rPr lang="vi-VN" sz="1250" b="1">
                <a:solidFill>
                  <a:srgbClr val="FFB44D"/>
                </a:solidFill>
                <a:latin typeface="Arial" panose="020B0604020202020204" pitchFamily="34" charset="0"/>
              </a:rPr>
              <a:t>Kết luận đúng phạm vi: robust trong các synthetic scenarios đã thử, chưa phải production validation.</a:t>
            </a:r>
            <a:endParaRPr lang="en-US" sz="1250" b="1">
              <a:solidFill>
                <a:srgbClr val="FFB44D"/>
              </a:solidFill>
              <a:latin typeface="Arial" panose="020B0604020202020204" pitchFamily="34" charset="0"/>
            </a:endParaRPr>
          </a:p>
        </p:txBody>
      </p:sp>
    </p:spTree>
    <p:extLst>
      <p:ext uri="{BB962C8B-B14F-4D97-AF65-F5344CB8AC3E}">
        <p14:creationId xmlns:p14="http://schemas.microsoft.com/office/powerpoint/2010/main" val="3582608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423"/>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81572FF-C7A7-C560-8DE6-12EBD1B5C79C}"/>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lideTitle">
            <a:extLst>
              <a:ext uri="{FF2B5EF4-FFF2-40B4-BE49-F238E27FC236}">
                <a16:creationId xmlns:a16="http://schemas.microsoft.com/office/drawing/2014/main" id="{DA1E75B0-77EC-D01C-0F7D-3DCE229FD49B}"/>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vi-VN" sz="2800" b="1">
                <a:solidFill>
                  <a:srgbClr val="F7F8FA"/>
                </a:solidFill>
                <a:latin typeface="Arial" panose="020B0604020202020204" pitchFamily="34" charset="0"/>
              </a:rPr>
              <a:t>Đề xuất pilot, chưa đủ bằng chứng rollout</a:t>
            </a:r>
            <a:endParaRPr lang="en-US" sz="2800" b="1">
              <a:solidFill>
                <a:srgbClr val="F7F8FA"/>
              </a:solidFill>
              <a:latin typeface="Arial" panose="020B0604020202020204" pitchFamily="34" charset="0"/>
            </a:endParaRPr>
          </a:p>
        </p:txBody>
      </p:sp>
      <p:sp>
        <p:nvSpPr>
          <p:cNvPr id="25" name="SlideSubtitle">
            <a:extLst>
              <a:ext uri="{FF2B5EF4-FFF2-40B4-BE49-F238E27FC236}">
                <a16:creationId xmlns:a16="http://schemas.microsoft.com/office/drawing/2014/main" id="{D44A3F1E-F946-2112-CCA5-7DF652FC262C}"/>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Kết luận đúng phạm vi và ba điểm cần mentor phản biện</a:t>
            </a:r>
          </a:p>
        </p:txBody>
      </p:sp>
      <p:sp>
        <p:nvSpPr>
          <p:cNvPr id="26" name="Rectangle 25">
            <a:extLst>
              <a:ext uri="{FF2B5EF4-FFF2-40B4-BE49-F238E27FC236}">
                <a16:creationId xmlns:a16="http://schemas.microsoft.com/office/drawing/2014/main" id="{FF5DAC4D-74CF-01D2-0C79-9AB35B36AC7C}"/>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AE9DE6F-A7A3-7DDA-35D1-28E14EBE13DE}"/>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FD31D825-DF41-5FC4-B0BB-2DE69FFD2B86}"/>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9" name="Rectangle 28">
            <a:extLst>
              <a:ext uri="{FF2B5EF4-FFF2-40B4-BE49-F238E27FC236}">
                <a16:creationId xmlns:a16="http://schemas.microsoft.com/office/drawing/2014/main" id="{4B149B5A-EBEF-EC8A-47D6-C0C3048C82D8}"/>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703E532-011E-59A1-1525-576C95A0AF0E}"/>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31" name="TextBox 30">
            <a:extLst>
              <a:ext uri="{FF2B5EF4-FFF2-40B4-BE49-F238E27FC236}">
                <a16:creationId xmlns:a16="http://schemas.microsoft.com/office/drawing/2014/main" id="{A38D166D-4891-490D-9BD4-82F9CFD7F454}"/>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07 / 07</a:t>
            </a:r>
          </a:p>
        </p:txBody>
      </p:sp>
      <p:sp>
        <p:nvSpPr>
          <p:cNvPr id="32" name="TextBox 31">
            <a:extLst>
              <a:ext uri="{FF2B5EF4-FFF2-40B4-BE49-F238E27FC236}">
                <a16:creationId xmlns:a16="http://schemas.microsoft.com/office/drawing/2014/main" id="{91EECB91-CB87-1D08-F8A2-EDA37524B3EF}"/>
              </a:ext>
            </a:extLst>
          </p:cNvPr>
          <p:cNvSpPr txBox="1"/>
          <p:nvPr/>
        </p:nvSpPr>
        <p:spPr>
          <a:xfrm>
            <a:off x="736600" y="1765300"/>
            <a:ext cx="2235200" cy="304800"/>
          </a:xfrm>
          <a:prstGeom prst="rect">
            <a:avLst/>
          </a:prstGeom>
          <a:noFill/>
        </p:spPr>
        <p:txBody>
          <a:bodyPr vert="horz" wrap="square" lIns="0" tIns="0" rIns="0" bIns="0" rtlCol="0" anchor="t">
            <a:noAutofit/>
          </a:bodyPr>
          <a:lstStyle/>
          <a:p>
            <a:r>
              <a:rPr lang="en-US" sz="1400" b="1">
                <a:solidFill>
                  <a:srgbClr val="25D0A2"/>
                </a:solidFill>
                <a:latin typeface="Arial" panose="020B0604020202020204" pitchFamily="34" charset="0"/>
              </a:rPr>
              <a:t>Đã chứng minh</a:t>
            </a:r>
          </a:p>
        </p:txBody>
      </p:sp>
      <p:sp>
        <p:nvSpPr>
          <p:cNvPr id="33" name="Rectangle 32">
            <a:extLst>
              <a:ext uri="{FF2B5EF4-FFF2-40B4-BE49-F238E27FC236}">
                <a16:creationId xmlns:a16="http://schemas.microsoft.com/office/drawing/2014/main" id="{D6D24F57-5D6E-B1E4-6624-1327C845EF85}"/>
              </a:ext>
            </a:extLst>
          </p:cNvPr>
          <p:cNvSpPr/>
          <p:nvPr/>
        </p:nvSpPr>
        <p:spPr>
          <a:xfrm>
            <a:off x="736600" y="2133600"/>
            <a:ext cx="2209800" cy="381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06F3B1D4-B663-BBED-3817-63CDB1573ED0}"/>
              </a:ext>
            </a:extLst>
          </p:cNvPr>
          <p:cNvSpPr txBox="1"/>
          <p:nvPr/>
        </p:nvSpPr>
        <p:spPr>
          <a:xfrm>
            <a:off x="736600" y="2438400"/>
            <a:ext cx="2235200" cy="1651000"/>
          </a:xfrm>
          <a:prstGeom prst="rect">
            <a:avLst/>
          </a:prstGeom>
          <a:noFill/>
        </p:spPr>
        <p:txBody>
          <a:bodyPr vert="horz" wrap="square" lIns="0" tIns="0" rIns="0" bIns="0" rtlCol="0" anchor="t">
            <a:noAutofit/>
          </a:bodyPr>
          <a:lstStyle/>
          <a:p>
            <a:r>
              <a:rPr lang="en-US" sz="1120">
                <a:solidFill>
                  <a:srgbClr val="F7F8FA"/>
                </a:solidFill>
                <a:latin typeface="Arial" panose="020B0604020202020204" pitchFamily="34" charset="0"/>
              </a:rPr>
              <a:t>End-to-end causal sandbox
Qini champion: 0,188
Stress tests đúng hành vi lý thuyết</a:t>
            </a:r>
          </a:p>
        </p:txBody>
      </p:sp>
      <p:sp>
        <p:nvSpPr>
          <p:cNvPr id="35" name="TextBox 34">
            <a:extLst>
              <a:ext uri="{FF2B5EF4-FFF2-40B4-BE49-F238E27FC236}">
                <a16:creationId xmlns:a16="http://schemas.microsoft.com/office/drawing/2014/main" id="{B96AB50E-B34A-EABA-687A-543DA0D0C5BF}"/>
              </a:ext>
            </a:extLst>
          </p:cNvPr>
          <p:cNvSpPr txBox="1"/>
          <p:nvPr/>
        </p:nvSpPr>
        <p:spPr>
          <a:xfrm>
            <a:off x="3479800" y="1765300"/>
            <a:ext cx="2235200" cy="304800"/>
          </a:xfrm>
          <a:prstGeom prst="rect">
            <a:avLst/>
          </a:prstGeom>
          <a:noFill/>
        </p:spPr>
        <p:txBody>
          <a:bodyPr vert="horz" wrap="square" lIns="0" tIns="0" rIns="0" bIns="0" rtlCol="0" anchor="t">
            <a:noAutofit/>
          </a:bodyPr>
          <a:lstStyle/>
          <a:p>
            <a:r>
              <a:rPr lang="vi-VN" sz="1400" b="1">
                <a:solidFill>
                  <a:srgbClr val="FFB44D"/>
                </a:solidFill>
                <a:latin typeface="Arial" panose="020B0604020202020204" pitchFamily="34" charset="0"/>
              </a:rPr>
              <a:t>Chưa chứng minh</a:t>
            </a:r>
            <a:endParaRPr lang="en-US" sz="1400" b="1">
              <a:solidFill>
                <a:srgbClr val="FFB44D"/>
              </a:solidFill>
              <a:latin typeface="Arial" panose="020B0604020202020204" pitchFamily="34" charset="0"/>
            </a:endParaRPr>
          </a:p>
        </p:txBody>
      </p:sp>
      <p:sp>
        <p:nvSpPr>
          <p:cNvPr id="36" name="Rectangle 35">
            <a:extLst>
              <a:ext uri="{FF2B5EF4-FFF2-40B4-BE49-F238E27FC236}">
                <a16:creationId xmlns:a16="http://schemas.microsoft.com/office/drawing/2014/main" id="{D3CA3148-6A56-DF01-766F-47A008849850}"/>
              </a:ext>
            </a:extLst>
          </p:cNvPr>
          <p:cNvSpPr/>
          <p:nvPr/>
        </p:nvSpPr>
        <p:spPr>
          <a:xfrm>
            <a:off x="3479800" y="2133600"/>
            <a:ext cx="2209800" cy="38100"/>
          </a:xfrm>
          <a:prstGeom prst="rect">
            <a:avLst/>
          </a:prstGeom>
          <a:solidFill>
            <a:srgbClr val="FFB4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D46F6DBB-23F5-5D49-2511-F9BB320DF4A6}"/>
              </a:ext>
            </a:extLst>
          </p:cNvPr>
          <p:cNvSpPr txBox="1"/>
          <p:nvPr/>
        </p:nvSpPr>
        <p:spPr>
          <a:xfrm>
            <a:off x="3479800" y="2438400"/>
            <a:ext cx="2235200" cy="1651000"/>
          </a:xfrm>
          <a:prstGeom prst="rect">
            <a:avLst/>
          </a:prstGeom>
          <a:noFill/>
        </p:spPr>
        <p:txBody>
          <a:bodyPr vert="horz" wrap="square" lIns="0" tIns="0" rIns="0" bIns="0" rtlCol="0" anchor="t">
            <a:noAutofit/>
          </a:bodyPr>
          <a:lstStyle/>
          <a:p>
            <a:r>
              <a:rPr lang="vi-VN" sz="1120">
                <a:solidFill>
                  <a:srgbClr val="F7F8FA"/>
                </a:solidFill>
                <a:latin typeface="Arial" panose="020B0604020202020204" pitchFamily="34" charset="0"/>
              </a:rPr>
              <a:t>Profit trên dữ liệu GSM thật
Độ đúng của economics assumptions
Stability dưới production drift</a:t>
            </a:r>
            <a:endParaRPr lang="en-US" sz="1120">
              <a:solidFill>
                <a:srgbClr val="F7F8FA"/>
              </a:solidFill>
              <a:latin typeface="Arial" panose="020B0604020202020204" pitchFamily="34" charset="0"/>
            </a:endParaRPr>
          </a:p>
        </p:txBody>
      </p:sp>
      <p:sp>
        <p:nvSpPr>
          <p:cNvPr id="38" name="TextBox 37">
            <a:extLst>
              <a:ext uri="{FF2B5EF4-FFF2-40B4-BE49-F238E27FC236}">
                <a16:creationId xmlns:a16="http://schemas.microsoft.com/office/drawing/2014/main" id="{3BAB9A5D-84EF-AAC0-DDDE-B4EE043F9D92}"/>
              </a:ext>
            </a:extLst>
          </p:cNvPr>
          <p:cNvSpPr txBox="1"/>
          <p:nvPr/>
        </p:nvSpPr>
        <p:spPr>
          <a:xfrm>
            <a:off x="6223000" y="1765300"/>
            <a:ext cx="2235200" cy="304800"/>
          </a:xfrm>
          <a:prstGeom prst="rect">
            <a:avLst/>
          </a:prstGeom>
          <a:noFill/>
        </p:spPr>
        <p:txBody>
          <a:bodyPr vert="horz" wrap="square" lIns="0" tIns="0" rIns="0" bIns="0" rtlCol="0" anchor="t">
            <a:noAutofit/>
          </a:bodyPr>
          <a:lstStyle/>
          <a:p>
            <a:r>
              <a:rPr lang="vi-VN" sz="1400" b="1">
                <a:solidFill>
                  <a:srgbClr val="29B8E8"/>
                </a:solidFill>
                <a:latin typeface="Arial" panose="020B0604020202020204" pitchFamily="34" charset="0"/>
              </a:rPr>
              <a:t>Bước tiếp theo</a:t>
            </a:r>
            <a:endParaRPr lang="en-US" sz="1400" b="1">
              <a:solidFill>
                <a:srgbClr val="29B8E8"/>
              </a:solidFill>
              <a:latin typeface="Arial" panose="020B0604020202020204" pitchFamily="34" charset="0"/>
            </a:endParaRPr>
          </a:p>
        </p:txBody>
      </p:sp>
      <p:sp>
        <p:nvSpPr>
          <p:cNvPr id="39" name="Rectangle 38">
            <a:extLst>
              <a:ext uri="{FF2B5EF4-FFF2-40B4-BE49-F238E27FC236}">
                <a16:creationId xmlns:a16="http://schemas.microsoft.com/office/drawing/2014/main" id="{CF7A5000-4689-1E34-1952-EE1305C863F1}"/>
              </a:ext>
            </a:extLst>
          </p:cNvPr>
          <p:cNvSpPr/>
          <p:nvPr/>
        </p:nvSpPr>
        <p:spPr>
          <a:xfrm>
            <a:off x="6223000" y="2133600"/>
            <a:ext cx="2209800" cy="381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02F8D82-3B73-1263-133A-3410AF584D6F}"/>
              </a:ext>
            </a:extLst>
          </p:cNvPr>
          <p:cNvSpPr txBox="1"/>
          <p:nvPr/>
        </p:nvSpPr>
        <p:spPr>
          <a:xfrm>
            <a:off x="6223000" y="2438400"/>
            <a:ext cx="2235200" cy="1651000"/>
          </a:xfrm>
          <a:prstGeom prst="rect">
            <a:avLst/>
          </a:prstGeom>
          <a:noFill/>
        </p:spPr>
        <p:txBody>
          <a:bodyPr vert="horz" wrap="square" lIns="0" tIns="0" rIns="0" bIns="0" rtlCol="0" anchor="t">
            <a:noAutofit/>
          </a:bodyPr>
          <a:lstStyle/>
          <a:p>
            <a:r>
              <a:rPr lang="en-US" sz="1120">
                <a:solidFill>
                  <a:srgbClr val="F7F8FA"/>
                </a:solidFill>
                <a:latin typeface="Arial" panose="020B0604020202020204" pitchFamily="34" charset="0"/>
              </a:rPr>
              <a:t>Randomized pilot quy mô nhỏ
Budget cap + stop-loss
SRM, balance và guardrails</a:t>
            </a:r>
          </a:p>
        </p:txBody>
      </p:sp>
      <p:cxnSp>
        <p:nvCxnSpPr>
          <p:cNvPr id="41" name="Straight Connector 40">
            <a:extLst>
              <a:ext uri="{FF2B5EF4-FFF2-40B4-BE49-F238E27FC236}">
                <a16:creationId xmlns:a16="http://schemas.microsoft.com/office/drawing/2014/main" id="{2EE91205-03A8-A998-9F82-57B4CE4B27B6}"/>
              </a:ext>
            </a:extLst>
          </p:cNvPr>
          <p:cNvCxnSpPr/>
          <p:nvPr/>
        </p:nvCxnSpPr>
        <p:spPr>
          <a:xfrm>
            <a:off x="3213100" y="2209800"/>
            <a:ext cx="0" cy="208280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DB349F78-46B4-337E-8994-80E73C1FD0EE}"/>
              </a:ext>
            </a:extLst>
          </p:cNvPr>
          <p:cNvCxnSpPr/>
          <p:nvPr/>
        </p:nvCxnSpPr>
        <p:spPr>
          <a:xfrm>
            <a:off x="5956300" y="2209800"/>
            <a:ext cx="0" cy="208280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43" name="Rectangle: Rounded Corners 42">
            <a:extLst>
              <a:ext uri="{FF2B5EF4-FFF2-40B4-BE49-F238E27FC236}">
                <a16:creationId xmlns:a16="http://schemas.microsoft.com/office/drawing/2014/main" id="{96D8A853-41C8-E29F-575E-1D92B175AC5C}"/>
              </a:ext>
            </a:extLst>
          </p:cNvPr>
          <p:cNvSpPr/>
          <p:nvPr/>
        </p:nvSpPr>
        <p:spPr>
          <a:xfrm>
            <a:off x="736600" y="4737100"/>
            <a:ext cx="7696200" cy="952500"/>
          </a:xfrm>
          <a:prstGeom prst="roundRect">
            <a:avLst/>
          </a:prstGeom>
          <a:solidFill>
            <a:srgbClr val="17274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5EEEF7CE-C400-AC48-426B-41ED0418FDD5}"/>
              </a:ext>
            </a:extLst>
          </p:cNvPr>
          <p:cNvSpPr txBox="1"/>
          <p:nvPr/>
        </p:nvSpPr>
        <p:spPr>
          <a:xfrm>
            <a:off x="990600" y="4902200"/>
            <a:ext cx="2603500" cy="254000"/>
          </a:xfrm>
          <a:prstGeom prst="rect">
            <a:avLst/>
          </a:prstGeom>
          <a:noFill/>
        </p:spPr>
        <p:txBody>
          <a:bodyPr vert="horz" wrap="square" lIns="0" tIns="0" rIns="0" bIns="0" rtlCol="0" anchor="t">
            <a:noAutofit/>
          </a:bodyPr>
          <a:lstStyle/>
          <a:p>
            <a:r>
              <a:rPr lang="en-US" sz="1150" b="1">
                <a:solidFill>
                  <a:srgbClr val="FFC000"/>
                </a:solidFill>
                <a:latin typeface="Arial" panose="020B0604020202020204" pitchFamily="34" charset="0"/>
              </a:rPr>
              <a:t>Mentor phản biện giúp 3 điểm</a:t>
            </a:r>
          </a:p>
        </p:txBody>
      </p:sp>
      <p:sp>
        <p:nvSpPr>
          <p:cNvPr id="45" name="TextBox 44">
            <a:extLst>
              <a:ext uri="{FF2B5EF4-FFF2-40B4-BE49-F238E27FC236}">
                <a16:creationId xmlns:a16="http://schemas.microsoft.com/office/drawing/2014/main" id="{3F3FB299-EB64-3506-16A4-713CDE230A36}"/>
              </a:ext>
            </a:extLst>
          </p:cNvPr>
          <p:cNvSpPr txBox="1"/>
          <p:nvPr/>
        </p:nvSpPr>
        <p:spPr>
          <a:xfrm>
            <a:off x="990600" y="5232400"/>
            <a:ext cx="7112000" cy="279400"/>
          </a:xfrm>
          <a:prstGeom prst="rect">
            <a:avLst/>
          </a:prstGeom>
          <a:noFill/>
        </p:spPr>
        <p:txBody>
          <a:bodyPr vert="horz" wrap="square" lIns="0" tIns="0" rIns="0" bIns="0" rtlCol="0" anchor="t">
            <a:noAutofit/>
          </a:bodyPr>
          <a:lstStyle/>
          <a:p>
            <a:r>
              <a:rPr lang="en-US" sz="1500" b="1">
                <a:solidFill>
                  <a:srgbClr val="F7F8FA"/>
                </a:solidFill>
                <a:latin typeface="Arial" panose="020B0604020202020204" pitchFamily="34" charset="0"/>
              </a:rPr>
              <a:t>Logic chọn model  •  Economics assumptions  •  Pilot guardrails</a:t>
            </a:r>
          </a:p>
        </p:txBody>
      </p:sp>
    </p:spTree>
    <p:extLst>
      <p:ext uri="{BB962C8B-B14F-4D97-AF65-F5344CB8AC3E}">
        <p14:creationId xmlns:p14="http://schemas.microsoft.com/office/powerpoint/2010/main" val="4140463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0C43F06-5AEA-C2B9-8704-012031FFABC1}"/>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FE915942-9615-A22E-A704-B174C1553D35}"/>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500" b="1">
                <a:solidFill>
                  <a:srgbClr val="F7F8FA"/>
                </a:solidFill>
                <a:latin typeface="Arial" panose="020B0604020202020204" pitchFamily="34" charset="0"/>
              </a:rPr>
              <a:t>Appendix A1 — Công thức Expected Value</a:t>
            </a:r>
          </a:p>
        </p:txBody>
      </p:sp>
      <p:sp>
        <p:nvSpPr>
          <p:cNvPr id="21" name="SlideSubtitle">
            <a:extLst>
              <a:ext uri="{FF2B5EF4-FFF2-40B4-BE49-F238E27FC236}">
                <a16:creationId xmlns:a16="http://schemas.microsoft.com/office/drawing/2014/main" id="{18025FF7-2DA0-E972-BD6B-C0ADF06EA057}"/>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Synthetic assumptions dùng trong policy simulator</a:t>
            </a:r>
          </a:p>
        </p:txBody>
      </p:sp>
      <p:sp>
        <p:nvSpPr>
          <p:cNvPr id="22" name="Rectangle 21">
            <a:extLst>
              <a:ext uri="{FF2B5EF4-FFF2-40B4-BE49-F238E27FC236}">
                <a16:creationId xmlns:a16="http://schemas.microsoft.com/office/drawing/2014/main" id="{96F96CE3-9404-9155-50CF-EEC0BA301EE6}"/>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06AB4DE-4E08-F3FA-DE45-6D20008F2B4D}"/>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724FBC69-AD06-CAE7-AD74-CD17C4A70083}"/>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5" name="Rectangle 24">
            <a:extLst>
              <a:ext uri="{FF2B5EF4-FFF2-40B4-BE49-F238E27FC236}">
                <a16:creationId xmlns:a16="http://schemas.microsoft.com/office/drawing/2014/main" id="{7BFBA420-96E0-860B-7918-52D11DF51D23}"/>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084403D-34FE-99A0-5E01-C52832C460FE}"/>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7" name="TextBox 26">
            <a:extLst>
              <a:ext uri="{FF2B5EF4-FFF2-40B4-BE49-F238E27FC236}">
                <a16:creationId xmlns:a16="http://schemas.microsoft.com/office/drawing/2014/main" id="{C03A9DCE-8221-CB5D-9159-4C59FD684E43}"/>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A1</a:t>
            </a:r>
          </a:p>
        </p:txBody>
      </p:sp>
      <p:sp>
        <p:nvSpPr>
          <p:cNvPr id="28" name="Rectangle: Rounded Corners 27">
            <a:extLst>
              <a:ext uri="{FF2B5EF4-FFF2-40B4-BE49-F238E27FC236}">
                <a16:creationId xmlns:a16="http://schemas.microsoft.com/office/drawing/2014/main" id="{8216495A-EE82-C71B-17F0-701F4C86C2BC}"/>
              </a:ext>
            </a:extLst>
          </p:cNvPr>
          <p:cNvSpPr/>
          <p:nvPr/>
        </p:nvSpPr>
        <p:spPr>
          <a:xfrm>
            <a:off x="863600" y="1752600"/>
            <a:ext cx="7416800" cy="1219200"/>
          </a:xfrm>
          <a:prstGeom prst="roundRect">
            <a:avLst/>
          </a:prstGeom>
          <a:solidFill>
            <a:srgbClr val="172746"/>
          </a:solidFill>
          <a:ln w="12700">
            <a:solidFill>
              <a:srgbClr val="3446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7123CC13-3229-1BEB-ED6D-73691E1CD8E7}"/>
              </a:ext>
            </a:extLst>
          </p:cNvPr>
          <p:cNvSpPr txBox="1"/>
          <p:nvPr/>
        </p:nvSpPr>
        <p:spPr>
          <a:xfrm>
            <a:off x="1117600" y="2032000"/>
            <a:ext cx="6908800" cy="660400"/>
          </a:xfrm>
          <a:prstGeom prst="rect">
            <a:avLst/>
          </a:prstGeom>
          <a:noFill/>
        </p:spPr>
        <p:txBody>
          <a:bodyPr vert="horz" wrap="square" lIns="0" tIns="0" rIns="0" bIns="0" rtlCol="0" anchor="ctr">
            <a:noAutofit/>
          </a:bodyPr>
          <a:lstStyle/>
          <a:p>
            <a:pPr algn="ctr"/>
            <a:r>
              <a:rPr lang="en-US" sz="1900" b="1">
                <a:solidFill>
                  <a:srgbClr val="F7F8FA"/>
                </a:solidFill>
                <a:latin typeface="Arial" panose="020B0604020202020204" pitchFamily="34" charset="0"/>
              </a:rPr>
              <a:t>EVᵢ = CATEᵢ × margin_per_rideᵢ − Ŷᵢ(1) × voucher_cost_per_rideᵢ</a:t>
            </a:r>
          </a:p>
        </p:txBody>
      </p:sp>
      <p:sp>
        <p:nvSpPr>
          <p:cNvPr id="30" name="TextBox 29">
            <a:extLst>
              <a:ext uri="{FF2B5EF4-FFF2-40B4-BE49-F238E27FC236}">
                <a16:creationId xmlns:a16="http://schemas.microsoft.com/office/drawing/2014/main" id="{7BB5E7E4-5D02-CA71-FB15-778F939F10B0}"/>
              </a:ext>
            </a:extLst>
          </p:cNvPr>
          <p:cNvSpPr txBox="1"/>
          <p:nvPr/>
        </p:nvSpPr>
        <p:spPr>
          <a:xfrm>
            <a:off x="863600" y="3441700"/>
            <a:ext cx="3302000" cy="279400"/>
          </a:xfrm>
          <a:prstGeom prst="rect">
            <a:avLst/>
          </a:prstGeom>
          <a:noFill/>
        </p:spPr>
        <p:txBody>
          <a:bodyPr vert="horz" wrap="square" lIns="0" tIns="0" rIns="0" bIns="0" rtlCol="0" anchor="t">
            <a:noAutofit/>
          </a:bodyPr>
          <a:lstStyle/>
          <a:p>
            <a:r>
              <a:rPr lang="en-US" sz="1200" b="1">
                <a:solidFill>
                  <a:srgbClr val="FFC000"/>
                </a:solidFill>
                <a:latin typeface="Arial" panose="020B0604020202020204" pitchFamily="34" charset="0"/>
              </a:rPr>
              <a:t>Assumptions</a:t>
            </a:r>
          </a:p>
        </p:txBody>
      </p:sp>
      <p:sp>
        <p:nvSpPr>
          <p:cNvPr id="31" name="Rectangle 30">
            <a:extLst>
              <a:ext uri="{FF2B5EF4-FFF2-40B4-BE49-F238E27FC236}">
                <a16:creationId xmlns:a16="http://schemas.microsoft.com/office/drawing/2014/main" id="{FC63E5C9-6AA9-7743-4412-FEE74FEF201A}"/>
              </a:ext>
            </a:extLst>
          </p:cNvPr>
          <p:cNvSpPr/>
          <p:nvPr/>
        </p:nvSpPr>
        <p:spPr>
          <a:xfrm>
            <a:off x="863600" y="3746500"/>
            <a:ext cx="3302000" cy="254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40DC6C65-3665-01ED-E203-F989ACF6626B}"/>
              </a:ext>
            </a:extLst>
          </p:cNvPr>
          <p:cNvSpPr txBox="1"/>
          <p:nvPr/>
        </p:nvSpPr>
        <p:spPr>
          <a:xfrm>
            <a:off x="863600" y="3924300"/>
            <a:ext cx="3429000" cy="1206500"/>
          </a:xfrm>
          <a:prstGeom prst="rect">
            <a:avLst/>
          </a:prstGeom>
          <a:noFill/>
        </p:spPr>
        <p:txBody>
          <a:bodyPr vert="horz" wrap="square" lIns="0" tIns="0" rIns="0" bIns="0" rtlCol="0" anchor="t">
            <a:noAutofit/>
          </a:bodyPr>
          <a:lstStyle/>
          <a:p>
            <a:r>
              <a:rPr lang="en-US" sz="1400">
                <a:solidFill>
                  <a:srgbClr val="F7F8FA"/>
                </a:solidFill>
                <a:latin typeface="Arial" panose="020B0604020202020204" pitchFamily="34" charset="0"/>
              </a:rPr>
              <a:t>• Voucher rate: 15%, không cap
• Contribution margin: 70%
• Chỉ phát khi EVᵢ &gt; 0</a:t>
            </a:r>
          </a:p>
        </p:txBody>
      </p:sp>
      <p:sp>
        <p:nvSpPr>
          <p:cNvPr id="33" name="TextBox 32">
            <a:extLst>
              <a:ext uri="{FF2B5EF4-FFF2-40B4-BE49-F238E27FC236}">
                <a16:creationId xmlns:a16="http://schemas.microsoft.com/office/drawing/2014/main" id="{0901CC0C-E95A-4800-A3FA-ABD5EAAAEEE9}"/>
              </a:ext>
            </a:extLst>
          </p:cNvPr>
          <p:cNvSpPr txBox="1"/>
          <p:nvPr/>
        </p:nvSpPr>
        <p:spPr>
          <a:xfrm>
            <a:off x="4826000" y="3441700"/>
            <a:ext cx="3454400" cy="279400"/>
          </a:xfrm>
          <a:prstGeom prst="rect">
            <a:avLst/>
          </a:prstGeom>
          <a:noFill/>
        </p:spPr>
        <p:txBody>
          <a:bodyPr vert="horz" wrap="square" lIns="0" tIns="0" rIns="0" bIns="0" rtlCol="0" anchor="t">
            <a:noAutofit/>
          </a:bodyPr>
          <a:lstStyle/>
          <a:p>
            <a:r>
              <a:rPr lang="en-US" sz="1200" b="1">
                <a:solidFill>
                  <a:srgbClr val="E978C6"/>
                </a:solidFill>
                <a:latin typeface="Arial" panose="020B0604020202020204" pitchFamily="34" charset="0"/>
              </a:rPr>
              <a:t>Giới hạn</a:t>
            </a:r>
          </a:p>
        </p:txBody>
      </p:sp>
      <p:sp>
        <p:nvSpPr>
          <p:cNvPr id="34" name="Rectangle 33">
            <a:extLst>
              <a:ext uri="{FF2B5EF4-FFF2-40B4-BE49-F238E27FC236}">
                <a16:creationId xmlns:a16="http://schemas.microsoft.com/office/drawing/2014/main" id="{C8BC3E19-8841-DA82-8B2D-F4527A49F6C6}"/>
              </a:ext>
            </a:extLst>
          </p:cNvPr>
          <p:cNvSpPr/>
          <p:nvPr/>
        </p:nvSpPr>
        <p:spPr>
          <a:xfrm>
            <a:off x="4826000" y="3746500"/>
            <a:ext cx="3454400" cy="25400"/>
          </a:xfrm>
          <a:prstGeom prst="rect">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4DB507D3-84FA-2A1B-CE15-1C6E5AE24451}"/>
              </a:ext>
            </a:extLst>
          </p:cNvPr>
          <p:cNvSpPr txBox="1"/>
          <p:nvPr/>
        </p:nvSpPr>
        <p:spPr>
          <a:xfrm>
            <a:off x="4826000" y="3924300"/>
            <a:ext cx="3454400" cy="1206500"/>
          </a:xfrm>
          <a:prstGeom prst="rect">
            <a:avLst/>
          </a:prstGeom>
          <a:noFill/>
        </p:spPr>
        <p:txBody>
          <a:bodyPr vert="horz" wrap="square" lIns="0" tIns="0" rIns="0" bIns="0" rtlCol="0" anchor="t">
            <a:noAutofit/>
          </a:bodyPr>
          <a:lstStyle/>
          <a:p>
            <a:r>
              <a:rPr lang="en-US" sz="1400">
                <a:solidFill>
                  <a:srgbClr val="F7F8FA"/>
                </a:solidFill>
                <a:latin typeface="Arial" panose="020B0604020202020204" pitchFamily="34" charset="0"/>
              </a:rPr>
              <a:t>• Synthetic economics, không phải policy GSM
• Budget policy dùng greedy heuristic
• Không phải exact knapsack</a:t>
            </a:r>
          </a:p>
        </p:txBody>
      </p:sp>
    </p:spTree>
    <p:extLst>
      <p:ext uri="{BB962C8B-B14F-4D97-AF65-F5344CB8AC3E}">
        <p14:creationId xmlns:p14="http://schemas.microsoft.com/office/powerpoint/2010/main" val="2020001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A1423"/>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6CE4B18-0AA5-29A4-6561-9CC38ECA94B8}"/>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lideTitle">
            <a:extLst>
              <a:ext uri="{FF2B5EF4-FFF2-40B4-BE49-F238E27FC236}">
                <a16:creationId xmlns:a16="http://schemas.microsoft.com/office/drawing/2014/main" id="{AC7DAC4F-E712-4394-1295-EBFD65ABBA51}"/>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600" b="1">
                <a:solidFill>
                  <a:srgbClr val="F7F8FA"/>
                </a:solidFill>
                <a:latin typeface="Arial" panose="020B0604020202020204" pitchFamily="34" charset="0"/>
              </a:rPr>
              <a:t>Appendix A2 — A/A false-positive check</a:t>
            </a:r>
          </a:p>
        </p:txBody>
      </p:sp>
      <p:sp>
        <p:nvSpPr>
          <p:cNvPr id="25" name="SlideSubtitle">
            <a:extLst>
              <a:ext uri="{FF2B5EF4-FFF2-40B4-BE49-F238E27FC236}">
                <a16:creationId xmlns:a16="http://schemas.microsoft.com/office/drawing/2014/main" id="{331F6DF7-9F3C-D33B-B930-51F399E62246}"/>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en-US" sz="1700">
                <a:solidFill>
                  <a:srgbClr val="F7F8FA"/>
                </a:solidFill>
                <a:latin typeface="Arial" panose="020B0604020202020204" pitchFamily="34" charset="0"/>
              </a:rPr>
              <a:t>5.000 runs dưới true effect bằng 0</a:t>
            </a:r>
          </a:p>
        </p:txBody>
      </p:sp>
      <p:sp>
        <p:nvSpPr>
          <p:cNvPr id="26" name="Rectangle 25">
            <a:extLst>
              <a:ext uri="{FF2B5EF4-FFF2-40B4-BE49-F238E27FC236}">
                <a16:creationId xmlns:a16="http://schemas.microsoft.com/office/drawing/2014/main" id="{7B5DE78D-35A2-A8A2-0B78-13C2FC0E6B37}"/>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4154239-2522-A35C-B51B-8C0D8B8DADAF}"/>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3D1297D5-B762-CEBE-CECC-409B5008D2D0}"/>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9" name="Rectangle 28">
            <a:extLst>
              <a:ext uri="{FF2B5EF4-FFF2-40B4-BE49-F238E27FC236}">
                <a16:creationId xmlns:a16="http://schemas.microsoft.com/office/drawing/2014/main" id="{7BB48417-4E71-C4A5-007B-D92102EE2FC8}"/>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DB73D1F7-D1B9-E41F-1745-473B19B2F974}"/>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31" name="TextBox 30">
            <a:extLst>
              <a:ext uri="{FF2B5EF4-FFF2-40B4-BE49-F238E27FC236}">
                <a16:creationId xmlns:a16="http://schemas.microsoft.com/office/drawing/2014/main" id="{4DF43D22-6A50-7D91-FA10-8FA4958A60AA}"/>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A2</a:t>
            </a:r>
          </a:p>
        </p:txBody>
      </p:sp>
      <p:sp>
        <p:nvSpPr>
          <p:cNvPr id="32" name="TextBox 31">
            <a:extLst>
              <a:ext uri="{FF2B5EF4-FFF2-40B4-BE49-F238E27FC236}">
                <a16:creationId xmlns:a16="http://schemas.microsoft.com/office/drawing/2014/main" id="{A9591F1C-C42B-F8DB-7E8C-BD56B899A69C}"/>
              </a:ext>
            </a:extLst>
          </p:cNvPr>
          <p:cNvSpPr txBox="1"/>
          <p:nvPr/>
        </p:nvSpPr>
        <p:spPr>
          <a:xfrm>
            <a:off x="863600" y="1676400"/>
            <a:ext cx="2286000" cy="279400"/>
          </a:xfrm>
          <a:prstGeom prst="rect">
            <a:avLst/>
          </a:prstGeom>
          <a:noFill/>
        </p:spPr>
        <p:txBody>
          <a:bodyPr vert="horz" wrap="square" lIns="0" tIns="0" rIns="0" bIns="0" rtlCol="0" anchor="t">
            <a:noAutofit/>
          </a:bodyPr>
          <a:lstStyle/>
          <a:p>
            <a:r>
              <a:rPr lang="en-US" sz="1200" b="1">
                <a:solidFill>
                  <a:srgbClr val="FFC000"/>
                </a:solidFill>
                <a:latin typeface="Arial" panose="020B0604020202020204" pitchFamily="34" charset="0"/>
              </a:rPr>
              <a:t>Thiết lập</a:t>
            </a:r>
          </a:p>
        </p:txBody>
      </p:sp>
      <p:sp>
        <p:nvSpPr>
          <p:cNvPr id="33" name="Rectangle 32">
            <a:extLst>
              <a:ext uri="{FF2B5EF4-FFF2-40B4-BE49-F238E27FC236}">
                <a16:creationId xmlns:a16="http://schemas.microsoft.com/office/drawing/2014/main" id="{9DEE0AB7-F9A1-E00C-71E8-241D27A5D8F7}"/>
              </a:ext>
            </a:extLst>
          </p:cNvPr>
          <p:cNvSpPr/>
          <p:nvPr/>
        </p:nvSpPr>
        <p:spPr>
          <a:xfrm>
            <a:off x="863600" y="1981200"/>
            <a:ext cx="2286000" cy="254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7527CAA0-FD3B-DBEE-17DC-5C80D12FBA83}"/>
              </a:ext>
            </a:extLst>
          </p:cNvPr>
          <p:cNvSpPr txBox="1"/>
          <p:nvPr/>
        </p:nvSpPr>
        <p:spPr>
          <a:xfrm>
            <a:off x="863600" y="2222500"/>
            <a:ext cx="2286000" cy="1092200"/>
          </a:xfrm>
          <a:prstGeom prst="rect">
            <a:avLst/>
          </a:prstGeom>
          <a:noFill/>
        </p:spPr>
        <p:txBody>
          <a:bodyPr vert="horz" wrap="square" lIns="0" tIns="0" rIns="0" bIns="0" rtlCol="0" anchor="t">
            <a:noAutofit/>
          </a:bodyPr>
          <a:lstStyle/>
          <a:p>
            <a:r>
              <a:rPr lang="en-US" sz="1400">
                <a:solidFill>
                  <a:srgbClr val="F7F8FA"/>
                </a:solidFill>
                <a:latin typeface="Arial" panose="020B0604020202020204" pitchFamily="34" charset="0"/>
              </a:rPr>
              <a:t>Treatment/control 50/50
2.000 observations/run
α = 5%</a:t>
            </a:r>
          </a:p>
        </p:txBody>
      </p:sp>
      <p:sp>
        <p:nvSpPr>
          <p:cNvPr id="35" name="TextBox 34">
            <a:extLst>
              <a:ext uri="{FF2B5EF4-FFF2-40B4-BE49-F238E27FC236}">
                <a16:creationId xmlns:a16="http://schemas.microsoft.com/office/drawing/2014/main" id="{FD8BD5A4-D336-FF1E-8B7D-F09A100FEF07}"/>
              </a:ext>
            </a:extLst>
          </p:cNvPr>
          <p:cNvSpPr txBox="1"/>
          <p:nvPr/>
        </p:nvSpPr>
        <p:spPr>
          <a:xfrm>
            <a:off x="3632200" y="2019300"/>
            <a:ext cx="2032000" cy="889000"/>
          </a:xfrm>
          <a:prstGeom prst="rect">
            <a:avLst/>
          </a:prstGeom>
          <a:noFill/>
        </p:spPr>
        <p:txBody>
          <a:bodyPr vert="horz" wrap="square" lIns="0" tIns="0" rIns="0" bIns="0" rtlCol="0" anchor="t">
            <a:noAutofit/>
          </a:bodyPr>
          <a:lstStyle/>
          <a:p>
            <a:pPr algn="ctr"/>
            <a:r>
              <a:rPr lang="en-US" sz="3800" b="1">
                <a:solidFill>
                  <a:srgbClr val="25D0A2"/>
                </a:solidFill>
                <a:latin typeface="Arial" panose="020B0604020202020204" pitchFamily="34" charset="0"/>
              </a:rPr>
              <a:t>5,04%</a:t>
            </a:r>
          </a:p>
        </p:txBody>
      </p:sp>
      <p:sp>
        <p:nvSpPr>
          <p:cNvPr id="36" name="TextBox 35">
            <a:extLst>
              <a:ext uri="{FF2B5EF4-FFF2-40B4-BE49-F238E27FC236}">
                <a16:creationId xmlns:a16="http://schemas.microsoft.com/office/drawing/2014/main" id="{6061AE74-7F58-CC88-823E-C148E0837C45}"/>
              </a:ext>
            </a:extLst>
          </p:cNvPr>
          <p:cNvSpPr txBox="1"/>
          <p:nvPr/>
        </p:nvSpPr>
        <p:spPr>
          <a:xfrm>
            <a:off x="3632200" y="2870200"/>
            <a:ext cx="2032000" cy="304800"/>
          </a:xfrm>
          <a:prstGeom prst="rect">
            <a:avLst/>
          </a:prstGeom>
          <a:noFill/>
        </p:spPr>
        <p:txBody>
          <a:bodyPr vert="horz" wrap="square" lIns="0" tIns="0" rIns="0" bIns="0" rtlCol="0" anchor="t">
            <a:noAutofit/>
          </a:bodyPr>
          <a:lstStyle/>
          <a:p>
            <a:pPr algn="ctr"/>
            <a:r>
              <a:rPr lang="en-US" sz="1200" b="1">
                <a:solidFill>
                  <a:srgbClr val="B7C2D1"/>
                </a:solidFill>
                <a:latin typeface="Arial" panose="020B0604020202020204" pitchFamily="34" charset="0"/>
              </a:rPr>
              <a:t>False Positive Rate</a:t>
            </a:r>
          </a:p>
        </p:txBody>
      </p:sp>
      <p:sp>
        <p:nvSpPr>
          <p:cNvPr id="37" name="TextBox 36">
            <a:extLst>
              <a:ext uri="{FF2B5EF4-FFF2-40B4-BE49-F238E27FC236}">
                <a16:creationId xmlns:a16="http://schemas.microsoft.com/office/drawing/2014/main" id="{98F41843-B6A6-3D3E-42C9-1416F4F5681D}"/>
              </a:ext>
            </a:extLst>
          </p:cNvPr>
          <p:cNvSpPr txBox="1"/>
          <p:nvPr/>
        </p:nvSpPr>
        <p:spPr>
          <a:xfrm>
            <a:off x="6172200" y="1676400"/>
            <a:ext cx="2108200" cy="279400"/>
          </a:xfrm>
          <a:prstGeom prst="rect">
            <a:avLst/>
          </a:prstGeom>
          <a:noFill/>
        </p:spPr>
        <p:txBody>
          <a:bodyPr vert="horz" wrap="square" lIns="0" tIns="0" rIns="0" bIns="0" rtlCol="0" anchor="t">
            <a:noAutofit/>
          </a:bodyPr>
          <a:lstStyle/>
          <a:p>
            <a:r>
              <a:rPr lang="en-US" sz="1200" b="1">
                <a:solidFill>
                  <a:srgbClr val="29B8E8"/>
                </a:solidFill>
                <a:latin typeface="Arial" panose="020B0604020202020204" pitchFamily="34" charset="0"/>
              </a:rPr>
              <a:t>Kiểm tra</a:t>
            </a:r>
          </a:p>
        </p:txBody>
      </p:sp>
      <p:sp>
        <p:nvSpPr>
          <p:cNvPr id="38" name="Rectangle 37">
            <a:extLst>
              <a:ext uri="{FF2B5EF4-FFF2-40B4-BE49-F238E27FC236}">
                <a16:creationId xmlns:a16="http://schemas.microsoft.com/office/drawing/2014/main" id="{A474613E-9EF2-B4F5-FC83-C588BB09319A}"/>
              </a:ext>
            </a:extLst>
          </p:cNvPr>
          <p:cNvSpPr/>
          <p:nvPr/>
        </p:nvSpPr>
        <p:spPr>
          <a:xfrm>
            <a:off x="6172200" y="1981200"/>
            <a:ext cx="2108200" cy="254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AA418E0B-5453-46B6-93DD-4302270D9843}"/>
              </a:ext>
            </a:extLst>
          </p:cNvPr>
          <p:cNvSpPr txBox="1"/>
          <p:nvPr/>
        </p:nvSpPr>
        <p:spPr>
          <a:xfrm>
            <a:off x="6172200" y="2222500"/>
            <a:ext cx="2108200" cy="1092200"/>
          </a:xfrm>
          <a:prstGeom prst="rect">
            <a:avLst/>
          </a:prstGeom>
          <a:noFill/>
        </p:spPr>
        <p:txBody>
          <a:bodyPr vert="horz" wrap="square" lIns="0" tIns="0" rIns="0" bIns="0" rtlCol="0" anchor="t">
            <a:noAutofit/>
          </a:bodyPr>
          <a:lstStyle/>
          <a:p>
            <a:r>
              <a:rPr lang="en-US" sz="1300">
                <a:solidFill>
                  <a:srgbClr val="F7F8FA"/>
                </a:solidFill>
                <a:latin typeface="Arial" panose="020B0604020202020204" pitchFamily="34" charset="0"/>
              </a:rPr>
              <a:t>95% CI: [4,45%; 5,68%]
Mean estimated ATE: -0,0013</a:t>
            </a:r>
          </a:p>
        </p:txBody>
      </p:sp>
      <p:sp>
        <p:nvSpPr>
          <p:cNvPr id="40" name="Rectangle: Rounded Corners 39">
            <a:extLst>
              <a:ext uri="{FF2B5EF4-FFF2-40B4-BE49-F238E27FC236}">
                <a16:creationId xmlns:a16="http://schemas.microsoft.com/office/drawing/2014/main" id="{E59B8605-9A4B-0758-42D0-1D8E76D8E668}"/>
              </a:ext>
            </a:extLst>
          </p:cNvPr>
          <p:cNvSpPr/>
          <p:nvPr/>
        </p:nvSpPr>
        <p:spPr>
          <a:xfrm>
            <a:off x="863600" y="4051300"/>
            <a:ext cx="7416800" cy="965200"/>
          </a:xfrm>
          <a:prstGeom prst="roundRect">
            <a:avLst/>
          </a:prstGeom>
          <a:solidFill>
            <a:srgbClr val="17274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3D121FAF-71B0-3BE0-BB3C-19B9FA050E75}"/>
              </a:ext>
            </a:extLst>
          </p:cNvPr>
          <p:cNvSpPr txBox="1"/>
          <p:nvPr/>
        </p:nvSpPr>
        <p:spPr>
          <a:xfrm>
            <a:off x="1117600" y="4241800"/>
            <a:ext cx="6908800" cy="533400"/>
          </a:xfrm>
          <a:prstGeom prst="rect">
            <a:avLst/>
          </a:prstGeom>
          <a:noFill/>
        </p:spPr>
        <p:txBody>
          <a:bodyPr vert="horz" wrap="square" lIns="0" tIns="0" rIns="0" bIns="0" rtlCol="0" anchor="t">
            <a:noAutofit/>
          </a:bodyPr>
          <a:lstStyle/>
          <a:p>
            <a:pPr algn="ctr"/>
            <a:r>
              <a:rPr lang="vi-VN" sz="1500" b="1">
                <a:solidFill>
                  <a:srgbClr val="F7F8FA"/>
                </a:solidFill>
                <a:latin typeface="Arial" panose="020B0604020202020204" pitchFamily="34" charset="0"/>
              </a:rPr>
              <a:t>FPR gần mức thiết kế: pipeline không thường xuyên tạo kết luận dương giả trong A/A synthetic.</a:t>
            </a:r>
            <a:endParaRPr lang="en-US" sz="1500" b="1">
              <a:solidFill>
                <a:srgbClr val="F7F8FA"/>
              </a:solidFill>
              <a:latin typeface="Arial" panose="020B0604020202020204" pitchFamily="34" charset="0"/>
            </a:endParaRPr>
          </a:p>
        </p:txBody>
      </p:sp>
      <p:sp>
        <p:nvSpPr>
          <p:cNvPr id="42" name="TextBox 41">
            <a:extLst>
              <a:ext uri="{FF2B5EF4-FFF2-40B4-BE49-F238E27FC236}">
                <a16:creationId xmlns:a16="http://schemas.microsoft.com/office/drawing/2014/main" id="{7B69FD9B-5761-E738-4F0F-0F7B9B2F4F67}"/>
              </a:ext>
            </a:extLst>
          </p:cNvPr>
          <p:cNvSpPr txBox="1"/>
          <p:nvPr/>
        </p:nvSpPr>
        <p:spPr>
          <a:xfrm>
            <a:off x="863600" y="5397500"/>
            <a:ext cx="7416800" cy="254000"/>
          </a:xfrm>
          <a:prstGeom prst="rect">
            <a:avLst/>
          </a:prstGeom>
          <a:noFill/>
        </p:spPr>
        <p:txBody>
          <a:bodyPr vert="horz" wrap="square" lIns="0" tIns="0" rIns="0" bIns="0" rtlCol="0" anchor="t">
            <a:noAutofit/>
          </a:bodyPr>
          <a:lstStyle/>
          <a:p>
            <a:pPr algn="ctr"/>
            <a:r>
              <a:rPr lang="en-US" sz="1000" b="1">
                <a:solidFill>
                  <a:srgbClr val="FFB44D"/>
                </a:solidFill>
                <a:latin typeface="Arial" panose="020B0604020202020204" pitchFamily="34" charset="0"/>
              </a:rPr>
              <a:t>Không diễn giải đây là bằng chứng production.</a:t>
            </a:r>
          </a:p>
        </p:txBody>
      </p:sp>
    </p:spTree>
    <p:extLst>
      <p:ext uri="{BB962C8B-B14F-4D97-AF65-F5344CB8AC3E}">
        <p14:creationId xmlns:p14="http://schemas.microsoft.com/office/powerpoint/2010/main" val="18651663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0A1423"/>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404D1EAA-34F0-9268-7B65-12572FDDF3F7}"/>
              </a:ext>
            </a:extLst>
          </p:cNvPr>
          <p:cNvSpPr/>
          <p:nvPr/>
        </p:nvSpPr>
        <p:spPr>
          <a:xfrm>
            <a:off x="365760" y="0"/>
            <a:ext cx="137160" cy="68580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SlideTitle">
            <a:extLst>
              <a:ext uri="{FF2B5EF4-FFF2-40B4-BE49-F238E27FC236}">
                <a16:creationId xmlns:a16="http://schemas.microsoft.com/office/drawing/2014/main" id="{706F615F-499C-460E-EFE9-102C4BBC0DFC}"/>
              </a:ext>
            </a:extLst>
          </p:cNvPr>
          <p:cNvSpPr txBox="1"/>
          <p:nvPr/>
        </p:nvSpPr>
        <p:spPr>
          <a:xfrm>
            <a:off x="736600" y="228600"/>
            <a:ext cx="8153400" cy="533400"/>
          </a:xfrm>
          <a:prstGeom prst="rect">
            <a:avLst/>
          </a:prstGeom>
          <a:noFill/>
        </p:spPr>
        <p:txBody>
          <a:bodyPr vert="horz" wrap="square" lIns="0" tIns="0" rIns="0" bIns="0" rtlCol="0" anchor="t">
            <a:noAutofit/>
          </a:bodyPr>
          <a:lstStyle/>
          <a:p>
            <a:r>
              <a:rPr lang="en-US" sz="2600" b="1">
                <a:solidFill>
                  <a:srgbClr val="F7F8FA"/>
                </a:solidFill>
                <a:latin typeface="Arial" panose="020B0604020202020204" pitchFamily="34" charset="0"/>
              </a:rPr>
              <a:t>Appendix A3 — Model caveats</a:t>
            </a:r>
          </a:p>
        </p:txBody>
      </p:sp>
      <p:sp>
        <p:nvSpPr>
          <p:cNvPr id="21" name="SlideSubtitle">
            <a:extLst>
              <a:ext uri="{FF2B5EF4-FFF2-40B4-BE49-F238E27FC236}">
                <a16:creationId xmlns:a16="http://schemas.microsoft.com/office/drawing/2014/main" id="{0FC020B0-CF06-886C-3D6B-3E26DF1206F2}"/>
              </a:ext>
            </a:extLst>
          </p:cNvPr>
          <p:cNvSpPr txBox="1"/>
          <p:nvPr/>
        </p:nvSpPr>
        <p:spPr>
          <a:xfrm>
            <a:off x="736600" y="762000"/>
            <a:ext cx="8001000" cy="355600"/>
          </a:xfrm>
          <a:prstGeom prst="rect">
            <a:avLst/>
          </a:prstGeom>
          <a:noFill/>
        </p:spPr>
        <p:txBody>
          <a:bodyPr vert="horz" wrap="square" lIns="0" tIns="0" rIns="0" bIns="0" rtlCol="0" anchor="t">
            <a:noAutofit/>
          </a:bodyPr>
          <a:lstStyle/>
          <a:p>
            <a:r>
              <a:rPr lang="vi-VN" sz="1700">
                <a:solidFill>
                  <a:srgbClr val="F7F8FA"/>
                </a:solidFill>
                <a:latin typeface="Arial" panose="020B0604020202020204" pitchFamily="34" charset="0"/>
              </a:rPr>
              <a:t>Các điểm technical để trả lời khi được hỏi sâu</a:t>
            </a:r>
            <a:endParaRPr lang="en-US" sz="1700">
              <a:solidFill>
                <a:srgbClr val="F7F8FA"/>
              </a:solidFill>
              <a:latin typeface="Arial" panose="020B0604020202020204" pitchFamily="34" charset="0"/>
            </a:endParaRPr>
          </a:p>
        </p:txBody>
      </p:sp>
      <p:sp>
        <p:nvSpPr>
          <p:cNvPr id="22" name="Rectangle 21">
            <a:extLst>
              <a:ext uri="{FF2B5EF4-FFF2-40B4-BE49-F238E27FC236}">
                <a16:creationId xmlns:a16="http://schemas.microsoft.com/office/drawing/2014/main" id="{1589A20C-7DD8-5626-9A7D-980ED15EAB03}"/>
              </a:ext>
            </a:extLst>
          </p:cNvPr>
          <p:cNvSpPr/>
          <p:nvPr/>
        </p:nvSpPr>
        <p:spPr>
          <a:xfrm>
            <a:off x="736600" y="1193800"/>
            <a:ext cx="2286000" cy="38100"/>
          </a:xfrm>
          <a:prstGeom prst="rect">
            <a:avLst/>
          </a:prstGeom>
          <a:solidFill>
            <a:srgbClr val="FFC0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B853B40-0FA4-A148-303D-BF469F89D3B8}"/>
              </a:ext>
            </a:extLst>
          </p:cNvPr>
          <p:cNvSpPr/>
          <p:nvPr/>
        </p:nvSpPr>
        <p:spPr>
          <a:xfrm>
            <a:off x="365760" y="6217920"/>
            <a:ext cx="8778240" cy="365760"/>
          </a:xfrm>
          <a:prstGeom prst="rect">
            <a:avLst/>
          </a:prstGeom>
          <a:solidFill>
            <a:srgbClr val="245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76CF9C3-3611-F7E2-FA99-61C85A42436B}"/>
              </a:ext>
            </a:extLst>
          </p:cNvPr>
          <p:cNvSpPr txBox="1"/>
          <p:nvPr/>
        </p:nvSpPr>
        <p:spPr>
          <a:xfrm>
            <a:off x="546100" y="6299200"/>
            <a:ext cx="4953000" cy="215900"/>
          </a:xfrm>
          <a:prstGeom prst="rect">
            <a:avLst/>
          </a:prstGeom>
          <a:noFill/>
        </p:spPr>
        <p:txBody>
          <a:bodyPr vert="horz" wrap="square" lIns="0" tIns="0" rIns="0" bIns="0" rtlCol="0" anchor="t">
            <a:noAutofit/>
          </a:bodyPr>
          <a:lstStyle/>
          <a:p>
            <a:r>
              <a:rPr lang="en-US" sz="850">
                <a:solidFill>
                  <a:srgbClr val="F7F8FA"/>
                </a:solidFill>
                <a:latin typeface="Arial" panose="020B0604020202020204" pitchFamily="34" charset="0"/>
              </a:rPr>
              <a:t>GSM Promotion Experimentation • Mentor Rehearsal • Data Science</a:t>
            </a:r>
          </a:p>
        </p:txBody>
      </p:sp>
      <p:sp>
        <p:nvSpPr>
          <p:cNvPr id="25" name="Rectangle 24">
            <a:extLst>
              <a:ext uri="{FF2B5EF4-FFF2-40B4-BE49-F238E27FC236}">
                <a16:creationId xmlns:a16="http://schemas.microsoft.com/office/drawing/2014/main" id="{DB068961-2FB3-E370-A8BD-653DB84937E2}"/>
              </a:ext>
            </a:extLst>
          </p:cNvPr>
          <p:cNvSpPr/>
          <p:nvPr/>
        </p:nvSpPr>
        <p:spPr>
          <a:xfrm>
            <a:off x="365760" y="6583680"/>
            <a:ext cx="8778240" cy="274320"/>
          </a:xfrm>
          <a:prstGeom prst="rect">
            <a:avLst/>
          </a:prstGeom>
          <a:solidFill>
            <a:srgbClr val="0A142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D00AAA6-F616-513B-1267-7D4BB382EF44}"/>
              </a:ext>
            </a:extLst>
          </p:cNvPr>
          <p:cNvSpPr txBox="1"/>
          <p:nvPr/>
        </p:nvSpPr>
        <p:spPr>
          <a:xfrm>
            <a:off x="546100" y="6604000"/>
            <a:ext cx="3302000" cy="190500"/>
          </a:xfrm>
          <a:prstGeom prst="rect">
            <a:avLst/>
          </a:prstGeom>
          <a:noFill/>
        </p:spPr>
        <p:txBody>
          <a:bodyPr vert="horz" wrap="square" lIns="0" tIns="0" rIns="0" bIns="0" rtlCol="0" anchor="t">
            <a:noAutofit/>
          </a:bodyPr>
          <a:lstStyle/>
          <a:p>
            <a:r>
              <a:rPr lang="en-US" sz="800">
                <a:solidFill>
                  <a:srgbClr val="F7F8FA"/>
                </a:solidFill>
                <a:latin typeface="Arial" panose="020B0604020202020204" pitchFamily="34" charset="0"/>
              </a:rPr>
              <a:t>Uplift Modeling &amp; Profit-aware Targeting</a:t>
            </a:r>
          </a:p>
        </p:txBody>
      </p:sp>
      <p:sp>
        <p:nvSpPr>
          <p:cNvPr id="27" name="TextBox 26">
            <a:extLst>
              <a:ext uri="{FF2B5EF4-FFF2-40B4-BE49-F238E27FC236}">
                <a16:creationId xmlns:a16="http://schemas.microsoft.com/office/drawing/2014/main" id="{D67DB43D-C9F9-BA99-F669-0A6AEC6F40B5}"/>
              </a:ext>
            </a:extLst>
          </p:cNvPr>
          <p:cNvSpPr txBox="1"/>
          <p:nvPr/>
        </p:nvSpPr>
        <p:spPr>
          <a:xfrm>
            <a:off x="8318500" y="6604000"/>
            <a:ext cx="673100" cy="190500"/>
          </a:xfrm>
          <a:prstGeom prst="rect">
            <a:avLst/>
          </a:prstGeom>
          <a:noFill/>
        </p:spPr>
        <p:txBody>
          <a:bodyPr vert="horz" wrap="square" lIns="0" tIns="0" rIns="0" bIns="0" rtlCol="0" anchor="t">
            <a:noAutofit/>
          </a:bodyPr>
          <a:lstStyle/>
          <a:p>
            <a:pPr algn="r"/>
            <a:r>
              <a:rPr lang="en-US" sz="850" b="1">
                <a:solidFill>
                  <a:srgbClr val="F7F8FA"/>
                </a:solidFill>
                <a:latin typeface="Arial" panose="020B0604020202020204" pitchFamily="34" charset="0"/>
              </a:rPr>
              <a:t>A3</a:t>
            </a:r>
          </a:p>
        </p:txBody>
      </p:sp>
      <p:sp>
        <p:nvSpPr>
          <p:cNvPr id="28" name="TextBox 27">
            <a:extLst>
              <a:ext uri="{FF2B5EF4-FFF2-40B4-BE49-F238E27FC236}">
                <a16:creationId xmlns:a16="http://schemas.microsoft.com/office/drawing/2014/main" id="{841FD2B8-A47E-597B-3E3F-5B331458DF7F}"/>
              </a:ext>
            </a:extLst>
          </p:cNvPr>
          <p:cNvSpPr txBox="1"/>
          <p:nvPr/>
        </p:nvSpPr>
        <p:spPr>
          <a:xfrm>
            <a:off x="863600" y="1676400"/>
            <a:ext cx="2413000" cy="279400"/>
          </a:xfrm>
          <a:prstGeom prst="rect">
            <a:avLst/>
          </a:prstGeom>
          <a:noFill/>
        </p:spPr>
        <p:txBody>
          <a:bodyPr vert="horz" wrap="square" lIns="0" tIns="0" rIns="0" bIns="0" rtlCol="0" anchor="t">
            <a:noAutofit/>
          </a:bodyPr>
          <a:lstStyle/>
          <a:p>
            <a:r>
              <a:rPr lang="en-US" sz="1300" b="1">
                <a:solidFill>
                  <a:srgbClr val="29B8E8"/>
                </a:solidFill>
                <a:latin typeface="Arial" panose="020B0604020202020204" pitchFamily="34" charset="0"/>
              </a:rPr>
              <a:t>Simplified R-Learner-style</a:t>
            </a:r>
          </a:p>
        </p:txBody>
      </p:sp>
      <p:sp>
        <p:nvSpPr>
          <p:cNvPr id="29" name="Rectangle 28">
            <a:extLst>
              <a:ext uri="{FF2B5EF4-FFF2-40B4-BE49-F238E27FC236}">
                <a16:creationId xmlns:a16="http://schemas.microsoft.com/office/drawing/2014/main" id="{F595BD3C-794C-60F5-07D2-6BB0CC61651F}"/>
              </a:ext>
            </a:extLst>
          </p:cNvPr>
          <p:cNvSpPr/>
          <p:nvPr/>
        </p:nvSpPr>
        <p:spPr>
          <a:xfrm>
            <a:off x="863600" y="2006600"/>
            <a:ext cx="2413000" cy="25400"/>
          </a:xfrm>
          <a:prstGeom prst="rect">
            <a:avLst/>
          </a:prstGeom>
          <a:solidFill>
            <a:srgbClr val="29B8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DB1DF61F-4A83-332F-33FA-6F3995820B52}"/>
              </a:ext>
            </a:extLst>
          </p:cNvPr>
          <p:cNvSpPr txBox="1"/>
          <p:nvPr/>
        </p:nvSpPr>
        <p:spPr>
          <a:xfrm>
            <a:off x="3581400" y="1676400"/>
            <a:ext cx="4699000" cy="660400"/>
          </a:xfrm>
          <a:prstGeom prst="rect">
            <a:avLst/>
          </a:prstGeom>
          <a:noFill/>
        </p:spPr>
        <p:txBody>
          <a:bodyPr vert="horz" wrap="square" lIns="0" tIns="0" rIns="0" bIns="0" rtlCol="0" anchor="t">
            <a:noAutofit/>
          </a:bodyPr>
          <a:lstStyle/>
          <a:p>
            <a:r>
              <a:rPr lang="en-US" sz="1250">
                <a:solidFill>
                  <a:srgbClr val="F7F8FA"/>
                </a:solidFill>
                <a:latin typeface="Arial" panose="020B0604020202020204" pitchFamily="34" charset="0"/>
              </a:rPr>
              <a:t>m(X) → residualization → τ(X); implementation chưa cross-fitting.</a:t>
            </a:r>
          </a:p>
        </p:txBody>
      </p:sp>
      <p:cxnSp>
        <p:nvCxnSpPr>
          <p:cNvPr id="31" name="Straight Connector 30">
            <a:extLst>
              <a:ext uri="{FF2B5EF4-FFF2-40B4-BE49-F238E27FC236}">
                <a16:creationId xmlns:a16="http://schemas.microsoft.com/office/drawing/2014/main" id="{F0086918-F8F8-62F0-160B-0F32022AA353}"/>
              </a:ext>
            </a:extLst>
          </p:cNvPr>
          <p:cNvCxnSpPr/>
          <p:nvPr/>
        </p:nvCxnSpPr>
        <p:spPr>
          <a:xfrm>
            <a:off x="863600" y="2463800"/>
            <a:ext cx="7416800" cy="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9D45A917-4286-3474-6D88-6B65AB884C94}"/>
              </a:ext>
            </a:extLst>
          </p:cNvPr>
          <p:cNvSpPr txBox="1"/>
          <p:nvPr/>
        </p:nvSpPr>
        <p:spPr>
          <a:xfrm>
            <a:off x="863600" y="2667000"/>
            <a:ext cx="2413000" cy="279400"/>
          </a:xfrm>
          <a:prstGeom prst="rect">
            <a:avLst/>
          </a:prstGeom>
          <a:noFill/>
        </p:spPr>
        <p:txBody>
          <a:bodyPr vert="horz" wrap="square" lIns="0" tIns="0" rIns="0" bIns="0" rtlCol="0" anchor="t">
            <a:noAutofit/>
          </a:bodyPr>
          <a:lstStyle/>
          <a:p>
            <a:r>
              <a:rPr lang="en-US" sz="1300" b="1">
                <a:solidFill>
                  <a:srgbClr val="25D0A2"/>
                </a:solidFill>
                <a:latin typeface="Arial" panose="020B0604020202020204" pitchFamily="34" charset="0"/>
              </a:rPr>
              <a:t>Qini</a:t>
            </a:r>
          </a:p>
        </p:txBody>
      </p:sp>
      <p:sp>
        <p:nvSpPr>
          <p:cNvPr id="33" name="Rectangle 32">
            <a:extLst>
              <a:ext uri="{FF2B5EF4-FFF2-40B4-BE49-F238E27FC236}">
                <a16:creationId xmlns:a16="http://schemas.microsoft.com/office/drawing/2014/main" id="{47AD8C40-09B6-78D4-F0F8-59111DBE58E7}"/>
              </a:ext>
            </a:extLst>
          </p:cNvPr>
          <p:cNvSpPr/>
          <p:nvPr/>
        </p:nvSpPr>
        <p:spPr>
          <a:xfrm>
            <a:off x="863600" y="2997200"/>
            <a:ext cx="2413000" cy="25400"/>
          </a:xfrm>
          <a:prstGeom prst="rect">
            <a:avLst/>
          </a:prstGeom>
          <a:solidFill>
            <a:srgbClr val="25D0A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EC59B1C-D8AC-C3F1-9828-DF749C16F7D9}"/>
              </a:ext>
            </a:extLst>
          </p:cNvPr>
          <p:cNvSpPr txBox="1"/>
          <p:nvPr/>
        </p:nvSpPr>
        <p:spPr>
          <a:xfrm>
            <a:off x="3581400" y="2667000"/>
            <a:ext cx="4699000" cy="660400"/>
          </a:xfrm>
          <a:prstGeom prst="rect">
            <a:avLst/>
          </a:prstGeom>
          <a:noFill/>
        </p:spPr>
        <p:txBody>
          <a:bodyPr vert="horz" wrap="square" lIns="0" tIns="0" rIns="0" bIns="0" rtlCol="0" anchor="t">
            <a:noAutofit/>
          </a:bodyPr>
          <a:lstStyle/>
          <a:p>
            <a:r>
              <a:rPr lang="en-US" sz="1250">
                <a:solidFill>
                  <a:srgbClr val="F7F8FA"/>
                </a:solidFill>
                <a:latin typeface="Arial" panose="020B0604020202020204" pitchFamily="34" charset="0"/>
              </a:rPr>
              <a:t>Đánh giá ranking uplift trên cùng held-out test set; không đo calibration tuyệt đối.</a:t>
            </a:r>
          </a:p>
        </p:txBody>
      </p:sp>
      <p:cxnSp>
        <p:nvCxnSpPr>
          <p:cNvPr id="35" name="Straight Connector 34">
            <a:extLst>
              <a:ext uri="{FF2B5EF4-FFF2-40B4-BE49-F238E27FC236}">
                <a16:creationId xmlns:a16="http://schemas.microsoft.com/office/drawing/2014/main" id="{00028171-ADC7-2A22-630C-35A48B64F710}"/>
              </a:ext>
            </a:extLst>
          </p:cNvPr>
          <p:cNvCxnSpPr/>
          <p:nvPr/>
        </p:nvCxnSpPr>
        <p:spPr>
          <a:xfrm>
            <a:off x="863600" y="3454400"/>
            <a:ext cx="7416800" cy="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A5C998A-1D8B-326B-1BC4-78AF41AC3C2F}"/>
              </a:ext>
            </a:extLst>
          </p:cNvPr>
          <p:cNvSpPr txBox="1"/>
          <p:nvPr/>
        </p:nvSpPr>
        <p:spPr>
          <a:xfrm>
            <a:off x="863600" y="3657600"/>
            <a:ext cx="2413000" cy="279400"/>
          </a:xfrm>
          <a:prstGeom prst="rect">
            <a:avLst/>
          </a:prstGeom>
          <a:noFill/>
        </p:spPr>
        <p:txBody>
          <a:bodyPr vert="horz" wrap="square" lIns="0" tIns="0" rIns="0" bIns="0" rtlCol="0" anchor="t">
            <a:noAutofit/>
          </a:bodyPr>
          <a:lstStyle/>
          <a:p>
            <a:r>
              <a:rPr lang="en-US" sz="1300" b="1">
                <a:solidFill>
                  <a:srgbClr val="FFB44D"/>
                </a:solidFill>
                <a:latin typeface="Arial" panose="020B0604020202020204" pitchFamily="34" charset="0"/>
              </a:rPr>
              <a:t>Calibration</a:t>
            </a:r>
          </a:p>
        </p:txBody>
      </p:sp>
      <p:sp>
        <p:nvSpPr>
          <p:cNvPr id="37" name="Rectangle 36">
            <a:extLst>
              <a:ext uri="{FF2B5EF4-FFF2-40B4-BE49-F238E27FC236}">
                <a16:creationId xmlns:a16="http://schemas.microsoft.com/office/drawing/2014/main" id="{F5A50C3D-9950-CAD2-C874-CE0221507BCA}"/>
              </a:ext>
            </a:extLst>
          </p:cNvPr>
          <p:cNvSpPr/>
          <p:nvPr/>
        </p:nvSpPr>
        <p:spPr>
          <a:xfrm>
            <a:off x="863600" y="3987800"/>
            <a:ext cx="2413000" cy="25400"/>
          </a:xfrm>
          <a:prstGeom prst="rect">
            <a:avLst/>
          </a:prstGeom>
          <a:solidFill>
            <a:srgbClr val="FFB4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7C4C4A7C-09D1-FE3A-731F-0E2A05D0C864}"/>
              </a:ext>
            </a:extLst>
          </p:cNvPr>
          <p:cNvSpPr txBox="1"/>
          <p:nvPr/>
        </p:nvSpPr>
        <p:spPr>
          <a:xfrm>
            <a:off x="3581400" y="3657600"/>
            <a:ext cx="4699000" cy="660400"/>
          </a:xfrm>
          <a:prstGeom prst="rect">
            <a:avLst/>
          </a:prstGeom>
          <a:noFill/>
        </p:spPr>
        <p:txBody>
          <a:bodyPr vert="horz" wrap="square" lIns="0" tIns="0" rIns="0" bIns="0" rtlCol="0" anchor="t">
            <a:noAutofit/>
          </a:bodyPr>
          <a:lstStyle/>
          <a:p>
            <a:r>
              <a:rPr lang="vi-VN" sz="1250">
                <a:solidFill>
                  <a:srgbClr val="F7F8FA"/>
                </a:solidFill>
                <a:latin typeface="Arial" panose="020B0604020202020204" pitchFamily="34" charset="0"/>
              </a:rPr>
              <a:t>Magnitude CATE còn lệch theo decile; không dùng CATE đơn lẻ để quyết định policy.</a:t>
            </a:r>
            <a:endParaRPr lang="en-US" sz="1250">
              <a:solidFill>
                <a:srgbClr val="F7F8FA"/>
              </a:solidFill>
              <a:latin typeface="Arial" panose="020B0604020202020204" pitchFamily="34" charset="0"/>
            </a:endParaRPr>
          </a:p>
        </p:txBody>
      </p:sp>
      <p:cxnSp>
        <p:nvCxnSpPr>
          <p:cNvPr id="39" name="Straight Connector 38">
            <a:extLst>
              <a:ext uri="{FF2B5EF4-FFF2-40B4-BE49-F238E27FC236}">
                <a16:creationId xmlns:a16="http://schemas.microsoft.com/office/drawing/2014/main" id="{40A11ECB-1FB7-2D1A-1406-F3E07345E7CC}"/>
              </a:ext>
            </a:extLst>
          </p:cNvPr>
          <p:cNvCxnSpPr/>
          <p:nvPr/>
        </p:nvCxnSpPr>
        <p:spPr>
          <a:xfrm>
            <a:off x="863600" y="4445000"/>
            <a:ext cx="7416800" cy="0"/>
          </a:xfrm>
          <a:prstGeom prst="line">
            <a:avLst/>
          </a:prstGeom>
          <a:ln w="12700">
            <a:solidFill>
              <a:srgbClr val="344661"/>
            </a:solid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95DA9996-0690-C040-5E43-EEC4AE5DE748}"/>
              </a:ext>
            </a:extLst>
          </p:cNvPr>
          <p:cNvSpPr txBox="1"/>
          <p:nvPr/>
        </p:nvSpPr>
        <p:spPr>
          <a:xfrm>
            <a:off x="863600" y="4648200"/>
            <a:ext cx="2413000" cy="279400"/>
          </a:xfrm>
          <a:prstGeom prst="rect">
            <a:avLst/>
          </a:prstGeom>
          <a:noFill/>
        </p:spPr>
        <p:txBody>
          <a:bodyPr vert="horz" wrap="square" lIns="0" tIns="0" rIns="0" bIns="0" rtlCol="0" anchor="t">
            <a:noAutofit/>
          </a:bodyPr>
          <a:lstStyle/>
          <a:p>
            <a:r>
              <a:rPr lang="en-US" sz="1300" b="1">
                <a:solidFill>
                  <a:srgbClr val="E978C6"/>
                </a:solidFill>
                <a:latin typeface="Arial" panose="020B0604020202020204" pitchFamily="34" charset="0"/>
              </a:rPr>
              <a:t>DR-Learner</a:t>
            </a:r>
          </a:p>
        </p:txBody>
      </p:sp>
      <p:sp>
        <p:nvSpPr>
          <p:cNvPr id="41" name="Rectangle 40">
            <a:extLst>
              <a:ext uri="{FF2B5EF4-FFF2-40B4-BE49-F238E27FC236}">
                <a16:creationId xmlns:a16="http://schemas.microsoft.com/office/drawing/2014/main" id="{68140D5D-B241-5FBC-2ACD-98708C03C719}"/>
              </a:ext>
            </a:extLst>
          </p:cNvPr>
          <p:cNvSpPr/>
          <p:nvPr/>
        </p:nvSpPr>
        <p:spPr>
          <a:xfrm>
            <a:off x="863600" y="4978400"/>
            <a:ext cx="2413000" cy="25400"/>
          </a:xfrm>
          <a:prstGeom prst="rect">
            <a:avLst/>
          </a:prstGeom>
          <a:solidFill>
            <a:srgbClr val="E978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38710CC4-0205-F36B-DC44-821FA465CCD5}"/>
              </a:ext>
            </a:extLst>
          </p:cNvPr>
          <p:cNvSpPr txBox="1"/>
          <p:nvPr/>
        </p:nvSpPr>
        <p:spPr>
          <a:xfrm>
            <a:off x="3581400" y="4648200"/>
            <a:ext cx="4699000" cy="660400"/>
          </a:xfrm>
          <a:prstGeom prst="rect">
            <a:avLst/>
          </a:prstGeom>
          <a:noFill/>
        </p:spPr>
        <p:txBody>
          <a:bodyPr vert="horz" wrap="square" lIns="0" tIns="0" rIns="0" bIns="0" rtlCol="0" anchor="t">
            <a:noAutofit/>
          </a:bodyPr>
          <a:lstStyle/>
          <a:p>
            <a:r>
              <a:rPr lang="vi-VN" sz="1250">
                <a:solidFill>
                  <a:srgbClr val="F7F8FA"/>
                </a:solidFill>
                <a:latin typeface="Arial" panose="020B0604020202020204" pitchFamily="34" charset="0"/>
              </a:rPr>
              <a:t>Challenger có Qini thấp hơn và overestimate business value mạnh hơn trong snapshot hiện tại.</a:t>
            </a:r>
            <a:endParaRPr lang="en-US" sz="1250">
              <a:solidFill>
                <a:srgbClr val="F7F8FA"/>
              </a:solidFill>
              <a:latin typeface="Arial" panose="020B0604020202020204" pitchFamily="34" charset="0"/>
            </a:endParaRPr>
          </a:p>
        </p:txBody>
      </p:sp>
    </p:spTree>
    <p:extLst>
      <p:ext uri="{BB962C8B-B14F-4D97-AF65-F5344CB8AC3E}">
        <p14:creationId xmlns:p14="http://schemas.microsoft.com/office/powerpoint/2010/main" val="26196004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2138</Words>
  <Application>Microsoft Office PowerPoint</Application>
  <PresentationFormat>On-screen Show (4:3)</PresentationFormat>
  <Paragraphs>212</Paragraphs>
  <Slides>10</Slides>
  <Notes>10</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Bui Van Thai</dc:creator>
  <cp:lastModifiedBy>Bui Van Thai</cp:lastModifiedBy>
  <cp:revision>8</cp:revision>
  <dcterms:created xsi:type="dcterms:W3CDTF">2026-08-20T07:31:59Z</dcterms:created>
  <dcterms:modified xsi:type="dcterms:W3CDTF">2026-08-20T23:51:18Z</dcterms:modified>
</cp:coreProperties>
</file>