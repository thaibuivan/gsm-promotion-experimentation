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Báo Cáo Kỹ Thuật: Quy Trình Sinh Dữ Liệu Giả Lập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560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00B4D8"/>
                </a:solidFill>
              </a:rPr>
              <a:t>Synthetic Data Design &amp; Structural Causal Model (SCM)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8E0F4"/>
                </a:solidFill>
              </a:rPr>
              <a:t>Dự án: GSM Promotion Experimentation  |  Tuần 2  |  Intern: Data Science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01 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22960"/>
            <a:ext cx="530352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6868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❓ Vấn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9377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• Dữ liệu quan sát (Observational Data) chứa Biến Nhiễu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Giờ cao điểm → ít phát Voucher nhưng khách vẫn đi nhiều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Gây ra Spurious Correlation (Tương quan ảo)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Không thể đo True ITE từ dữ liệu thực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Một người không thể vừa nhận vừa không nhận Voucher cùng lúc</a:t>
            </a:r>
          </a:p>
          <a:p>
            <a:pPr lvl="1"/>
            <a:r>
              <a:rPr sz="1300">
                <a:solidFill>
                  <a:srgbClr val="FF9F1C"/>
                </a:solidFill>
              </a:rPr>
              <a:t>  - → Fundamental Problem of Causal Inference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822960"/>
            <a:ext cx="5394960" cy="539496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8686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✅ Giải pháp: Structural Causal Model (SCM)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371600"/>
            <a:ext cx="50292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C8E0F4"/>
                </a:solidFill>
              </a:rPr>
              <a:t>Mô phỏng 20,000 khách hàng — tham số kế thừa từ EDA T1 (Avg Fare $17.60, Median $13.50)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Lập trình cứng (Hardcode) True ITE vào dữ liệu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→ Môi trường kiểm thử chuẩn mực cho A/B Testing</a:t>
            </a:r>
          </a:p>
          <a:p>
            <a:pPr/>
            <a:r>
              <a:rPr sz="1400">
                <a:solidFill>
                  <a:srgbClr val="C8E0F4"/>
                </a:solidFill>
              </a:rPr>
              <a:t>• 3 thành phần thiết kế cốt lõi: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① Mô phỏng đặc điểm hành vi (Raw Features)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② Tích hợp Biến Nhiễu (Confounders)</a:t>
            </a:r>
          </a:p>
          <a:p>
            <a:pPr lvl="1"/>
            <a:r>
              <a:rPr sz="1300">
                <a:solidFill>
                  <a:srgbClr val="C8E0F4"/>
                </a:solidFill>
              </a:rPr>
              <a:t>  - ③ Thiết lập Hiệu ứng Dị thể (HTE) theo Luật Nhân quả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Khách hàng mô phỏng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Raw Features thiết kế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Biến Kết quả (y_obs, y_rand)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(true_ite)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1-2: Import &amp; Tổng quan kiến trúc SCM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02  Mô Phỏng Hành Vi Khách Hàng (DGP)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Behavioral Proxies — không cần khai báo nhân khẩu học thực tế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97280"/>
            <a:ext cx="301752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59" y="1115568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Tên biến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097280"/>
            <a:ext cx="310896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20439" y="1115568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Phân phối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097280"/>
            <a:ext cx="5029200" cy="41148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1556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Ý nghĩa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53619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53619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153619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159105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is_urban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2" y="159105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39712" y="159105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70% nội thành / 30% ngoại 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13055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213055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66560" y="213055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21854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fare_obs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21854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Log-normal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39712" y="21854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Proxy cho Thu nhập. Avg Fare = $17.60 (EDA T1). Cuốc sân bay ×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272491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74720" y="272491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66560" y="272491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277977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is_airport_trip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277977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(p=0.05)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9712" y="277977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5% khách. Tự động nhân cước ×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31927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74720" y="331927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66560" y="331927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337413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is_rush_hour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7872" y="337413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Phái sinh từ preferred_hour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337413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Đi làm giờ 7-9h &amp; 17-19h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391363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74720" y="391363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766560" y="391363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" y="396849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preferred_hour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47872" y="396849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Weighted Prob (EDA T1)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96849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Đỉnh giờ cao điểm — xác suất kế thừa từ EDA 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450799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74720" y="450799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766560" y="450799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" y="456285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is_rain_rider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47872" y="456285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Bernoulli (p=0.20)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456285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Thích đi trời mưa → nhu cầu cao bất thường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102352"/>
            <a:ext cx="301752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0" y="5102352"/>
            <a:ext cx="310896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766560" y="5102352"/>
            <a:ext cx="5029200" cy="566928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3192" y="5157216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recency_days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47872" y="5157216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9712" y="5157216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Số ngày kể từ lần cuối đặt xe (0-30)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5696712"/>
            <a:ext cx="301752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474720" y="5696712"/>
            <a:ext cx="310896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766560" y="5696712"/>
            <a:ext cx="5029200" cy="566928"/>
          </a:xfrm>
          <a:prstGeom prst="rect">
            <a:avLst/>
          </a:prstGeom>
          <a:solidFill>
            <a:srgbClr val="192F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3192" y="5751575"/>
            <a:ext cx="2880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monthly_rides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751575"/>
            <a:ext cx="2971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9F1C"/>
                </a:solidFill>
              </a:rPr>
              <a:t>Poisson (tuỳ income &amp; age)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39712" y="5751575"/>
            <a:ext cx="4892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Tần suất đi xe tháng trước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3: UserSimulator.__init__() — xem phần phân phối từng biến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03  Tích Hợp Biến Nhiễu (Confounders)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8E0F4"/>
                </a:solidFill>
              </a:rPr>
              <a:t>Biến Nhiễu = Yếu tố tác động ĐỒNG THỜI lên Treatment (phát Voucher) VÀ Outcome (số chuyến)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15568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Nếu KHÔNG có Biến Nhiễu: Dữ liệu quá 'sạch' → Mô hình Uplift học không ra gì.
Nếu CÓ Biến Nhiễu: Dữ liệu phức tạp y hệt đời thực → Kiểm tra được độ chính xác của Model.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🌆  is_rush_hour (Nhu cầu theo Giờ)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Giờ cao điểm → App CẮT Voucher (tài xế khan hiếm)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Khách vẫn PHẢI đi làm dù không có mã giảm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Model nghĩ: 'Không Voucher → nhiều chuyến hơn' (NGƯỢC hoàn toàn!)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Randomize (A/B Test) loại bỏ ảnh hưởng này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965960"/>
            <a:ext cx="5486400" cy="42062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01168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🌧️  is_rain_rider (Cú sốc Thời tiết)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4688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Treatment ↓: Trời mưa → nền tảng TẮT Voucher (surge pricing)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Outcome ↑: Nhu cầu đặt xe tăng đột biến vì mưa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Hậu quả nếu không kiểm soát:</a:t>
            </a:r>
          </a:p>
          <a:p>
            <a:pPr lvl="1"/>
            <a:r>
              <a:rPr sz="1300">
                <a:solidFill>
                  <a:srgbClr val="FF4D6D"/>
                </a:solidFill>
              </a:rPr>
              <a:t>  - Thấy 'Ít Voucher → đi xe nhiều' → Rút kết luận SAI</a:t>
            </a:r>
          </a:p>
          <a:p>
            <a:pPr/>
            <a:r>
              <a:rPr sz="1300">
                <a:solidFill>
                  <a:srgbClr val="00B4D8"/>
                </a:solidFill>
              </a:rPr>
              <a:t>• Cách xử lý trong thí nghiệm:</a:t>
            </a:r>
          </a:p>
          <a:p>
            <a:pPr lvl="1"/>
            <a:r>
              <a:rPr sz="1300">
                <a:solidFill>
                  <a:srgbClr val="06D6A0"/>
                </a:solidFill>
              </a:rPr>
              <a:t>  - Đưa is_rain_rider vào làm Covariate trong mô hình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Rain Riders trong dataset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Airport Business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Tỷ lệ ngoại ô (Persuadables chính)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~45%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Rush Hour users (Sure-things chính)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4: _inject_confounders() — biến nhiễu tác động lên treatment_obs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04  Thiết Lập Hiệu Ứng Dị Thể (HTE)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685800"/>
            <a:ext cx="11548872" cy="77724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ITE = 1.5 (Base) + 1.2 × UrbanLeisure + 0.8 × SuburbanLeisure + 0.4 × RainAge − 1.5 × is_airport − 0.8 × is_rush_hour − 0.9 × is_cash + RecencyBoost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572768"/>
            <a:ext cx="5486400" cy="4617720"/>
          </a:xfrm>
          <a:prstGeom prst="rect">
            <a:avLst/>
          </a:prstGeom>
          <a:solidFill>
            <a:srgbClr val="2A1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4D6D"/>
                </a:solidFill>
              </a:rPr>
              <a:t>🔴  Nhóm Kháng Sale (Sure-things)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Airport Business  →  ITE ≈ +0.5</a:t>
            </a:r>
          </a:p>
          <a:p>
            <a:r>
              <a:t>  - Khách ra sân bay bắt buộc phải đi</a:t>
            </a:r>
          </a:p>
          <a:p>
            <a:r>
              <a:t>  - Voucher là tiền vứt qua cửa sổ</a:t>
            </a:r>
          </a:p>
          <a:p>
            <a:r>
              <a:t>• Urban Regulars (Rush Hour)  →  ITE ≈ +1.0</a:t>
            </a:r>
          </a:p>
          <a:p>
            <a:r>
              <a:t>  - Đi làm hàng ngày, dù không có mã vẫn đi</a:t>
            </a:r>
          </a:p>
          <a:p>
            <a:r>
              <a:t>  - Cannibalization Effect cực cao</a:t>
            </a:r>
          </a:p>
          <a:p>
            <a:r>
              <a:t>• Rain Riders  →  ITE ≈ +1.5</a:t>
            </a:r>
          </a:p>
          <a:p>
            <a:r>
              <a:t>  - Nhu cầu phát sinh từ thời tiết, không phải giá</a:t>
            </a:r>
          </a:p>
          <a:p>
            <a:r>
              <a:t>  - Tặng Voucher không kích thêm được chuyến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82512" y="1572768"/>
            <a:ext cx="5486400" cy="4617720"/>
          </a:xfrm>
          <a:prstGeom prst="rect">
            <a:avLst/>
          </a:prstGeom>
          <a:solidFill>
            <a:srgbClr val="082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618488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🟢  Nhóm Nhạy Cảm Giá (Persuadables)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103120"/>
            <a:ext cx="5212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• Suburban Card  →  ITE ≈ +3.0</a:t>
            </a:r>
          </a:p>
          <a:p>
            <a:r>
              <a:t>  - Khách ngoại ô, ít đi xe vì không có mã</a:t>
            </a:r>
          </a:p>
          <a:p>
            <a:r>
              <a:t>  - Voucher thực sự kéo họ ra đường</a:t>
            </a:r>
          </a:p>
          <a:p>
            <a:r>
              <a:t>• Suburban Cash  →  ITE ≈ +2.5</a:t>
            </a:r>
          </a:p>
          <a:p>
            <a:r>
              <a:t>  - Khách đi chơi cuối tuần, nhạy cảm với giá</a:t>
            </a:r>
          </a:p>
          <a:p>
            <a:r>
              <a:t>  - ROI dương trong kết quả A/B Test</a:t>
            </a:r>
          </a:p>
          <a:p>
            <a:r>
              <a:t>• → Voucher đúng là kích thích hành vi của nhóm này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Airport Business (kháng cao nhất)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Urban Regulars (đi làm)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+2.5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Cash (nhạy cảm giá)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ITE = +3.0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Suburban Card (nhạy nhất)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5: _compute_ite() — phương trình Causal Rules + true_ite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05  Sinh Biến Kết Quả (Outcome Generation)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① y_obs  — Môi trường Tự nhiên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Số chuyến đi dựa HOÀN TOÀN vào đặc điểm khách hàng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Chưa có Voucher can thiệp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Bị nhiễu bởi treatment_obs (phát Voucher không ngẫu nhiên)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Dùng để demo Simpson's Paradox / Selection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731520"/>
            <a:ext cx="5486400" cy="283464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5392" y="7772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6D6A0"/>
                </a:solidFill>
              </a:rPr>
              <a:t>② y_rand  — Môi trường A/B Test (RCT)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5392" y="1280160"/>
            <a:ext cx="52120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Tung đồng xu: 50% treatment_rand = 1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y_rand = y_obs + ITE × treatment  +  Poisson Noise</a:t>
            </a:r>
          </a:p>
          <a:p>
            <a:pPr/>
            <a:r>
              <a:rPr sz="1300">
                <a:solidFill>
                  <a:srgbClr val="C8E0F4"/>
                </a:solidFill>
              </a:rPr>
              <a:t>• Poisson Distribution: đảm bảo số chuyến là số nguyên dương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→ Tiêu chuẩn vàng để đánh giá Uplift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3703320"/>
            <a:ext cx="11548872" cy="1417320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3749039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9F1C"/>
                </a:solidFill>
              </a:rPr>
              <a:t>⭐  true_ite  — Ground Truth (Điểm cốt lõi của Synthetic Data)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251960"/>
            <a:ext cx="110642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>
                <a:solidFill>
                  <a:srgbClr val="C8E0F4"/>
                </a:solidFill>
              </a:rPr>
              <a:t>• Là ITE thật sự của từng cá nhân — không bao giờ quan sát được trong dữ liệu thực</a:t>
            </a:r>
          </a:p>
          <a:p>
            <a:pPr/>
            <a:r>
              <a:rPr sz="1300">
                <a:solidFill>
                  <a:srgbClr val="06D6A0"/>
                </a:solidFill>
              </a:rPr>
              <a:t>• Lưu trữ trong dataset để kiểm chứng kết quả A/B Test: ROI thực tế vs. ITE thiết kế có khớp?</a:t>
            </a:r>
          </a:p>
          <a:p>
            <a:pPr/>
            <a:r>
              <a:rPr sz="1300">
                <a:solidFill>
                  <a:srgbClr val="FF9F1C"/>
                </a:solidFill>
              </a:rPr>
              <a:t>• → LỢI THẾ độc nhất của Synthetic Data: có thể validate toàn bộ pipeline thống kê!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79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Môi trường quan sát (bị nhiễu)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7258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7258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98698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y_rand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8698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RCT: phân bổ Voucher ngẫu nhiên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4476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4476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true_ite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5916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Ground Truth ITE từng cá nhân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1694" y="5486400"/>
            <a:ext cx="2841498" cy="621792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1694" y="5486400"/>
            <a:ext cx="2841498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3134" y="5504688"/>
            <a:ext cx="265861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9F1C"/>
                </a:solidFill>
              </a:rPr>
              <a:t>Poisson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3134" y="5833872"/>
            <a:ext cx="265861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C8E0F4"/>
                </a:solidFill>
              </a:rPr>
              <a:t>Phân phối nhiễu ngẫu nhiên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2_complex_data_generation.ipynb 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Cell 6-7: generate_outcomes() + visualize_distributions()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06  Tính Liền Mạch Của Dự Án &amp; Hướng Tiếp Theo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9184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B4D8"/>
                </a:solidFill>
              </a:rPr>
              <a:t>Tuần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Synthetic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56032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⬛ Thiết kế SCM, gài luật HTE vào Raw Features, tạo Ground Truth + Kiểm định Covariate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06040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48CAA3"/>
                </a:solidFill>
              </a:rPr>
              <a:t>Tuần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9192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K-Means (5 cụm)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6040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97480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K-Means tự tìm ra 5 nhóm phản ánh đúng quy luật HTE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56048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0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9F1C"/>
                </a:solidFill>
              </a:rPr>
              <a:t>Tuần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A/B 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47488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ROI 5 nhóm khớp với luật nhân quả → Validate DGP thành công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06056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79208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8E0F4"/>
                </a:solidFill>
              </a:rPr>
              <a:t>Tuần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AA Test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06056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97496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Kiểm tra phân bổ ngẫu nhiên hợp lệ (AA Sanity Check)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18904" y="150876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56064" y="1051560"/>
            <a:ext cx="2194560" cy="1097280"/>
          </a:xfrm>
          <a:prstGeom prst="rect">
            <a:avLst/>
          </a:prstGeom>
          <a:solidFill>
            <a:srgbClr val="1326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9216" y="107899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6D6A0"/>
                </a:solidFill>
              </a:rPr>
              <a:t>Tuần 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9216" y="1426464"/>
            <a:ext cx="2011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Báo cáo tổng kết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56064" y="2240280"/>
            <a:ext cx="2194560" cy="3474720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47504" y="2304288"/>
            <a:ext cx="20116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8E0F4"/>
                </a:solidFill>
              </a:rPr>
              <a:t>✔ Tổng hợp toàn bộ pipeline, chuẩn bị cho hướng nghiên cứu tiếp theo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5897880"/>
            <a:ext cx="11548872" cy="804672"/>
          </a:xfrm>
          <a:prstGeom prst="rect">
            <a:avLst/>
          </a:prstGeom>
          <a:solidFill>
            <a:srgbClr val="025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94360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Kết luận: Thiết kế DGP của Tuần 2 không phải sinh dữ liệu ngẫu nhiên — đây là một Phòng Thí Nghiệm Nhân Quả (Causal Laboratory) chuẩn mực, tạo nền tảng vững chắc cho A/B Testing và phân tích Causal Inference.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6172200"/>
            <a:ext cx="11548872" cy="530352"/>
          </a:xfrm>
          <a:prstGeom prst="rect">
            <a:avLst/>
          </a:prstGeom>
          <a:solidFill>
            <a:srgbClr val="0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20040" y="6172200"/>
            <a:ext cx="54864" cy="530352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5488" y="61996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8CAA3"/>
                </a:solidFill>
              </a:rPr>
              <a:t>📓  Xem tại Notebook: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619963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9F1C"/>
                </a:solidFill>
              </a:rPr>
              <a:t>1_confounding_demo.ipynb  +  2_complex_data_generation.ipynb 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619963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8E0F4"/>
                </a:solidFill>
              </a:rPr>
              <a:t>| Mục: Chay tuan tu 2 notebooks de thay toan bo pipeline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48CA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