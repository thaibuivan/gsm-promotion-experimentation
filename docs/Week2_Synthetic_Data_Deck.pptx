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Mô phỏng 20,000 khách hàng — tham số kế thừa từ EDA T1 (Avg Fare $17.60, Median $13.50)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Avg Fare = $17.60 (EDA T1).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giờ cao điểm — xác suất kế thừa từ EDA 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= 1.5 (Base) + 1.2 × UrbanLeisure + 0.8 × SuburbanLeisure + 0.4 × RainAge − 1.5 × is_airport − 0.8 × is_rush_hour − 0.9 × is_cash + RecencyBoost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Airport Business  →  ITE ≈ +0.0</a:t>
            </a:r>
          </a:p>
          <a:p>
            <a:r>
              <a:rPr>
                <a:solidFill>
                  <a:srgbClr val="FFFFFF"/>
                </a:solidFill>
              </a:rPr>
              <a:t>  - Khách ra sân bay bắt buộc phải đi</a:t>
            </a:r>
          </a:p>
          <a:p>
            <a:r>
              <a:rPr>
                <a:solidFill>
                  <a:srgbClr val="FFFFFF"/>
                </a:solidFill>
              </a:rPr>
              <a:t>  - Voucher là tiền vứt qua cửa sổ</a:t>
            </a:r>
          </a:p>
          <a:p>
            <a:r>
              <a:rPr>
                <a:solidFill>
                  <a:srgbClr val="FFFFFF"/>
                </a:solidFill>
              </a:rPr>
              <a:t>• Urban Regulars (Rush Hour)  →  ITE ≈ +0.7</a:t>
            </a:r>
          </a:p>
          <a:p>
            <a:r>
              <a:rPr>
                <a:solidFill>
                  <a:srgbClr val="FFFFFF"/>
                </a:solidFill>
              </a:rPr>
              <a:t>  - Đi làm hàng ngày, dù không có mã vẫn đi</a:t>
            </a:r>
          </a:p>
          <a:p>
            <a:r>
              <a:rPr>
                <a:solidFill>
                  <a:srgbClr val="FFFFFF"/>
                </a:solidFill>
              </a:rPr>
              <a:t>  - Cannibalization Effect cực cao</a:t>
            </a:r>
          </a:p>
          <a:p>
            <a:r>
              <a:rPr>
                <a:solidFill>
                  <a:srgbClr val="FFFFFF"/>
                </a:solidFill>
              </a:rPr>
              <a:t>• Rain Riders  →  ITE ≈ +1.9</a:t>
            </a:r>
          </a:p>
          <a:p>
            <a:r>
              <a:rPr>
                <a:solidFill>
                  <a:srgbClr val="FFFFFF"/>
                </a:solidFill>
              </a:rPr>
              <a:t>  - Nhu cầu phát sinh từ thời tiết, không phải giá</a:t>
            </a:r>
          </a:p>
          <a:p>
            <a:r>
              <a:rPr>
                <a:solidFill>
                  <a:srgbClr val="FFFFFF"/>
                </a:solidFill>
              </a:rP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Suburban Card  →  ITE ≈ +2.3</a:t>
            </a:r>
          </a:p>
          <a:p>
            <a:r>
              <a:rPr>
                <a:solidFill>
                  <a:srgbClr val="FFFFFF"/>
                </a:solidFill>
              </a:rPr>
              <a:t>  - Khách ngoại ô, ít đi xe vì không có mã</a:t>
            </a:r>
          </a:p>
          <a:p>
            <a:r>
              <a:rPr>
                <a:solidFill>
                  <a:srgbClr val="FFFFFF"/>
                </a:solidFill>
              </a:rPr>
              <a:t>  - Voucher thực sự kéo họ ra đường</a:t>
            </a:r>
          </a:p>
          <a:p>
            <a:r>
              <a:rPr>
                <a:solidFill>
                  <a:srgbClr val="FFFFFF"/>
                </a:solidFill>
              </a:rPr>
              <a:t>• Suburban Cash  →  ITE ≈ +1.4</a:t>
            </a:r>
          </a:p>
          <a:p>
            <a:r>
              <a:rPr>
                <a:solidFill>
                  <a:srgbClr val="FFFFFF"/>
                </a:solidFill>
              </a:rPr>
              <a:t>  - Khách đi chơi cuối tuần, nhạy cảm với giá</a:t>
            </a:r>
          </a:p>
          <a:p>
            <a:r>
              <a:rPr>
                <a:solidFill>
                  <a:srgbClr val="FFFFFF"/>
                </a:solidFill>
              </a:rPr>
              <a:t>  - ROI dương trong kết quả A/B Test</a:t>
            </a:r>
          </a:p>
          <a:p>
            <a:r>
              <a:rPr>
                <a:solidFill>
                  <a:srgbClr val="FFFFFF"/>
                </a:solidFill>
              </a:rP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+0.7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Urban Regulars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+1.4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Cash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ITE ≈ +2.3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Card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⬛ Thiết kế SCM, gài luật HTE vào Raw Features, tạo Ground Truth + Kiểm định Covariate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