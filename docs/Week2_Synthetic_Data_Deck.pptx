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Dữ liệu quan sát (Observational Data) chứa Biến Nhiễu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Gây ra Spurious Correlation (Tương quan ảo)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Không thể đo True ITE từ dữ liệu thực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Structural Causal Model (SCM)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Mô phỏng 20,000 khách hàng — tham số kế thừa từ EDA T1 (Avg Fare $17.60, Median $13.50)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Môi trường kiểm thử chuẩn mực cho A/B Testing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thiết kế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 theo Luật Nhân quả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Khách hàng mô phỏng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Raw Features thiết kế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Biến Kết quả (y_obs, y_rand)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(true_ite)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1-2: Import &amp; Tổng quan kiến trúc SCM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Avg Fare = $17.60 (EDA T1).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giờ cao điểm — xác suất kế thừa từ EDA T1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3: UserSimulator.__init__() — xem phần phân phối từng biến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FFFFFF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Rain Riders trong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Tỷ lệ Airport Business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ngoại ô (Persuadables chính)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Rush Hour users (Sure-things chính)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4: _inject_confounders() — biến nhiễu tác động lên treatment_obs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= 1.5 (Base) + 1.2 × UrbanLeisure + 0.8 × SuburbanLeisure + 0.4 × RainAge − 1.5 × is_airport − 0.8 × is_rush_hour − 0.9 × is_cash + RecencyBoost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Airport Business  →  ITE ≈ +0.0</a:t>
            </a:r>
          </a:p>
          <a:p>
            <a:r>
              <a:rPr>
                <a:solidFill>
                  <a:srgbClr val="FFFFFF"/>
                </a:solidFill>
              </a:rPr>
              <a:t>  - Khách ra sân bay bắt buộc phải đi</a:t>
            </a:r>
          </a:p>
          <a:p>
            <a:r>
              <a:rPr>
                <a:solidFill>
                  <a:srgbClr val="FFFFFF"/>
                </a:solidFill>
              </a:rPr>
              <a:t>  - Voucher là tiền vứt qua cửa sổ</a:t>
            </a:r>
          </a:p>
          <a:p>
            <a:r>
              <a:rPr>
                <a:solidFill>
                  <a:srgbClr val="FFFFFF"/>
                </a:solidFill>
              </a:rPr>
              <a:t>• Urban Regulars (Rush Hour)  →  ITE ≈ +0.7</a:t>
            </a:r>
          </a:p>
          <a:p>
            <a:r>
              <a:rPr>
                <a:solidFill>
                  <a:srgbClr val="FFFFFF"/>
                </a:solidFill>
              </a:rPr>
              <a:t>  - Đi làm hàng ngày, dù không có mã vẫn đi</a:t>
            </a:r>
          </a:p>
          <a:p>
            <a:r>
              <a:rPr>
                <a:solidFill>
                  <a:srgbClr val="FFFFFF"/>
                </a:solidFill>
              </a:rPr>
              <a:t>  - Cannibalization Effect cực cao</a:t>
            </a:r>
          </a:p>
          <a:p>
            <a:r>
              <a:rPr>
                <a:solidFill>
                  <a:srgbClr val="FFFFFF"/>
                </a:solidFill>
              </a:rPr>
              <a:t>• Rain Riders  →  ITE ≈ +1.9</a:t>
            </a:r>
          </a:p>
          <a:p>
            <a:r>
              <a:rPr>
                <a:solidFill>
                  <a:srgbClr val="FFFFFF"/>
                </a:solidFill>
              </a:rPr>
              <a:t>  - Nhu cầu phát sinh từ thời tiết, không phải giá</a:t>
            </a:r>
          </a:p>
          <a:p>
            <a:r>
              <a:rPr>
                <a:solidFill>
                  <a:srgbClr val="FFFFFF"/>
                </a:solidFill>
              </a:rP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Suburban Card  →  ITE ≈ +2.3</a:t>
            </a:r>
          </a:p>
          <a:p>
            <a:r>
              <a:rPr>
                <a:solidFill>
                  <a:srgbClr val="FFFFFF"/>
                </a:solidFill>
              </a:rPr>
              <a:t>  - Khách ngoại ô, ít đi xe vì không có mã</a:t>
            </a:r>
          </a:p>
          <a:p>
            <a:r>
              <a:rPr>
                <a:solidFill>
                  <a:srgbClr val="FFFFFF"/>
                </a:solidFill>
              </a:rPr>
              <a:t>  - Voucher thực sự kéo họ ra đường</a:t>
            </a:r>
          </a:p>
          <a:p>
            <a:r>
              <a:rPr>
                <a:solidFill>
                  <a:srgbClr val="FFFFFF"/>
                </a:solidFill>
              </a:rPr>
              <a:t>• Suburban Cash  →  ITE ≈ +1.4</a:t>
            </a:r>
          </a:p>
          <a:p>
            <a:r>
              <a:rPr>
                <a:solidFill>
                  <a:srgbClr val="FFFFFF"/>
                </a:solidFill>
              </a:rPr>
              <a:t>  - Khách đi chơi cuối tuần, nhạy cảm với giá</a:t>
            </a:r>
          </a:p>
          <a:p>
            <a:r>
              <a:rPr>
                <a:solidFill>
                  <a:srgbClr val="FFFFFF"/>
                </a:solidFill>
              </a:rPr>
              <a:t>  - ROI dương trong kết quả A/B Test</a:t>
            </a:r>
          </a:p>
          <a:p>
            <a:r>
              <a:rPr>
                <a:solidFill>
                  <a:srgbClr val="FFFFFF"/>
                </a:solidFill>
              </a:rPr>
              <a:t>• → Voucher đúng là kích thích hành vi của nhóm này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Airport Business (kháng cao nhất)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+0.7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Urban Regulars (đi làm)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+1.4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Suburban Cash (nhạy cảm giá)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+2.3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Suburban Card (nhạy nhất)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5: _compute_ite() — phương trình Causal Rules + true_ite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(Điểm cốt lõi của Synthetic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— không bao giờ quan sát được trong dữ liệu thực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Lưu trữ trong dataset để kiểm chứng kết quả A/B Test: ROI thực tế vs. ITE thiết kế có khớp?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LỢI THẾ độc nhất của Synthetic Data: có thể validate toàn bộ pipeline thống kê!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Môi trường quan sát (bị nhiễu)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RCT: phân bổ Voucher ngẫu nhiên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true_ite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ITE từng cá nhân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Phân phối nhiễu ngẫu nhiên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6-7: generate_outcomes() + visualize_distributions()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⬛ Thiết kế SCM, gài luật HTE vào Raw Features, tạo Ground Truth + Kiểm định Covariate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K-Means tự tìm ra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ROI 5 nhóm khớp với luật nhân quả → Validate DGP thành công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Kiểm tra phân bổ ngẫu nhiên hợp lệ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Báo cáo tổng kết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Tổng hợp toàn bộ pipeline, chuẩn bị cho hướng nghiên cứu tiếp theo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chuẩn mực, tạo nền tảng vững chắc cho A/B Testing và phân tích Causal Inference.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1_confounding_demo.ipynb  +  2_complex_data_generation.ipynb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Chay tuan tu 2 notebooks de thay toan bo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