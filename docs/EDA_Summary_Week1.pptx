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B9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09728" cy="6528816"/>
          </a:xfrm>
          <a:prstGeom prst="rect">
            <a:avLst/>
          </a:prstGeom>
          <a:solidFill>
            <a:srgbClr val="1B9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EDA Summary — Khám Phá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98E4"/>
                </a:solidFill>
                <a:latin typeface="Segoe UI"/>
              </a:rPr>
              <a:t>Yellow Taxi NYC  •  Tháng 01/2026  •  3.7 triệu chuyến xe  •  Feature Engineering xong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3657600" cy="457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657600" cy="1051560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9047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98E4"/>
                </a:solidFill>
                <a:latin typeface="Segoe UI"/>
              </a:rPr>
              <a:t>3,724,889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4"/>
                </a:solidFill>
                <a:latin typeface="Segoe UI"/>
              </a:rPr>
              <a:t>Tổng chuyến xe phân tích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417320"/>
            <a:ext cx="3657600" cy="1051560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49047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D3A8"/>
                </a:solidFill>
                <a:latin typeface="Segoe UI"/>
              </a:rPr>
              <a:t>94.9%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4"/>
                </a:solidFill>
                <a:latin typeface="Segoe UI"/>
              </a:rPr>
              <a:t>Dữ liệu sạch giữ lại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0" y="1417320"/>
            <a:ext cx="3657600" cy="1051560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49047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B700"/>
                </a:solidFill>
                <a:latin typeface="Segoe UI"/>
              </a:rPr>
              <a:t>15+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0C4"/>
                </a:solidFill>
                <a:latin typeface="Segoe UI"/>
              </a:rPr>
              <a:t>Features đã tạo 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651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B700"/>
                </a:solidFill>
                <a:latin typeface="Segoe UI"/>
              </a:rPr>
              <a:t>3 Phát Hiện Đát Giá Nhất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127248"/>
            <a:ext cx="3657600" cy="3227832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2186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98E4"/>
                </a:solidFill>
                <a:latin typeface="Segoe UI"/>
              </a:rPr>
              <a:t>Sân Bay — Mỏ Vàng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30168"/>
            <a:ext cx="1645920" cy="36576"/>
          </a:xfrm>
          <a:prstGeom prst="rect">
            <a:avLst/>
          </a:prstGeom>
          <a:solidFill>
            <a:srgbClr val="1B9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739896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Chỉ ~8% số chuyến nhưng giá cước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cao gấp 2-3x so với nội đô.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JFK &amp; LaGuardia = 'Con gà đẻ trứng vàng'.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127248"/>
            <a:ext cx="3657600" cy="3227832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34840" y="32186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D3A8"/>
                </a:solidFill>
                <a:latin typeface="Segoe UI"/>
              </a:rPr>
              <a:t>Khung Giờ Vàng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630168"/>
            <a:ext cx="1645920" cy="36576"/>
          </a:xfrm>
          <a:prstGeom prst="rect">
            <a:avLst/>
          </a:prstGeom>
          <a:solidFill>
            <a:srgbClr val="1D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3739896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Hai đỉnh cao rõ rệt mỗi ngày: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- 7-9 AM (giờ đi làm)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- 17-19 PM (giờ tan tầm)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Cuối tuần: Nightlife đến 2-3 AM.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3127248"/>
            <a:ext cx="3657600" cy="3227832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32186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B700"/>
                </a:solidFill>
                <a:latin typeface="Segoe UI"/>
              </a:rPr>
              <a:t>Hành Vi Trả Tip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60" y="3630168"/>
            <a:ext cx="1645920" cy="3657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60" y="3739896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Khách Credit Card tip cao hơn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khách tiền mặt.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Chuyến ngắn = % Tip cao hơn.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" y="6601968"/>
            <a:ext cx="8686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98E4"/>
                </a:solidFill>
                <a:latin typeface="Segoe UI"/>
              </a:rPr>
              <a:t>EDA Summary  |  Yellow Taxi NYC  |  Thang 01/2026  |  GSM Promotion Experimentation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60196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B98E4"/>
                </a:solidFill>
                <a:latin typeface="Segoe UI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B9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09728" cy="6528816"/>
          </a:xfrm>
          <a:prstGeom prst="rect">
            <a:avLst/>
          </a:prstGeom>
          <a:solidFill>
            <a:srgbClr val="1B9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Temporal Patterns — Quy Luật Thời 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98E4"/>
                </a:solidFill>
                <a:latin typeface="Segoe UI"/>
              </a:rPr>
              <a:t>Phân tích theo giờ, ngày trong tuần  —  File số 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15568"/>
            <a:ext cx="3200400" cy="45720"/>
          </a:xfrm>
          <a:prstGeom prst="rect">
            <a:avLst/>
          </a:prstGeom>
          <a:solidFill>
            <a:srgbClr val="1B9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261872"/>
            <a:ext cx="6903720" cy="5074920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nb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07592"/>
            <a:ext cx="6812280" cy="4983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88352" y="12618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B700"/>
                </a:solidFill>
                <a:latin typeface="Segoe UI"/>
              </a:rPr>
              <a:t>Key Takeaways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88352" y="1655064"/>
            <a:ext cx="2286000" cy="3657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88352" y="1737360"/>
            <a:ext cx="4572000" cy="1389888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52944" y="1847088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98E4"/>
                </a:solidFill>
                <a:latin typeface="Segoe UI"/>
              </a:rPr>
              <a:t>Dinh 7-9 AM — Sáng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52944" y="2194560"/>
            <a:ext cx="1097280" cy="36576"/>
          </a:xfrm>
          <a:prstGeom prst="rect">
            <a:avLst/>
          </a:prstGeom>
          <a:solidFill>
            <a:srgbClr val="1B9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52944" y="2267712"/>
            <a:ext cx="424281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Giờ cao điểm đi làm.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Lượng xe tăng đột biến, cạnh tranh giá tốt nhất.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88352" y="3218688"/>
            <a:ext cx="4572000" cy="1389888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52944" y="3328416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98E4"/>
                </a:solidFill>
                <a:latin typeface="Segoe UI"/>
              </a:rPr>
              <a:t>Dinh 17-19 PM — Chiều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52944" y="3675888"/>
            <a:ext cx="1097280" cy="36576"/>
          </a:xfrm>
          <a:prstGeom prst="rect">
            <a:avLst/>
          </a:prstGeom>
          <a:solidFill>
            <a:srgbClr val="1B9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52944" y="3749040"/>
            <a:ext cx="424281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Giờ tan tầm, cao nhất trong ngày.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Cần nhiều tài xế ở khu vực trung tâm.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4700016"/>
            <a:ext cx="4572000" cy="1389888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52944" y="4809744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98E4"/>
                </a:solidFill>
                <a:latin typeface="Segoe UI"/>
              </a:rPr>
              <a:t>Weekend Effect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52944" y="5157216"/>
            <a:ext cx="1097280" cy="36576"/>
          </a:xfrm>
          <a:prstGeom prst="rect">
            <a:avLst/>
          </a:prstGeom>
          <a:solidFill>
            <a:srgbClr val="1B9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52944" y="5230368"/>
            <a:ext cx="424281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Ban ngày ít hơn ngày thường.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Ban đêm kéo dài đến 2-3 AM (Nightlife).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88352" y="5742432"/>
            <a:ext cx="4572000" cy="548640"/>
          </a:xfrm>
          <a:prstGeom prst="rect">
            <a:avLst/>
          </a:prstGeom>
          <a:solidFill>
            <a:srgbClr val="1B52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25512" y="5815584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D3A8"/>
                </a:solidFill>
                <a:latin typeface="Segoe UI"/>
              </a:rPr>
              <a:t>Gợi ý KM: Happy Hour Voucher giờ thấp điểm  |  Surge Pricing giờ cao điểm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6601968"/>
            <a:ext cx="8686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98E4"/>
                </a:solidFill>
                <a:latin typeface="Segoe UI"/>
              </a:rPr>
              <a:t>EDA Summary  |  Yellow Taxi NYC  |  Thang 01/2026  |  GSM Promotion Experimentation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60196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B98E4"/>
                </a:solidFill>
                <a:latin typeface="Segoe UI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09728" cy="6528816"/>
          </a:xfrm>
          <a:prstGeom prst="rect">
            <a:avLst/>
          </a:prstGeom>
          <a:solidFill>
            <a:srgbClr val="1D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Geographic Hotspots — Điểm Nóng Địa Lý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DD3A8"/>
                </a:solidFill>
                <a:latin typeface="Segoe UI"/>
              </a:rPr>
              <a:t>Phân tích vùng, tuyến đi, sân bay  —  File số 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15568"/>
            <a:ext cx="3200400" cy="45720"/>
          </a:xfrm>
          <a:prstGeom prst="rect">
            <a:avLst/>
          </a:prstGeom>
          <a:solidFill>
            <a:srgbClr val="1D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261872"/>
            <a:ext cx="6903720" cy="5074920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nb3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07592"/>
            <a:ext cx="6812280" cy="4983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88352" y="12618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B700"/>
                </a:solidFill>
                <a:latin typeface="Segoe UI"/>
              </a:rPr>
              <a:t>Key Takeaways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88352" y="1655064"/>
            <a:ext cx="2286000" cy="3657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88352" y="1737360"/>
            <a:ext cx="4572000" cy="1389888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52944" y="1847088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D3A8"/>
                </a:solidFill>
                <a:latin typeface="Segoe UI"/>
              </a:rPr>
              <a:t>Manhattan — Trung Tâm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52944" y="2194560"/>
            <a:ext cx="1097280" cy="36576"/>
          </a:xfrm>
          <a:prstGeom prst="rect">
            <a:avLst/>
          </a:prstGeom>
          <a:solidFill>
            <a:srgbClr val="1D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52944" y="2267712"/>
            <a:ext cx="424281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Chiếm đa số chuyến xe nội đô.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Khu Midtown là điểm nóng nhất toàn hệ.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88352" y="3218688"/>
            <a:ext cx="4572000" cy="1389888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52944" y="3328416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D3A8"/>
                </a:solidFill>
                <a:latin typeface="Segoe UI"/>
              </a:rPr>
              <a:t>Sân bay JFK &amp; LaGuardia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52944" y="3675888"/>
            <a:ext cx="1097280" cy="36576"/>
          </a:xfrm>
          <a:prstGeom prst="rect">
            <a:avLst/>
          </a:prstGeom>
          <a:solidFill>
            <a:srgbClr val="1D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52944" y="3749040"/>
            <a:ext cx="424281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Giá cước trung bình cao gấp 2-3x.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Cán cân: Nhiều người đi từ nội đô ra sân bay.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4700016"/>
            <a:ext cx="4572000" cy="1389888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52944" y="4809744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D3A8"/>
                </a:solidFill>
                <a:latin typeface="Segoe UI"/>
              </a:rPr>
              <a:t>Borough-to-Borough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52944" y="5157216"/>
            <a:ext cx="1097280" cy="36576"/>
          </a:xfrm>
          <a:prstGeom prst="rect">
            <a:avLst/>
          </a:prstGeom>
          <a:solidFill>
            <a:srgbClr val="1D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52944" y="5230368"/>
            <a:ext cx="424281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Queens &amp; Bronx đến Manhattan nhiều nhất.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Cơ hội mở rộng vùng phủ sóng.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88352" y="5742432"/>
            <a:ext cx="4572000" cy="548640"/>
          </a:xfrm>
          <a:prstGeom prst="rect">
            <a:avLst/>
          </a:prstGeom>
          <a:solidFill>
            <a:srgbClr val="1B52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25512" y="5815584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D3A8"/>
                </a:solidFill>
                <a:latin typeface="Segoe UI"/>
              </a:rPr>
              <a:t>Gợi ý KM: Campaign 'Vé sân bay đồng giá'  |  Ưu đãi liên quận ngoài Manhattan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6601968"/>
            <a:ext cx="8686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98E4"/>
                </a:solidFill>
                <a:latin typeface="Segoe UI"/>
              </a:rPr>
              <a:t>EDA Summary  |  Yellow Taxi NYC  |  Thang 01/2026  |  GSM Promotion Experimentation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60196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B98E4"/>
                </a:solidFill>
                <a:latin typeface="Segoe UI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09728" cy="652881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Customer Behavior &amp; Tipping — Hành Vi Khách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B700"/>
                </a:solidFill>
                <a:latin typeface="Segoe UI"/>
              </a:rPr>
              <a:t>Mô hình trả tip, thanh toán, hành vi chi tiêu  —  File số 4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15568"/>
            <a:ext cx="3200400" cy="457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261872"/>
            <a:ext cx="6903720" cy="5074920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nb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07592"/>
            <a:ext cx="6812280" cy="4983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88352" y="12618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B700"/>
                </a:solidFill>
                <a:latin typeface="Segoe UI"/>
              </a:rPr>
              <a:t>Key Takeaways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88352" y="1655064"/>
            <a:ext cx="2286000" cy="3657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88352" y="1737360"/>
            <a:ext cx="4572000" cy="1389888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52944" y="1847088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700"/>
                </a:solidFill>
                <a:latin typeface="Segoe UI"/>
              </a:rPr>
              <a:t>Credit Card vs Tiền Mặt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52944" y="2194560"/>
            <a:ext cx="1097280" cy="3657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52944" y="2267712"/>
            <a:ext cx="424281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Khách quẹt thẻ để lại tip đều đặn hơn.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Tiền mặt: hệ thống không ghi nhận được tip.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88352" y="3218688"/>
            <a:ext cx="4572000" cy="1389888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52944" y="3328416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700"/>
                </a:solidFill>
                <a:latin typeface="Segoe UI"/>
              </a:rPr>
              <a:t>Nghịch Lý Chuyến Dài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52944" y="3675888"/>
            <a:ext cx="1097280" cy="3657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52944" y="3749040"/>
            <a:ext cx="424281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Cuốc càng dài, tổng tiền càng lớn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nhưng % Tip lại càng giảm.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4700016"/>
            <a:ext cx="4572000" cy="1389888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52944" y="4809744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700"/>
                </a:solidFill>
                <a:latin typeface="Segoe UI"/>
              </a:rPr>
              <a:t>Chuyến Ngắn = Tip Hậu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52944" y="5157216"/>
            <a:ext cx="1097280" cy="3657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52944" y="5230368"/>
            <a:ext cx="424281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Chuyến nội đô ngắn có tỷ lệ % Tip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cao nhất trong toàn bộ dữ liệu.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88352" y="5742432"/>
            <a:ext cx="4572000" cy="548640"/>
          </a:xfrm>
          <a:prstGeom prst="rect">
            <a:avLst/>
          </a:prstGeom>
          <a:solidFill>
            <a:srgbClr val="1B52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25512" y="5815584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D3A8"/>
                </a:solidFill>
                <a:latin typeface="Segoe UI"/>
              </a:rPr>
              <a:t>Gợi ý KM: Tặng $5 khi liên kết thẻ tín dụng lần đầu  |  Chương trình khách VIP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6601968"/>
            <a:ext cx="8686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98E4"/>
                </a:solidFill>
                <a:latin typeface="Segoe UI"/>
              </a:rPr>
              <a:t>EDA Summary  |  Yellow Taxi NYC  |  Thang 01/2026  |  GSM Promotion Experimentation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60196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B98E4"/>
                </a:solidFill>
                <a:latin typeface="Segoe UI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09728" cy="652881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Feature Store — Sẵn Sàng cho A/B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B700"/>
                </a:solidFill>
                <a:latin typeface="Segoe UI"/>
              </a:rPr>
              <a:t>Nguyên liệu đã chuẩn bị đủ cho Tuần 2  —  File số 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15568"/>
            <a:ext cx="3200400" cy="457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749039" cy="3840480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98E4"/>
                </a:solidFill>
                <a:latin typeface="Segoe UI"/>
              </a:rPr>
              <a:t>Nhóm Thời Gian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2011680" cy="36576"/>
          </a:xfrm>
          <a:prstGeom prst="rect">
            <a:avLst/>
          </a:prstGeom>
          <a:solidFill>
            <a:srgbClr val="1B9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993392"/>
            <a:ext cx="338327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is_rush_hour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is_weekend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is_night_time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pickup_hour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pickup_dow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pickup_month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1371600"/>
            <a:ext cx="3749039" cy="3840480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70831" y="1481328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D3A8"/>
                </a:solidFill>
                <a:latin typeface="Segoe UI"/>
              </a:rPr>
              <a:t>Nhóm Chuyến Đi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1" y="1874520"/>
            <a:ext cx="2011680" cy="36576"/>
          </a:xfrm>
          <a:prstGeom prst="rect">
            <a:avLst/>
          </a:prstGeom>
          <a:solidFill>
            <a:srgbClr val="1D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70831" y="1993392"/>
            <a:ext cx="338327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trip_duration_mins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fare_per_mile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tip_pct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speed_mph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trip_distance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total_amount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2" y="1371600"/>
            <a:ext cx="3749039" cy="3840480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2" y="1481328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B700"/>
                </a:solidFill>
                <a:latin typeface="Segoe UI"/>
              </a:rPr>
              <a:t>Nhóm Địa Lý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84462" y="1874520"/>
            <a:ext cx="2011680" cy="3657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2" y="1993392"/>
            <a:ext cx="338327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is_airport_trip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is_intra_manhattan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pu_Borough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do_Borough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pu_Zone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do_Zone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321808"/>
            <a:ext cx="3749039" cy="822960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5385816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4"/>
                </a:solidFill>
                <a:latin typeface="Segoe UI"/>
              </a:rPr>
              <a:t>Features đã tạo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98E4"/>
                </a:solidFill>
                <a:latin typeface="Segoe UI"/>
              </a:rPr>
              <a:t>15+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7951" y="5321808"/>
            <a:ext cx="3749039" cy="822960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70831" y="5385816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4"/>
                </a:solidFill>
                <a:latin typeface="Segoe UI"/>
              </a:rPr>
              <a:t>File xuất 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1" y="566928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D3A8"/>
                </a:solidFill>
                <a:latin typeface="Segoe UI"/>
              </a:rPr>
              <a:t>feature_store_v1.csv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01582" y="5321808"/>
            <a:ext cx="3749039" cy="822960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84462" y="5385816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0C4"/>
                </a:solidFill>
                <a:latin typeface="Segoe UI"/>
              </a:rPr>
              <a:t>Catalog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2" y="566928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700"/>
                </a:solidFill>
                <a:latin typeface="Segoe UI"/>
              </a:rPr>
              <a:t>feature_catalog.xlsx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6236208"/>
            <a:ext cx="11612880" cy="457200"/>
          </a:xfrm>
          <a:prstGeom prst="rect">
            <a:avLst/>
          </a:prstGeom>
          <a:solidFill>
            <a:srgbClr val="1B52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2910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Tuần 2: Experiment Design  •  Viết Hypothesis  •  Xác định Treatment/Control  •  Chọn Primary Metric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6601968"/>
            <a:ext cx="8686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98E4"/>
                </a:solidFill>
                <a:latin typeface="Segoe UI"/>
              </a:rPr>
              <a:t>EDA Summary  |  Yellow Taxi NYC  |  Thang 01/2026  |  GSM Promotion Experimentation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60196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B98E4"/>
                </a:solidFill>
                <a:latin typeface="Segoe UI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674</Words>
  <Application>Microsoft Office PowerPoint</Application>
  <PresentationFormat>Custom</PresentationFormat>
  <Paragraphs>101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Bui Van Thai</cp:lastModifiedBy>
  <cp:revision>1</cp:revision>
  <dcterms:created xsi:type="dcterms:W3CDTF">2013-01-27T09:14:16Z</dcterms:created>
  <dcterms:modified xsi:type="dcterms:W3CDTF">2026-07-20T10:10:28Z</dcterms:modified>
  <cp:category/>
</cp:coreProperties>
</file>