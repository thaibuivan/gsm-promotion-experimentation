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Week 4: Đánh giá Nền tảng (A/A) &amp; Phân tích Tác động (A/B)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Chứng minh tính toàn vẹn của Dữ liệu Thực nghiệm &amp; Tìm điểm ngọt kinh doanh</a:t>
            </a:r>
          </a:p>
          <a:p>
            <a:r>
              <a:t>GSM Promotion Experimentation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A/A Testing: Hiệu chuẩn 'Cái Cân' Thống kê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Mục tiêu: Đảm bảo thuật toán chia nhóm và tính P-value không bị lỗi thiên vị.</a:t>
            </a:r>
          </a:p>
          <a:p>
            <a:pPr/>
            <a:r>
              <a:t>Kết quả Khớp mô phỏng (5000 vòng lặp):</a:t>
            </a:r>
          </a:p>
          <a:p>
            <a:pPr lvl="1"/>
            <a:r>
              <a:t>Lỗi Cân bằng Mẫu (SRM): Tỷ lệ báo lỗi là 251/5000 (5.02%).</a:t>
            </a:r>
          </a:p>
          <a:p>
            <a:pPr lvl="2"/>
            <a:r>
              <a:t>Binomial P-value = 0.9664 -&gt; Phù hợp tuyệt đối với phương sai ngẫu nhiên.</a:t>
            </a:r>
          </a:p>
          <a:p>
            <a:pPr lvl="1"/>
            <a:r>
              <a:t>Tỷ lệ Báo động giả (False Positive Rate): 4.78%.</a:t>
            </a:r>
          </a:p>
          <a:p>
            <a:pPr lvl="2"/>
            <a:r>
              <a:t>Không khác biệt ý nghĩa so với mức kỳ vọng 5% (Binomial P-value = 0.4851).</a:t>
            </a:r>
          </a:p>
          <a:p>
            <a:pPr/>
            <a:r>
              <a:t>=&gt; KẾT LUẬN: Động cơ ngẫu nhiên hóa vô tư 100%. Sẵn sàng chạy A/B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Trực quan hóa phân phối P-Value (A/A Test)</a:t>
            </a:r>
          </a:p>
        </p:txBody>
      </p:sp>
      <p:pic>
        <p:nvPicPr>
          <p:cNvPr id="3" name="Picture 2" descr="week4_aa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753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A/B Testing: Hiệu quả Chiến dịch Voucher 15%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Áp dụng công cụ đã được kiểm định từ A/A Test, kết quả A/B Test ghi nhận:</a:t>
            </a:r>
          </a:p>
          <a:p>
            <a:pPr/>
            <a:r>
              <a:t>Mass Marketing (Không phân cụm): Lỗ ròng.</a:t>
            </a:r>
          </a:p>
          <a:p>
            <a:pPr lvl="1"/>
            <a:r>
              <a:t>ATE trung bình +0.93 chuyến nhưng tốn chi phí cho nhóm kháng khuyến mãi.</a:t>
            </a:r>
          </a:p>
          <a:p>
            <a:pPr/>
            <a:r>
              <a:t>Phân tích theo Cụm K-Means: Tìm ra 'Sweet Spot'.</a:t>
            </a:r>
          </a:p>
          <a:p>
            <a:pPr lvl="1"/>
            <a:r>
              <a:t>Airport Business &amp; Rain Riders: ROI Âm (-13.8% và -23.0%). Kháng khuyến mãi.</a:t>
            </a:r>
          </a:p>
          <a:p>
            <a:pPr lvl="1"/>
            <a:r>
              <a:t>Urban Regulars: Hiện tượng Ăn mòn (Cannibalization). Đằng nào cũng đi.</a:t>
            </a:r>
          </a:p>
          <a:p>
            <a:pPr lvl="1"/>
            <a:r>
              <a:t>Suburban Card: WINNER (+36.4% ROI). Tệp nhạy cảm giá nhất.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Trực quan hóa ROI theo Phân khúc (A/B Test)</a:t>
            </a:r>
          </a:p>
        </p:txBody>
      </p:sp>
      <p:pic>
        <p:nvPicPr>
          <p:cNvPr id="3" name="Picture 2" descr="week4_ab_testin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1787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Kết luận &amp; Mở ra Tuần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Bài học cốt lõi:</a:t>
            </a:r>
          </a:p>
          <a:p>
            <a:pPr lvl="1"/>
            <a:r>
              <a:t>A/A Test là bắt buộc để chứng minh Dữ liệu Thực nghiệm (Experimental) đáng tin cậy hơn Dữ liệu Quan sát (Observational).</a:t>
            </a:r>
          </a:p>
          <a:p>
            <a:pPr lvl="1"/>
            <a:r>
              <a:t>A/B Test truyền thống kết hợp Rule-based vẫn có lỗ hổng.</a:t>
            </a:r>
          </a:p>
          <a:p>
            <a:pPr lvl="2"/>
            <a:r>
              <a:t>Nhóm 'Rain Riders' vẫn chứa 77% khách hàng không đi mưa do nhược điểm khái quát hóa của K-Means.</a:t>
            </a:r>
          </a:p>
          <a:p>
            <a:pPr/>
            <a:r>
              <a:t>Giải pháp cho Tuần 5:</a:t>
            </a:r>
          </a:p>
          <a:p>
            <a:pPr lvl="1"/>
            <a:r>
              <a:t>Loại bỏ hoàn toàn các 'cái tên' gán nhãn tĩnh.</a:t>
            </a:r>
          </a:p>
          <a:p>
            <a:pPr lvl="1"/>
            <a:r>
              <a:t>Áp dụng Uplift Modeling (T-Learner, X-Learner) để dự đoán ROI cá nhân hóa đến TỪNG TÀI KHOẢN một.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