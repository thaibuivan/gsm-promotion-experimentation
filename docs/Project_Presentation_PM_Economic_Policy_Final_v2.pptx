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05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GSM PROMOTION</a:t>
            </a:r>
            <a:br/>
            <a:r>
              <a:t>EXPERIMENTATION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Từ phát voucher đại trà đến tối ưu quyết định khuyến mãi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2926080"/>
            <a:ext cx="6560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US" i="1" dirty="0" err="1"/>
              <a:t>Xây</a:t>
            </a:r>
            <a:r>
              <a:rPr lang="en-US" i="1" dirty="0"/>
              <a:t> </a:t>
            </a:r>
            <a:r>
              <a:rPr lang="en-US" i="1" dirty="0" err="1"/>
              <a:t>dựng</a:t>
            </a:r>
            <a:r>
              <a:rPr lang="en-US" i="1" dirty="0"/>
              <a:t> </a:t>
            </a:r>
            <a:r>
              <a:rPr lang="en-US" i="1" dirty="0" err="1"/>
              <a:t>hệ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r>
              <a:rPr lang="en-US" i="1" dirty="0"/>
              <a:t> </a:t>
            </a:r>
            <a:r>
              <a:rPr lang="en-US" i="1" dirty="0" err="1"/>
              <a:t>phân</a:t>
            </a:r>
            <a:r>
              <a:rPr lang="en-US" i="1" dirty="0"/>
              <a:t> </a:t>
            </a:r>
            <a:r>
              <a:rPr lang="en-US" i="1" dirty="0" err="1"/>
              <a:t>bổ</a:t>
            </a:r>
            <a:r>
              <a:rPr lang="en-US" i="1" dirty="0"/>
              <a:t> </a:t>
            </a:r>
            <a:r>
              <a:rPr lang="en-US" i="1" dirty="0" err="1"/>
              <a:t>ngân</a:t>
            </a:r>
            <a:r>
              <a:rPr lang="en-US" i="1" dirty="0"/>
              <a:t> </a:t>
            </a:r>
            <a:r>
              <a:rPr lang="en-US" i="1" dirty="0" err="1"/>
              <a:t>sách</a:t>
            </a:r>
            <a:r>
              <a:rPr lang="en-US" i="1" dirty="0"/>
              <a:t> </a:t>
            </a:r>
            <a:r>
              <a:rPr lang="en-US" i="1" dirty="0" err="1"/>
              <a:t>khuyến</a:t>
            </a:r>
            <a:r>
              <a:rPr lang="en-US" i="1" dirty="0"/>
              <a:t> </a:t>
            </a:r>
            <a:r>
              <a:rPr lang="en-US" i="1" dirty="0" err="1"/>
              <a:t>mãi</a:t>
            </a:r>
            <a:r>
              <a:rPr lang="en-US" i="1" dirty="0"/>
              <a:t> </a:t>
            </a:r>
            <a:r>
              <a:rPr lang="en-US" i="1" dirty="0" err="1"/>
              <a:t>tối</a:t>
            </a:r>
            <a:r>
              <a:rPr lang="en-US" i="1" dirty="0"/>
              <a:t> </a:t>
            </a:r>
            <a:r>
              <a:rPr lang="en-US" i="1" dirty="0" err="1"/>
              <a:t>ưu</a:t>
            </a:r>
            <a:r>
              <a:rPr lang="en-US" i="1" dirty="0"/>
              <a:t> </a:t>
            </a:r>
            <a:r>
              <a:rPr lang="en-US" i="1" dirty="0" err="1"/>
              <a:t>dựa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</a:t>
            </a:r>
            <a:r>
              <a:rPr lang="en-US" i="1" dirty="0" err="1"/>
              <a:t>dữ</a:t>
            </a:r>
            <a:r>
              <a:rPr lang="en-US" i="1" dirty="0"/>
              <a:t> </a:t>
            </a:r>
            <a:r>
              <a:rPr lang="en-US" i="1" dirty="0" err="1"/>
              <a:t>liệu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138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3.72M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t>Dữ liệu chuyến đi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0292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5138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20K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t>Người dùng mô phỏng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292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5138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t>Mức voucher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50292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5138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5 bước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1"/>
                </a:solidFill>
                <a:latin typeface="Aptos"/>
              </a:defRPr>
            </a:pPr>
            <a:r>
              <a:t>1. Bài toán kinh doanh: Vì sao cần vượt qua voucher đại trà?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LÃNG PHÍ NGÂN SÁCH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sz="1400" dirty="0"/>
              <a:t>Voucher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thể</a:t>
            </a:r>
            <a:r>
              <a:rPr sz="1400" dirty="0"/>
              <a:t> </a:t>
            </a:r>
            <a:r>
              <a:rPr sz="1400" dirty="0" err="1"/>
              <a:t>trả</a:t>
            </a:r>
            <a:r>
              <a:rPr sz="1400" dirty="0"/>
              <a:t> </a:t>
            </a:r>
            <a:r>
              <a:rPr sz="1400" dirty="0" err="1"/>
              <a:t>cho</a:t>
            </a:r>
            <a:r>
              <a:rPr sz="1400" dirty="0"/>
              <a:t> </a:t>
            </a:r>
            <a:r>
              <a:rPr sz="1400" dirty="0" err="1"/>
              <a:t>nhu</a:t>
            </a:r>
            <a:r>
              <a:rPr sz="1400" dirty="0"/>
              <a:t> </a:t>
            </a:r>
            <a:r>
              <a:rPr sz="1400" dirty="0" err="1"/>
              <a:t>cầu</a:t>
            </a:r>
            <a:r>
              <a:rPr sz="1400" dirty="0"/>
              <a:t> </a:t>
            </a:r>
            <a:r>
              <a:rPr sz="1400" dirty="0" err="1"/>
              <a:t>vốn</a:t>
            </a:r>
            <a:r>
              <a:rPr sz="1400" dirty="0"/>
              <a:t> </a:t>
            </a:r>
            <a:r>
              <a:rPr sz="1400" dirty="0" err="1"/>
              <a:t>đã</a:t>
            </a:r>
            <a:r>
              <a:rPr sz="1400" dirty="0"/>
              <a:t> </a:t>
            </a:r>
            <a:r>
              <a:rPr sz="1400" dirty="0" err="1"/>
              <a:t>tồn</a:t>
            </a:r>
            <a:r>
              <a:rPr sz="1400" dirty="0"/>
              <a:t> </a:t>
            </a:r>
            <a:r>
              <a:rPr sz="1400" dirty="0" err="1"/>
              <a:t>tại</a:t>
            </a:r>
            <a:endParaRPr lang="vi-VN" sz="1400" dirty="0"/>
          </a:p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lang="vi-VN" sz="1400" i="1" dirty="0">
                <a:solidFill>
                  <a:srgbClr val="FF0000"/>
                </a:solidFill>
              </a:rPr>
              <a:t>Phát mã cho những người vốn đã đi thường xuyên gây lãng phí.</a:t>
            </a:r>
            <a:endParaRPr sz="1400" i="1" dirty="0">
              <a:solidFill>
                <a:srgbClr val="FF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HIỆU ỨNG TRUNG BÌNH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4951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sz="1400" dirty="0"/>
              <a:t>ATE </a:t>
            </a:r>
            <a:r>
              <a:rPr sz="1400" dirty="0" err="1"/>
              <a:t>chưa</a:t>
            </a:r>
            <a:r>
              <a:rPr sz="1400" dirty="0"/>
              <a:t> </a:t>
            </a:r>
            <a:r>
              <a:rPr sz="1400" dirty="0" err="1"/>
              <a:t>cho</a:t>
            </a:r>
            <a:r>
              <a:rPr sz="1400" dirty="0"/>
              <a:t> </a:t>
            </a:r>
            <a:r>
              <a:rPr sz="1400" dirty="0" err="1"/>
              <a:t>biết</a:t>
            </a:r>
            <a:r>
              <a:rPr sz="1400" dirty="0"/>
              <a:t>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hàng</a:t>
            </a:r>
            <a:r>
              <a:rPr sz="1400" dirty="0"/>
              <a:t> </a:t>
            </a:r>
            <a:r>
              <a:rPr sz="1400" dirty="0" err="1"/>
              <a:t>nào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sự</a:t>
            </a:r>
            <a:r>
              <a:rPr sz="1400" dirty="0"/>
              <a:t> </a:t>
            </a:r>
            <a:r>
              <a:rPr sz="1400" dirty="0" err="1"/>
              <a:t>phản</a:t>
            </a:r>
            <a:r>
              <a:rPr sz="1400" dirty="0"/>
              <a:t> </a:t>
            </a:r>
            <a:r>
              <a:rPr sz="1400" dirty="0" err="1"/>
              <a:t>ứng</a:t>
            </a:r>
            <a:endParaRPr lang="vi-VN" sz="1400" dirty="0"/>
          </a:p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lang="vi-VN" sz="1400" i="1" dirty="0">
                <a:solidFill>
                  <a:srgbClr val="FF0000"/>
                </a:solidFill>
              </a:rPr>
              <a:t>ATE báo tăng 0.95 chuyến nhưng không biết ai tăng nhiều tăng ít.</a:t>
            </a:r>
            <a:endParaRPr sz="1400" i="1" dirty="0">
              <a:solidFill>
                <a:srgbClr val="FF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ED2"/>
                </a:solidFill>
                <a:latin typeface="Aptos"/>
              </a:defRPr>
            </a:pPr>
            <a:r>
              <a:t>KHÔNG ĐỒNG NGHĨA LỢI NHUẬN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8308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sz="1400" dirty="0"/>
              <a:t>Response </a:t>
            </a:r>
            <a:r>
              <a:rPr sz="1400" dirty="0" err="1"/>
              <a:t>tăng</a:t>
            </a:r>
            <a:r>
              <a:rPr sz="1400" dirty="0"/>
              <a:t> </a:t>
            </a:r>
            <a:r>
              <a:rPr sz="1400" dirty="0" err="1"/>
              <a:t>nhưng</a:t>
            </a:r>
            <a:r>
              <a:rPr sz="1400" dirty="0"/>
              <a:t> margin </a:t>
            </a:r>
            <a:r>
              <a:rPr sz="1400" dirty="0" err="1"/>
              <a:t>chưa</a:t>
            </a:r>
            <a:r>
              <a:rPr sz="1400" dirty="0"/>
              <a:t> </a:t>
            </a:r>
            <a:r>
              <a:rPr sz="1400" dirty="0" err="1"/>
              <a:t>chắc</a:t>
            </a:r>
            <a:r>
              <a:rPr sz="1400" dirty="0"/>
              <a:t> </a:t>
            </a:r>
            <a:r>
              <a:rPr sz="1400" dirty="0" err="1"/>
              <a:t>bù</a:t>
            </a:r>
            <a:r>
              <a:rPr sz="1400" dirty="0"/>
              <a:t> burn</a:t>
            </a:r>
            <a:endParaRPr lang="vi-VN" sz="1400" dirty="0"/>
          </a:p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lang="vi-VN" sz="1400" i="1" dirty="0">
                <a:solidFill>
                  <a:srgbClr val="FF0000"/>
                </a:solidFill>
              </a:rPr>
              <a:t>Phát đại trà lỗ nặng, ROI tổng thể =</a:t>
            </a:r>
          </a:p>
          <a:p>
            <a:pPr>
              <a:defRPr sz="1200" b="0">
                <a:solidFill>
                  <a:srgbClr val="192D41"/>
                </a:solidFill>
                <a:latin typeface="Aptos"/>
              </a:defRPr>
            </a:pPr>
            <a:r>
              <a:rPr lang="vi-VN" sz="1400" i="1" dirty="0">
                <a:solidFill>
                  <a:srgbClr val="FF0000"/>
                </a:solidFill>
              </a:rPr>
              <a:t>-40.7%</a:t>
            </a:r>
            <a:endParaRPr sz="1400" i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2D41"/>
                </a:solidFill>
                <a:latin typeface="Aptos"/>
              </a:defRPr>
            </a:pPr>
            <a:r>
              <a:t>Framework cần trả lời:</a:t>
            </a:r>
            <a:br/>
            <a:r>
              <a:t>1. Có nên phát voucher?</a:t>
            </a:r>
            <a:br/>
            <a:r>
              <a:t>2. Nên phát cho ai?</a:t>
            </a:r>
            <a:br/>
            <a:r>
              <a:t>3. Giá trị tăng thêm có đủ bù chi phí?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A2C3E"/>
                </a:solidFill>
                <a:latin typeface="Aptos"/>
              </a:defRPr>
            </a:pPr>
            <a:r>
              <a:t>2. Bức tranh Decision Intelligence trong khuyến mãi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8697D"/>
                </a:solidFill>
                <a:latin typeface="Aptos"/>
              </a:defRPr>
            </a:pPr>
            <a:r>
              <a:t>Economic Policy là lớp chuyển đổi uplift signal thành quyết định kinh doanh.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828800"/>
            <a:ext cx="20299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828800"/>
            <a:ext cx="64008" cy="1417320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938528"/>
            <a:ext cx="1773936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01 MASS VOUCHER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240280"/>
            <a:ext cx="1773936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8697D"/>
                </a:solidFill>
                <a:latin typeface="Aptos"/>
              </a:defRPr>
            </a:pPr>
            <a:r>
              <a:t>Phát đại trà</a:t>
            </a:r>
            <a:br/>
            <a:r>
              <a:t>không phân biệt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331720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00B4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1" y="1828800"/>
            <a:ext cx="20299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9191" y="1828800"/>
            <a:ext cx="64008" cy="1417320"/>
          </a:xfrm>
          <a:prstGeom prst="rect">
            <a:avLst/>
          </a:prstGeom>
          <a:solidFill>
            <a:srgbClr val="00966E"/>
          </a:solidFill>
          <a:ln>
            <a:solidFill>
              <a:srgbClr val="0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1938528"/>
            <a:ext cx="1773936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02 SEGMENT 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240280"/>
            <a:ext cx="1773936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8697D"/>
                </a:solidFill>
                <a:latin typeface="Aptos"/>
              </a:defRPr>
            </a:pPr>
            <a:r>
              <a:t>Khoanh vùng theo</a:t>
            </a:r>
            <a:br/>
            <a:r>
              <a:t>nhóm khách hàng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331720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00B4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828800"/>
            <a:ext cx="20299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1828800"/>
            <a:ext cx="64008" cy="1417320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938528"/>
            <a:ext cx="1773936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03 UPLIFT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240280"/>
            <a:ext cx="1773936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8697D"/>
                </a:solidFill>
                <a:latin typeface="Aptos"/>
              </a:defRPr>
            </a:pPr>
            <a:r>
              <a:t>Ai thực sự tăng thêm</a:t>
            </a:r>
            <a:br/>
            <a:r>
              <a:t>vì voucher?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331720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00B4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1828800"/>
            <a:ext cx="20299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42631" y="1828800"/>
            <a:ext cx="64008" cy="1417320"/>
          </a:xfrm>
          <a:prstGeom prst="rect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1938528"/>
            <a:ext cx="1773936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04 ECONOMIC POLICY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240280"/>
            <a:ext cx="1773936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8697D"/>
                </a:solidFill>
                <a:latin typeface="Aptos"/>
              </a:defRPr>
            </a:pPr>
            <a:r>
              <a:t>Incremental value</a:t>
            </a:r>
            <a:br/>
            <a:r>
              <a:t>− voucher cost</a:t>
            </a:r>
            <a:br/>
            <a:r>
              <a:t>= Expected Value /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331720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00B4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74352" y="1828800"/>
            <a:ext cx="20299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74352" y="1828800"/>
            <a:ext cx="64008" cy="1417320"/>
          </a:xfrm>
          <a:prstGeom prst="rect">
            <a:avLst/>
          </a:prstGeom>
          <a:solidFill>
            <a:srgbClr val="3278FF"/>
          </a:solidFill>
          <a:ln>
            <a:solidFill>
              <a:srgbClr val="32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1938528"/>
            <a:ext cx="1773936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05 DECISION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2240280"/>
            <a:ext cx="1773936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8697D"/>
                </a:solidFill>
                <a:latin typeface="Aptos"/>
              </a:defRPr>
            </a:pPr>
            <a:r>
              <a:t>Chọn policy theo</a:t>
            </a:r>
            <a:br/>
            <a:r>
              <a:t>ROI &amp; ngân sách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977639"/>
            <a:ext cx="10332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096512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1">
                <a:solidFill>
                  <a:srgbClr val="00B4CD"/>
                </a:solidFill>
                <a:latin typeface="Aptos"/>
              </a:defRPr>
            </a:pPr>
            <a:r>
              <a:t>Đóng góp chính của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89120"/>
            <a:ext cx="9692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50" b="1">
                <a:solidFill>
                  <a:srgbClr val="1A2C3E"/>
                </a:solidFill>
                <a:latin typeface="Aptos"/>
              </a:defRPr>
            </a:pPr>
            <a:r>
              <a:t>Không dừng ở “ai phản ứng với voucher”, mà đánh giá liệu phản ứng đó có tạo giá trị kinh tế và nên được ưu tiên trong ngân sách hay không.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A2C3E"/>
                </a:solidFill>
                <a:latin typeface="Aptos"/>
              </a:defRPr>
            </a:pPr>
            <a:r>
              <a:t>3. Lộ trình 6 tuần: từ dữ liệu đến 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8697D"/>
                </a:solidFill>
                <a:latin typeface="Aptos"/>
              </a:defRPr>
            </a:pPr>
            <a:r>
              <a:t>Mỗi tuần tạo một lớp đầu ra trong framework, không chỉ là một notebook riêng lẻ.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1143000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52704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1 — Data Foundation &amp;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82880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Data quality</a:t>
            </a:r>
            <a:br/>
            <a:r>
              <a:t>Behavior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1143000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2704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2 — Synthetic Causal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2880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Y0 / Y1</a:t>
            </a:r>
            <a:br/>
            <a:r>
              <a:t>Ground truth effect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64008" cy="1143000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52704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3 —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82880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5 behavioral personas</a:t>
            </a:r>
            <a:br/>
            <a:r>
              <a:t>Business interpretation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63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063240"/>
            <a:ext cx="64008" cy="1143000"/>
          </a:xfrm>
          <a:prstGeom prst="rect">
            <a:avLst/>
          </a:prstGeom>
          <a:solidFill>
            <a:srgbClr val="00966E"/>
          </a:solidFill>
          <a:ln>
            <a:solidFill>
              <a:srgbClr val="0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317296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4 — Experimentation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47472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A/A • SRM/SMD</a:t>
            </a:r>
            <a:br/>
            <a:r>
              <a:t>A/B • Adjusted 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63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063240"/>
            <a:ext cx="64008" cy="1143000"/>
          </a:xfrm>
          <a:prstGeom prst="rect">
            <a:avLst/>
          </a:prstGeom>
          <a:solidFill>
            <a:srgbClr val="00966E"/>
          </a:solidFill>
          <a:ln>
            <a:solidFill>
              <a:srgbClr val="0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317296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5 — Uplift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47472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CATE • Qini</a:t>
            </a:r>
            <a:br/>
            <a:r>
              <a:t>Calibration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063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3063240"/>
            <a:ext cx="64008" cy="1143000"/>
          </a:xfrm>
          <a:prstGeom prst="rect">
            <a:avLst/>
          </a:prstGeom>
          <a:solidFill>
            <a:srgbClr val="00966E"/>
          </a:solidFill>
          <a:ln>
            <a:solidFill>
              <a:srgbClr val="0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172968"/>
            <a:ext cx="2990087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1">
                <a:solidFill>
                  <a:srgbClr val="1A2C3E"/>
                </a:solidFill>
                <a:latin typeface="Aptos"/>
              </a:defRPr>
            </a:pPr>
            <a:r>
              <a:t>Week 6 — Economic Policy &amp; Robustness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3474720"/>
            <a:ext cx="2990087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30" b="0">
                <a:solidFill>
                  <a:srgbClr val="58697D"/>
                </a:solidFill>
                <a:latin typeface="Aptos"/>
              </a:defRPr>
            </a:pPr>
            <a:r>
              <a:t>Expected Value</a:t>
            </a:r>
            <a:br/>
            <a:r>
              <a:t>Policy simulator • Stress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50" b="1">
                <a:solidFill>
                  <a:srgbClr val="1A2C3E"/>
                </a:solidFill>
                <a:latin typeface="Aptos"/>
              </a:defRPr>
            </a:pPr>
            <a:r>
              <a:t>Kết quả cuối: deployed dashboard prototype cho decision-support — từ causal measurement → uplift → economic policy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EE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81A36"/>
                </a:solidFill>
              </a:rPr>
              <a:t>4. Nền tảng dự án: Dữ liệu và EDA định hình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108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67788"/>
                </a:solidFill>
              </a:rPr>
              <a:t>Public mobility data calibrate pattern; counterfactual đến từ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080000" cy="54000"/>
          </a:xfrm>
          <a:prstGeom prst="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2700000" cy="251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EAA00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08000"/>
            <a:ext cx="1080000" cy="43200"/>
          </a:xfrm>
          <a:prstGeom prst="rect">
            <a:avLst/>
          </a:prstGeom>
          <a:solidFill>
            <a:srgbClr val="EE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205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81A36"/>
                </a:solidFill>
              </a:rPr>
              <a:t>Public mobility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41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EAA00"/>
                </a:solidFill>
              </a:rPr>
              <a:t>3,72 triệu trips • 20 biến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772000"/>
            <a:ext cx="27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NYC Yellow Taxi + ride-
sharing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1620000"/>
            <a:ext cx="2700000" cy="251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EAA00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0000" y="1908000"/>
            <a:ext cx="1080000" cy="43200"/>
          </a:xfrm>
          <a:prstGeom prst="rect">
            <a:avLst/>
          </a:prstGeom>
          <a:solidFill>
            <a:srgbClr val="EE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0000" y="205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81A36"/>
                </a:solidFill>
              </a:rP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241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E4477"/>
                </a:solidFill>
              </a:rPr>
              <a:t>29.2%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2772000"/>
            <a:ext cx="27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Structural missing + outlier
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620000"/>
            <a:ext cx="2700000" cy="251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9AA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1908000"/>
            <a:ext cx="1080000" cy="43200"/>
          </a:xfrm>
          <a:prstGeom prst="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0000" y="205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81A36"/>
                </a:solidFill>
              </a:rPr>
              <a:t>EDA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241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099AA"/>
                </a:solidFill>
              </a:rPr>
              <a:t>Fare • distance •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772000"/>
            <a:ext cx="27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Rider behavior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0" y="1620000"/>
            <a:ext cx="2700000" cy="251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9AA"/>
                </a:solidFill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0000" y="1908000"/>
            <a:ext cx="1080000" cy="43200"/>
          </a:xfrm>
          <a:prstGeom prst="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0000" y="205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81A36"/>
                </a:solidFill>
              </a:rPr>
              <a:t>Simulation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000" y="2412000"/>
            <a:ext cx="27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29955"/>
                </a:solidFill>
              </a:rPr>
              <a:t>20.000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2772000"/>
            <a:ext cx="27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30-day synthetic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3420000"/>
            <a:ext cx="900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9AA"/>
                </a:solidFill>
              </a:rPr>
              <a:t>Các pattern quan sát được chuyển thành feature 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3780000"/>
            <a:ext cx="4626720" cy="432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166720" y="3780000"/>
            <a:ext cx="2905740" cy="432000"/>
          </a:xfrm>
          <a:prstGeom prst="rect">
            <a:avLst/>
          </a:prstGeom>
          <a:solidFill>
            <a:srgbClr val="33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72460" y="3780000"/>
            <a:ext cx="1447200" cy="4320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19660" y="3780000"/>
            <a:ext cx="1431540" cy="432000"/>
          </a:xfrm>
          <a:prstGeom prst="rect">
            <a:avLst/>
          </a:prstGeom>
          <a:solidFill>
            <a:srgbClr val="DD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51200" y="3780000"/>
            <a:ext cx="388799" cy="432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0000" y="4428000"/>
            <a:ext cx="144000" cy="144000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000" y="435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81A36"/>
                </a:solidFill>
              </a:rPr>
              <a:t>Urban Regulars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7788"/>
                </a:solidFill>
              </a:rPr>
              <a:t>8,568 users</a:t>
            </a:r>
          </a:p>
        </p:txBody>
      </p:sp>
      <p:sp>
        <p:nvSpPr>
          <p:cNvPr id="34" name="Oval 33"/>
          <p:cNvSpPr/>
          <p:nvPr/>
        </p:nvSpPr>
        <p:spPr>
          <a:xfrm>
            <a:off x="3060000" y="4428000"/>
            <a:ext cx="144000" cy="144000"/>
          </a:xfrm>
          <a:prstGeom prst="ellipse">
            <a:avLst/>
          </a:prstGeom>
          <a:solidFill>
            <a:srgbClr val="33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76000" y="435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81A36"/>
                </a:solidFill>
              </a:rPr>
              <a:t>Suburban Cash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7788"/>
                </a:solidFill>
              </a:rPr>
              <a:t>5,381 users</a:t>
            </a:r>
          </a:p>
        </p:txBody>
      </p:sp>
      <p:sp>
        <p:nvSpPr>
          <p:cNvPr id="36" name="Oval 35"/>
          <p:cNvSpPr/>
          <p:nvPr/>
        </p:nvSpPr>
        <p:spPr>
          <a:xfrm>
            <a:off x="5760000" y="4428000"/>
            <a:ext cx="144000" cy="144000"/>
          </a:xfrm>
          <a:prstGeom prst="ellipse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76000" y="435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81A36"/>
                </a:solidFill>
              </a:rPr>
              <a:t>Suburban Card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7788"/>
                </a:solidFill>
              </a:rPr>
              <a:t>2,680 users</a:t>
            </a:r>
          </a:p>
        </p:txBody>
      </p:sp>
      <p:sp>
        <p:nvSpPr>
          <p:cNvPr id="38" name="Oval 37"/>
          <p:cNvSpPr/>
          <p:nvPr/>
        </p:nvSpPr>
        <p:spPr>
          <a:xfrm>
            <a:off x="8100000" y="4428000"/>
            <a:ext cx="144000" cy="144000"/>
          </a:xfrm>
          <a:prstGeom prst="ellipse">
            <a:avLst/>
          </a:prstGeom>
          <a:solidFill>
            <a:srgbClr val="DD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16000" y="435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81A36"/>
                </a:solidFill>
              </a:rPr>
              <a:t>Rain Riders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7788"/>
                </a:solidFill>
              </a:rPr>
              <a:t>2,651 users</a:t>
            </a:r>
          </a:p>
        </p:txBody>
      </p:sp>
      <p:sp>
        <p:nvSpPr>
          <p:cNvPr id="40" name="Oval 39"/>
          <p:cNvSpPr/>
          <p:nvPr/>
        </p:nvSpPr>
        <p:spPr>
          <a:xfrm>
            <a:off x="10260000" y="4428000"/>
            <a:ext cx="144000" cy="1440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76000" y="435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81A36"/>
                </a:solidFill>
              </a:rPr>
              <a:t>Airport Business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7788"/>
                </a:solidFill>
              </a:rPr>
              <a:t>720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5040000"/>
            <a:ext cx="1008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667788"/>
                </a:solidFill>
              </a:rPr>
              <a:t>EDA không chứng minh causal effect; nó giúp thiết kế synthetic population có cấu trúc hợp lý.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8000"/>
            <a:ext cx="12192119" cy="180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0000" y="6408000"/>
            <a:ext cx="900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667788"/>
                </a:solidFill>
              </a:rPr>
              <a:t>GSM Promotion Experimentation • Executive Demo • Data Science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80000" y="6623999"/>
            <a:ext cx="180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04 / 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000" y="6623999"/>
            <a:ext cx="720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Uplift Modeling &amp; Profit-aware Targeting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A2C3E"/>
                </a:solidFill>
                <a:latin typeface="Aptos"/>
              </a:defRPr>
            </a:pPr>
            <a:r>
              <a:t>5. Từ mô hình đến 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8697D"/>
                </a:solidFill>
                <a:latin typeface="Aptos"/>
              </a:defRPr>
            </a:pPr>
            <a:r>
              <a:t>Demo không chỉ xem model; demo cho thấy cách model output được chuyển thành quyết định chính sách.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8862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576072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25880"/>
            <a:ext cx="363016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969" b="1">
                <a:solidFill>
                  <a:srgbClr val="1A2C3E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581912"/>
            <a:ext cx="3630168" cy="210311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850" b="0">
                <a:solidFill>
                  <a:srgbClr val="58697D"/>
                </a:solidFill>
                <a:latin typeface="Aptos"/>
              </a:defRPr>
            </a:pPr>
            <a:r>
              <a:t>Voucher có tạo incremental value?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801368"/>
            <a:ext cx="228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600" b="1">
                <a:solidFill>
                  <a:srgbClr val="00B4C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8862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64008" cy="576072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103120"/>
            <a:ext cx="363016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969" b="1">
                <a:solidFill>
                  <a:srgbClr val="1A2C3E"/>
                </a:solidFill>
                <a:latin typeface="Aptos"/>
              </a:defRPr>
            </a:pPr>
            <a:r>
              <a:t>Causal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359152"/>
            <a:ext cx="3630168" cy="210311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850" b="0">
                <a:solidFill>
                  <a:srgbClr val="58697D"/>
                </a:solidFill>
                <a:latin typeface="Aptos"/>
              </a:defRPr>
            </a:pPr>
            <a:r>
              <a:t>A/B testing • 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78608"/>
            <a:ext cx="228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600" b="1">
                <a:solidFill>
                  <a:srgbClr val="00B4C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88920"/>
            <a:ext cx="38862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788920"/>
            <a:ext cx="64008" cy="576072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880360"/>
            <a:ext cx="363016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969" b="1">
                <a:solidFill>
                  <a:srgbClr val="1A2C3E"/>
                </a:solidFill>
                <a:latin typeface="Aptos"/>
              </a:defRPr>
            </a:pPr>
            <a:r>
              <a:t>Customer-level Uplift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136391"/>
            <a:ext cx="3630168" cy="210311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850" b="0">
                <a:solidFill>
                  <a:srgbClr val="58697D"/>
                </a:solidFill>
                <a:latin typeface="Aptos"/>
              </a:defRPr>
            </a:pPr>
            <a:r>
              <a:t>CATE • Uplift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355848"/>
            <a:ext cx="228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600" b="1">
                <a:solidFill>
                  <a:srgbClr val="00B4C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66160"/>
            <a:ext cx="38862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66160"/>
            <a:ext cx="64008" cy="57607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657600"/>
            <a:ext cx="363016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969" b="1">
                <a:solidFill>
                  <a:srgbClr val="1A2C3E"/>
                </a:solidFill>
                <a:latin typeface="Aptos"/>
              </a:defRPr>
            </a:pPr>
            <a:r>
              <a:t>Economic Policy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913632"/>
            <a:ext cx="3630168" cy="210311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850" b="0">
                <a:solidFill>
                  <a:srgbClr val="58697D"/>
                </a:solidFill>
                <a:latin typeface="Aptos"/>
              </a:defRPr>
            </a:pPr>
            <a:r>
              <a:t>EV • ROI • Voucher burn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133087"/>
            <a:ext cx="22860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600" b="1">
                <a:solidFill>
                  <a:srgbClr val="00B4C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43400"/>
            <a:ext cx="38862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343400"/>
            <a:ext cx="64008" cy="576072"/>
          </a:xfrm>
          <a:prstGeom prst="rect">
            <a:avLst/>
          </a:prstGeom>
          <a:solidFill>
            <a:srgbClr val="00B4CD"/>
          </a:solidFill>
          <a:ln>
            <a:solidFill>
              <a:srgbClr val="0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4434840"/>
            <a:ext cx="363016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969" b="1">
                <a:solidFill>
                  <a:srgbClr val="1A2C3E"/>
                </a:solidFill>
                <a:latin typeface="Aptos"/>
              </a:defRPr>
            </a:pPr>
            <a:r>
              <a:t>Decision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690872"/>
            <a:ext cx="3630168" cy="210311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850" b="0">
                <a:solidFill>
                  <a:srgbClr val="58697D"/>
                </a:solidFill>
                <a:latin typeface="Aptos"/>
              </a:defRPr>
            </a:pPr>
            <a:r>
              <a:t>Policy choice • Budget • Robustness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1417320"/>
            <a:ext cx="64922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691640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Economic Policy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2057400"/>
            <a:ext cx="5852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A2C3E"/>
                </a:solidFill>
                <a:latin typeface="Aptos"/>
              </a:defRPr>
            </a:pPr>
            <a:r>
              <a:t>Vai trò: chuyển uplift signal thành quyết định kinh doanh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606040"/>
            <a:ext cx="8229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1">
                <a:solidFill>
                  <a:srgbClr val="00B4CD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606040"/>
            <a:ext cx="521208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8697D"/>
                </a:solidFill>
                <a:latin typeface="Aptos"/>
              </a:defRPr>
            </a:pPr>
            <a:r>
              <a:t>CATE • predicted treated rides • fare • margin • voucher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063240"/>
            <a:ext cx="9144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1">
                <a:solidFill>
                  <a:srgbClr val="00966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063240"/>
            <a:ext cx="502920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8697D"/>
                </a:solidFill>
                <a:latin typeface="Aptos"/>
              </a:defRPr>
            </a:pPr>
            <a:r>
              <a:t>Expected Value • ROI • policy comparison • budget 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566160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00" b="1">
                <a:solidFill>
                  <a:srgbClr val="1A2C3E"/>
                </a:solidFill>
                <a:latin typeface="Aptos"/>
              </a:defRPr>
            </a:pPr>
            <a:r>
              <a:t>Câu hỏi chính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3822191"/>
            <a:ext cx="585216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50" b="1">
                <a:solidFill>
                  <a:srgbClr val="1A2C3E"/>
                </a:solidFill>
                <a:latin typeface="Aptos"/>
              </a:defRPr>
            </a:pPr>
            <a:r>
              <a:t>“Khách hàng này có đáng được nhận voucher sau khi trừ promotion burn không?”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40680"/>
            <a:ext cx="109728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550" b="1">
                <a:solidFill>
                  <a:srgbClr val="1A2C3E"/>
                </a:solidFill>
                <a:latin typeface="Aptos"/>
              </a:defRPr>
            </a:pPr>
            <a:r>
              <a:t>Demo flow: Business → Causal Evidence → Uplift → Economic Policy → Decision → Robustness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571</Words>
  <Application>Microsoft Office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Bui Van Thai</cp:lastModifiedBy>
  <cp:revision>5</cp:revision>
  <dcterms:created xsi:type="dcterms:W3CDTF">2013-01-27T09:14:16Z</dcterms:created>
  <dcterms:modified xsi:type="dcterms:W3CDTF">2026-08-22T08:54:10Z</dcterms:modified>
  <cp:category/>
</cp:coreProperties>
</file>