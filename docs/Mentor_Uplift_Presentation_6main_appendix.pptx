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79" r:id="rId2"/>
    <p:sldId id="268" r:id="rId3"/>
    <p:sldId id="269" r:id="rId4"/>
    <p:sldId id="270" r:id="rId5"/>
    <p:sldId id="271" r:id="rId6"/>
    <p:sldId id="272" r:id="rId7"/>
    <p:sldId id="273" r:id="rId8"/>
    <p:sldId id="274" r:id="rId9"/>
    <p:sldId id="275" r:id="rId10"/>
    <p:sldId id="276" r:id="rId11"/>
    <p:sldId id="277" r:id="rId12"/>
    <p:sldId id="278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835F29-532A-4392-845F-1E332F7FE3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4F2D62-2C75-4BBC-9DE5-FEEF19C47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2569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/>
              <a:t>[Sources]
- README.md: project overview, synthetic sandbox scope, and data sources.
- docs/Dashboard_User_Guide.md: dashboard decision flow and current assumptions.
- docs/Decision_Memo.md: decision question and production-validation limits.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4F2D62-2C75-4BBC-9DE5-FEEF19C47B2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3268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/>
              <a:t>[Sources]
- README.md: project overview, data sources, synthetic sandbox scope.
- docs/Dashboard_User_Guide.md: dashboard decision flow and current assumptions.
- docs/Decision_Memo.md: decision question and pilot limits.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4F2D62-2C75-4BBC-9DE5-FEEF19C47B2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3268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/>
              <a:t>[Sources]
- docs/reports/Week1_Data_Quality_Report.md: 3,724,889 trip records.
- docs/specifications/TECHNICAL_DOCUMENTATION_W4.md: data-to-simulation technical flow.
- README.md: hybrid data sources and synthetic scope.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4F2D62-2C75-4BBC-9DE5-FEEF19C47B2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8361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docs/reports/Week2_Synthetic_Data_Comprehensive_Report.md: rationale for synthetic causal data and potential outcomes.
- docs/specifications/TECHNICAL_DOCUMENTATION_W4.md: SCM/DGP design and Y0/Y1 ground truth.
- README.md: warning that results are synthetic, not GSM production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4F2D62-2C75-4BBC-9DE5-FEEF19C47B2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9923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/>
              <a:t>[Sources]
- src/pipeline/main_pipeline.py: implementation comments for Y0, CATE/ITE, Y1 generation.
- docs/reports/Week2_Synthetic_Data_Comprehensive_Report.md: SCM generation logic.
- docs/specifications/TECHNICAL_DOCUMENTATION_W4.md: Covariates -&gt; Y0 -&gt; CATE -&gt; Y1 flow.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4F2D62-2C75-4BBC-9DE5-FEEF19C47B2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2612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/>
              <a:t>[Sources]
- docs/reports/Week3_Comprehensive_Report.md: segmentation as business interpretation layer.
- docs/Dashboard_User_Guide.md: dashboard tabs and decision flow.
- docs/Decision_Memo.md: profit-based targeting recommendation and pilot constraints.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4F2D62-2C75-4BBC-9DE5-FEEF19C47B2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8361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docs/Decision_Memo.md: recommendation, limitations, and next real experiment.
- docs/Dashboard_User_Guide.md: guardrails and non-claims.
- README.md: final positioning of pipeline prototype.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4F2D62-2C75-4BBC-9DE5-FEEF19C47B2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807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data/processed/experiment_health.json: A/A Monte Carlo artifact.
- docs/reports/Week4_AA_AB_Testing_Report.md: A/A FPR, SRM, balance interpretation.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4F2D62-2C75-4BBC-9DE5-FEEF19C47B2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807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/>
              <a:t>[Sources]
- docs/reports/Week4_AA_AB_Testing_Report.md: adjusted ATE and segment economics.
- docs/Decision_Memo.md: A/B persona table and sandbox limitations.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4F2D62-2C75-4BBC-9DE5-FEEF19C47B2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6106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/>
              <a:t>[Sources]
- docs/reports/Week5_Uplift_Modeling_Report.md: model comparison and Qini coefficients.
- data/processed/model_snapshot_manifest.json: frozen champion snapshot.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4F2D62-2C75-4BBC-9DE5-FEEF19C47B2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1655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docs/reports/Week5_Uplift_Modeling_Report.md: EV formula and policy comparison.
- docs/Decision_Memo.md: assumptions, predicted profit, and budget condition.
- data/processed/model_snapshot_manifest.json: economic assumptions and target 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4F2D62-2C75-4BBC-9DE5-FEEF19C47B2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9923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data/processed/week6_stress_test_metrics.json: Week 6 stress test metrics.
- docs/reports/Week6_Stress_Test_Report.md: stress-test interpretation.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4F2D62-2C75-4BBC-9DE5-FEEF19C47B2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9923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8231D-F302-EF6E-A01F-1B1E65455A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8B38F0-B078-845D-EA6D-0769047F4E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ABE6E8-EC2E-485F-738E-13DBF5C0E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27A67-AC03-49C2-93DA-F8F70DBCEF90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A7B238-C522-0734-B410-85616C066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BAE6E5-C51E-9EB2-1AAD-0705EB772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C8D4E-3EF4-4178-AE38-562007EAA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724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6EDCC-611D-CA9C-B67C-027728BF5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B6943-9F7C-011C-FCF4-1739AB838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DE1892-5F74-CB7D-3773-12981E670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27A67-AC03-49C2-93DA-F8F70DBCEF90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64F504-1F59-2567-8B5E-685517BB3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B6CCC0-BE08-4AC1-111E-13E0563C2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C8D4E-3EF4-4178-AE38-562007EAA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256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07171-1F84-A0C5-F1AE-071AAFCE6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7792BF-7FB1-911A-6A7E-0BB0A0CB8D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B5F337-2BBF-792E-A7B8-5BBDE9A58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27A67-AC03-49C2-93DA-F8F70DBCEF90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4F1740-985E-DB31-ABDA-1A2BC094E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9E3DC-4B91-F8C3-FD34-A03097999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C8D4E-3EF4-4178-AE38-562007EAA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643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FFDA7-8053-A29C-9F62-AC873D05C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15E7F-3DC6-E338-B30A-8AFB7764C6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366143-20BC-46E0-B7A6-B98B1C0DEC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74A77C-F401-0D34-D73C-066E35135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27A67-AC03-49C2-93DA-F8F70DBCEF90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BA7F73-0815-5661-5415-0A944791D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EEDA81-0C6B-5E30-5845-F518E89E7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C8D4E-3EF4-4178-AE38-562007EAA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720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336EF-7A94-EFAF-8A8B-7D8C1DC60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DB2C48-466E-0A51-1FB3-7D707228A4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D85A9A-9E3F-67E4-E5F2-2B2B25441E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51B1D4-0C9C-E7F1-32AF-003E6EDFD9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716AB1-FE54-D959-3427-8B325973DC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E62494-C882-D2D0-23C4-3651BF921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27A67-AC03-49C2-93DA-F8F70DBCEF90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10BC03-46D4-8E31-6BC3-198C7AF2F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A4213D-D5CE-C2AE-57C7-EB5014980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C8D4E-3EF4-4178-AE38-562007EAA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954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0A421-8680-5693-F763-1848E38C2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D0C3A7-3449-0D65-54F4-2CCE20FED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27A67-AC03-49C2-93DA-F8F70DBCEF90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18433D-162B-4159-0C4A-05FD5F743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F0D208-9A1E-5EF7-BB03-A8F79A02F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C8D4E-3EF4-4178-AE38-562007EAA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737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C0786B-09EF-DBD5-98CE-83E84B0F2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27A67-AC03-49C2-93DA-F8F70DBCEF90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DB2B0C-096D-2FD3-0991-1A70C719B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916F9E-8D77-B707-0CC2-3F5F7FE14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C8D4E-3EF4-4178-AE38-562007EAA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54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93873-75DC-78FF-848E-E62A9ACEC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D5DCBE-EBA8-97DE-FB9A-E6A783CCBD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39137F-5F74-8332-4280-D23700B0D2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A9BEA4-06A3-7D22-7DF9-568A32425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27A67-AC03-49C2-93DA-F8F70DBCEF90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9C286F-28AB-055F-64E7-BAD69C32E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A5A8E7-6DD0-1665-48A6-17ACEA32C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C8D4E-3EF4-4178-AE38-562007EAA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77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E37C5-8C8D-5CF1-BD55-8D7B00086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00673A-484D-9414-86B4-FDC36D014A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6D5209-F97A-E805-3D79-956AA63E93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DF2340-7A99-1342-5862-FABA46731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27A67-AC03-49C2-93DA-F8F70DBCEF90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B7C5F4-8B79-0D3F-2522-0DCA967B4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6163FF-5884-A959-A3AB-01CED411D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C8D4E-3EF4-4178-AE38-562007EAA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088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6E76F-9DCD-5D2A-1834-BAFD48D43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E93FE5-F79A-E0DB-A0EF-0AA1B5248F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0BB1B9-29FA-939A-EB8D-AC33A4BB4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27A67-AC03-49C2-93DA-F8F70DBCEF90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3FC37D-2885-44EC-3CAF-FE68A21F9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A4CAD9-2434-7A56-C89D-2D622442E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C8D4E-3EF4-4178-AE38-562007EAA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8736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3F70E30-366A-B684-6A0E-5AD3CA12CB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B6657F-AA33-2034-0A51-DB91125949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76E21E-8A19-ED65-2BE8-33B66A07F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27A67-AC03-49C2-93DA-F8F70DBCEF90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DE8A3A-D81B-BB79-34FC-69EB4DBE2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A119DC-02D5-D371-0227-E702FBA6F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C8D4E-3EF4-4178-AE38-562007EAA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123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DEC999-2C2A-C50B-A7F0-DEFC5851B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3853F4-3D0A-B14F-2D6C-7B06C5D2D4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8A209A-9A47-F7A4-5FAC-819D3AF399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627A67-AC03-49C2-93DA-F8F70DBCEF90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9A26D0-0565-1FFF-D90A-43B5290893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96B8BF-A4F2-AAA7-9028-8F95B785E4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BC8D4E-3EF4-4178-AE38-562007EAA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946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A69E1199-15CC-59AB-6130-B207C936601A}"/>
              </a:ext>
            </a:extLst>
          </p:cNvPr>
          <p:cNvSpPr/>
          <p:nvPr/>
        </p:nvSpPr>
        <p:spPr>
          <a:xfrm>
            <a:off x="365760" y="0"/>
            <a:ext cx="137160" cy="6858000"/>
          </a:xfrm>
          <a:prstGeom prst="rect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SlideTitle">
            <a:extLst>
              <a:ext uri="{FF2B5EF4-FFF2-40B4-BE49-F238E27FC236}">
                <a16:creationId xmlns:a16="http://schemas.microsoft.com/office/drawing/2014/main" id="{0F12316C-A665-11B5-E9C7-214DB8CF3BF1}"/>
              </a:ext>
            </a:extLst>
          </p:cNvPr>
          <p:cNvSpPr txBox="1"/>
          <p:nvPr/>
        </p:nvSpPr>
        <p:spPr>
          <a:xfrm>
            <a:off x="736600" y="228600"/>
            <a:ext cx="81534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800" b="1">
                <a:solidFill>
                  <a:srgbClr val="F7F8FA"/>
                </a:solidFill>
                <a:latin typeface="Arial" panose="020B0604020202020204" pitchFamily="34" charset="0"/>
              </a:rPr>
              <a:t>Promotion Experimentation Sandbox</a:t>
            </a:r>
          </a:p>
        </p:txBody>
      </p:sp>
      <p:sp>
        <p:nvSpPr>
          <p:cNvPr id="21" name="SlideSubtitle">
            <a:extLst>
              <a:ext uri="{FF2B5EF4-FFF2-40B4-BE49-F238E27FC236}">
                <a16:creationId xmlns:a16="http://schemas.microsoft.com/office/drawing/2014/main" id="{0EF6A639-0299-D540-B396-07AFF66C135D}"/>
              </a:ext>
            </a:extLst>
          </p:cNvPr>
          <p:cNvSpPr txBox="1"/>
          <p:nvPr/>
        </p:nvSpPr>
        <p:spPr>
          <a:xfrm>
            <a:off x="736600" y="762000"/>
            <a:ext cx="8001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700">
                <a:solidFill>
                  <a:srgbClr val="F7F8FA"/>
                </a:solidFill>
                <a:latin typeface="Arial" panose="020B0604020202020204" pitchFamily="34" charset="0"/>
              </a:rPr>
              <a:t>Từ dữ liệu mobility công khai đến quyết định phát voucher có kiểm soát burn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284DB16-6C74-CE33-CCAD-B54025142D8E}"/>
              </a:ext>
            </a:extLst>
          </p:cNvPr>
          <p:cNvSpPr/>
          <p:nvPr/>
        </p:nvSpPr>
        <p:spPr>
          <a:xfrm>
            <a:off x="736600" y="1193800"/>
            <a:ext cx="2286000" cy="38100"/>
          </a:xfrm>
          <a:prstGeom prst="rect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7F3012C-AFB1-E0F0-9623-7BAD3152195E}"/>
              </a:ext>
            </a:extLst>
          </p:cNvPr>
          <p:cNvSpPr/>
          <p:nvPr/>
        </p:nvSpPr>
        <p:spPr>
          <a:xfrm>
            <a:off x="365760" y="6217920"/>
            <a:ext cx="8778240" cy="365760"/>
          </a:xfrm>
          <a:prstGeom prst="rect">
            <a:avLst/>
          </a:prstGeom>
          <a:solidFill>
            <a:srgbClr val="2459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5DC1F0C-99DA-0754-338C-917DC27A2959}"/>
              </a:ext>
            </a:extLst>
          </p:cNvPr>
          <p:cNvSpPr txBox="1"/>
          <p:nvPr/>
        </p:nvSpPr>
        <p:spPr>
          <a:xfrm>
            <a:off x="546100" y="6299200"/>
            <a:ext cx="4953000" cy="215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850">
                <a:solidFill>
                  <a:srgbClr val="F7F8FA"/>
                </a:solidFill>
                <a:latin typeface="Arial" panose="020B0604020202020204" pitchFamily="34" charset="0"/>
              </a:rPr>
              <a:t>GSM Promotion Experimentation • Mentor Rehearsal • Data Science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3AB464F-2EE3-0160-327A-E93862208271}"/>
              </a:ext>
            </a:extLst>
          </p:cNvPr>
          <p:cNvSpPr/>
          <p:nvPr/>
        </p:nvSpPr>
        <p:spPr>
          <a:xfrm>
            <a:off x="365760" y="6583680"/>
            <a:ext cx="8778240" cy="274320"/>
          </a:xfrm>
          <a:prstGeom prst="rect">
            <a:avLst/>
          </a:prstGeom>
          <a:solidFill>
            <a:srgbClr val="0A142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548132D-AB24-D196-E8B9-58FEC409ACF0}"/>
              </a:ext>
            </a:extLst>
          </p:cNvPr>
          <p:cNvSpPr txBox="1"/>
          <p:nvPr/>
        </p:nvSpPr>
        <p:spPr>
          <a:xfrm>
            <a:off x="546100" y="6604000"/>
            <a:ext cx="3302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800">
                <a:solidFill>
                  <a:srgbClr val="F7F8FA"/>
                </a:solidFill>
                <a:latin typeface="Arial" panose="020B0604020202020204" pitchFamily="34" charset="0"/>
              </a:rPr>
              <a:t>Uplift Modeling &amp; Profit-aware Targeting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B03B735-4B70-786B-662B-31A59064DC21}"/>
              </a:ext>
            </a:extLst>
          </p:cNvPr>
          <p:cNvSpPr txBox="1"/>
          <p:nvPr/>
        </p:nvSpPr>
        <p:spPr>
          <a:xfrm>
            <a:off x="8318500" y="6604000"/>
            <a:ext cx="6731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850" b="1">
                <a:solidFill>
                  <a:srgbClr val="F7F8FA"/>
                </a:solidFill>
                <a:latin typeface="Arial" panose="020B0604020202020204" pitchFamily="34" charset="0"/>
              </a:rPr>
              <a:t>Intro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D6D2A883-B228-0413-8BDC-77B4C62121A6}"/>
              </a:ext>
            </a:extLst>
          </p:cNvPr>
          <p:cNvSpPr/>
          <p:nvPr/>
        </p:nvSpPr>
        <p:spPr>
          <a:xfrm>
            <a:off x="914400" y="2133600"/>
            <a:ext cx="7315200" cy="1219200"/>
          </a:xfrm>
          <a:prstGeom prst="roundRect">
            <a:avLst/>
          </a:prstGeom>
          <a:solidFill>
            <a:srgbClr val="1727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B41D8B7-36A6-E404-1CC7-40D090FC97E0}"/>
              </a:ext>
            </a:extLst>
          </p:cNvPr>
          <p:cNvSpPr txBox="1"/>
          <p:nvPr/>
        </p:nvSpPr>
        <p:spPr>
          <a:xfrm>
            <a:off x="1168400" y="2336800"/>
            <a:ext cx="2159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00" b="1">
                <a:solidFill>
                  <a:srgbClr val="FFC000"/>
                </a:solidFill>
                <a:latin typeface="Arial" panose="020B0604020202020204" pitchFamily="34" charset="0"/>
              </a:rPr>
              <a:t>Bài toán cần xử lý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E2A6C89-379F-837A-A2F4-22133D3B4F3C}"/>
              </a:ext>
            </a:extLst>
          </p:cNvPr>
          <p:cNvSpPr txBox="1"/>
          <p:nvPr/>
        </p:nvSpPr>
        <p:spPr>
          <a:xfrm>
            <a:off x="1168400" y="2679700"/>
            <a:ext cx="66040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b="1">
                <a:solidFill>
                  <a:srgbClr val="F7F8FA"/>
                </a:solidFill>
                <a:latin typeface="Arial" panose="020B0604020202020204" pitchFamily="34" charset="0"/>
              </a:rPr>
              <a:t>Voucher có thật sự tạo thêm chuyến, tạo thêm cho ai, và phần tăng thêm đó có đủ bù promotion burn không?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5371177-1C2A-837A-33D8-88762C3107FB}"/>
              </a:ext>
            </a:extLst>
          </p:cNvPr>
          <p:cNvSpPr/>
          <p:nvPr/>
        </p:nvSpPr>
        <p:spPr>
          <a:xfrm>
            <a:off x="1168400" y="3962400"/>
            <a:ext cx="1651000" cy="38100"/>
          </a:xfrm>
          <a:prstGeom prst="rect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ntroPillarTitle1">
            <a:extLst>
              <a:ext uri="{FF2B5EF4-FFF2-40B4-BE49-F238E27FC236}">
                <a16:creationId xmlns:a16="http://schemas.microsoft.com/office/drawing/2014/main" id="{512ACA8E-12AD-5AD1-F864-3BF0C7F60427}"/>
              </a:ext>
            </a:extLst>
          </p:cNvPr>
          <p:cNvSpPr txBox="1"/>
          <p:nvPr/>
        </p:nvSpPr>
        <p:spPr>
          <a:xfrm>
            <a:off x="1168400" y="4191000"/>
            <a:ext cx="1778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FFC000"/>
                </a:solidFill>
                <a:latin typeface="Aptos" panose="020B0004020202020204" pitchFamily="34" charset="0"/>
              </a:rPr>
              <a:t>Đo causal uplift</a:t>
            </a:r>
          </a:p>
        </p:txBody>
      </p:sp>
      <p:sp>
        <p:nvSpPr>
          <p:cNvPr id="4" name="IntroPillarBody1">
            <a:extLst>
              <a:ext uri="{FF2B5EF4-FFF2-40B4-BE49-F238E27FC236}">
                <a16:creationId xmlns:a16="http://schemas.microsoft.com/office/drawing/2014/main" id="{6A501F8A-A3D3-8210-8AEC-AE6D6A180118}"/>
              </a:ext>
            </a:extLst>
          </p:cNvPr>
          <p:cNvSpPr txBox="1"/>
          <p:nvPr/>
        </p:nvSpPr>
        <p:spPr>
          <a:xfrm>
            <a:off x="1168400" y="4521200"/>
            <a:ext cx="18415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000">
                <a:solidFill>
                  <a:srgbClr val="D5DBE8"/>
                </a:solidFill>
                <a:latin typeface="Aptos" panose="020B0004020202020204" pitchFamily="34" charset="0"/>
              </a:rPr>
              <a:t>Ước lượng incremental rides thay vì chỉ nhìn tổng chuyến.</a:t>
            </a:r>
            <a:endParaRPr lang="en-US" sz="1000">
              <a:solidFill>
                <a:srgbClr val="D5DBE8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5D6ADD-3C61-B21A-D869-CBCD8FBA0F42}"/>
              </a:ext>
            </a:extLst>
          </p:cNvPr>
          <p:cNvSpPr/>
          <p:nvPr/>
        </p:nvSpPr>
        <p:spPr>
          <a:xfrm>
            <a:off x="3619500" y="3962400"/>
            <a:ext cx="1651000" cy="38100"/>
          </a:xfrm>
          <a:prstGeom prst="rect">
            <a:avLst/>
          </a:prstGeom>
          <a:solidFill>
            <a:srgbClr val="2CB7E5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IntroPillarTitle2">
            <a:extLst>
              <a:ext uri="{FF2B5EF4-FFF2-40B4-BE49-F238E27FC236}">
                <a16:creationId xmlns:a16="http://schemas.microsoft.com/office/drawing/2014/main" id="{BAD368A7-F28B-4145-B535-738149C83C30}"/>
              </a:ext>
            </a:extLst>
          </p:cNvPr>
          <p:cNvSpPr txBox="1"/>
          <p:nvPr/>
        </p:nvSpPr>
        <p:spPr>
          <a:xfrm>
            <a:off x="3619500" y="4191000"/>
            <a:ext cx="1778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2CB7E5"/>
                </a:solidFill>
                <a:latin typeface="Aptos" panose="020B0004020202020204" pitchFamily="34" charset="0"/>
              </a:rPr>
              <a:t>Tìm response khác biệt</a:t>
            </a:r>
          </a:p>
        </p:txBody>
      </p:sp>
      <p:sp>
        <p:nvSpPr>
          <p:cNvPr id="7" name="IntroPillarBody2">
            <a:extLst>
              <a:ext uri="{FF2B5EF4-FFF2-40B4-BE49-F238E27FC236}">
                <a16:creationId xmlns:a16="http://schemas.microsoft.com/office/drawing/2014/main" id="{390A2E99-1145-F707-A245-D6FFA3518E24}"/>
              </a:ext>
            </a:extLst>
          </p:cNvPr>
          <p:cNvSpPr txBox="1"/>
          <p:nvPr/>
        </p:nvSpPr>
        <p:spPr>
          <a:xfrm>
            <a:off x="3619500" y="4521200"/>
            <a:ext cx="18415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D5DBE8"/>
                </a:solidFill>
                <a:latin typeface="Aptos" panose="020B0004020202020204" pitchFamily="34" charset="0"/>
              </a:rPr>
              <a:t>Dùng CATE/ITE để biết user nào nhạy với voucher.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F12793-7036-9E86-27DD-2A7104D0E7ED}"/>
              </a:ext>
            </a:extLst>
          </p:cNvPr>
          <p:cNvSpPr/>
          <p:nvPr/>
        </p:nvSpPr>
        <p:spPr>
          <a:xfrm>
            <a:off x="6070600" y="3962400"/>
            <a:ext cx="1651000" cy="38100"/>
          </a:xfrm>
          <a:prstGeom prst="rect">
            <a:avLst/>
          </a:prstGeom>
          <a:solidFill>
            <a:srgbClr val="2ECCAA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IntroPillarTitle3">
            <a:extLst>
              <a:ext uri="{FF2B5EF4-FFF2-40B4-BE49-F238E27FC236}">
                <a16:creationId xmlns:a16="http://schemas.microsoft.com/office/drawing/2014/main" id="{E484C59D-31DC-8391-3EC2-AEBCD1A516D6}"/>
              </a:ext>
            </a:extLst>
          </p:cNvPr>
          <p:cNvSpPr txBox="1"/>
          <p:nvPr/>
        </p:nvSpPr>
        <p:spPr>
          <a:xfrm>
            <a:off x="6070600" y="4191000"/>
            <a:ext cx="1778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2ECCAA"/>
                </a:solidFill>
                <a:latin typeface="Aptos" panose="020B0004020202020204" pitchFamily="34" charset="0"/>
              </a:rPr>
              <a:t>Ra quyết định có lời</a:t>
            </a:r>
          </a:p>
        </p:txBody>
      </p:sp>
      <p:sp>
        <p:nvSpPr>
          <p:cNvPr id="10" name="IntroPillarBody3">
            <a:extLst>
              <a:ext uri="{FF2B5EF4-FFF2-40B4-BE49-F238E27FC236}">
                <a16:creationId xmlns:a16="http://schemas.microsoft.com/office/drawing/2014/main" id="{656139CB-59CA-D745-C2CB-661B123B6BB1}"/>
              </a:ext>
            </a:extLst>
          </p:cNvPr>
          <p:cNvSpPr txBox="1"/>
          <p:nvPr/>
        </p:nvSpPr>
        <p:spPr>
          <a:xfrm>
            <a:off x="6070600" y="4521200"/>
            <a:ext cx="18415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D5DBE8"/>
                </a:solidFill>
                <a:latin typeface="Aptos" panose="020B0004020202020204" pitchFamily="34" charset="0"/>
              </a:rPr>
              <a:t>Chuyển CATE sang EV và kiểm tra policy trên dashboard.</a:t>
            </a:r>
          </a:p>
        </p:txBody>
      </p:sp>
    </p:spTree>
    <p:extLst>
      <p:ext uri="{BB962C8B-B14F-4D97-AF65-F5344CB8AC3E}">
        <p14:creationId xmlns:p14="http://schemas.microsoft.com/office/powerpoint/2010/main" val="1244142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A69E1199-15CC-59AB-6130-B207C936601A}"/>
              </a:ext>
            </a:extLst>
          </p:cNvPr>
          <p:cNvSpPr/>
          <p:nvPr/>
        </p:nvSpPr>
        <p:spPr>
          <a:xfrm>
            <a:off x="365760" y="0"/>
            <a:ext cx="137160" cy="6858000"/>
          </a:xfrm>
          <a:prstGeom prst="rect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SlideTitle">
            <a:extLst>
              <a:ext uri="{FF2B5EF4-FFF2-40B4-BE49-F238E27FC236}">
                <a16:creationId xmlns:a16="http://schemas.microsoft.com/office/drawing/2014/main" id="{0F12316C-A665-11B5-E9C7-214DB8CF3BF1}"/>
              </a:ext>
            </a:extLst>
          </p:cNvPr>
          <p:cNvSpPr txBox="1"/>
          <p:nvPr/>
        </p:nvSpPr>
        <p:spPr>
          <a:xfrm>
            <a:off x="736600" y="228600"/>
            <a:ext cx="81534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800" b="1">
                <a:solidFill>
                  <a:srgbClr val="F7F8FA"/>
                </a:solidFill>
                <a:latin typeface="Arial" panose="020B0604020202020204" pitchFamily="34" charset="0"/>
              </a:rPr>
              <a:t>Voucher tạo thêm chuyến cho ai?</a:t>
            </a:r>
          </a:p>
        </p:txBody>
      </p:sp>
      <p:sp>
        <p:nvSpPr>
          <p:cNvPr id="21" name="SlideSubtitle">
            <a:extLst>
              <a:ext uri="{FF2B5EF4-FFF2-40B4-BE49-F238E27FC236}">
                <a16:creationId xmlns:a16="http://schemas.microsoft.com/office/drawing/2014/main" id="{0EF6A639-0299-D540-B396-07AFF66C135D}"/>
              </a:ext>
            </a:extLst>
          </p:cNvPr>
          <p:cNvSpPr txBox="1"/>
          <p:nvPr/>
        </p:nvSpPr>
        <p:spPr>
          <a:xfrm>
            <a:off x="736600" y="762000"/>
            <a:ext cx="8001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700">
                <a:solidFill>
                  <a:srgbClr val="F7F8FA"/>
                </a:solidFill>
                <a:latin typeface="Arial" panose="020B0604020202020204" pitchFamily="34" charset="0"/>
              </a:rPr>
              <a:t>Và phần tăng thêm đó có sinh lời sau promotion burn không?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284DB16-6C74-CE33-CCAD-B54025142D8E}"/>
              </a:ext>
            </a:extLst>
          </p:cNvPr>
          <p:cNvSpPr/>
          <p:nvPr/>
        </p:nvSpPr>
        <p:spPr>
          <a:xfrm>
            <a:off x="736600" y="1193800"/>
            <a:ext cx="2286000" cy="38100"/>
          </a:xfrm>
          <a:prstGeom prst="rect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7F3012C-AFB1-E0F0-9623-7BAD3152195E}"/>
              </a:ext>
            </a:extLst>
          </p:cNvPr>
          <p:cNvSpPr/>
          <p:nvPr/>
        </p:nvSpPr>
        <p:spPr>
          <a:xfrm>
            <a:off x="365760" y="6217920"/>
            <a:ext cx="8778240" cy="365760"/>
          </a:xfrm>
          <a:prstGeom prst="rect">
            <a:avLst/>
          </a:prstGeom>
          <a:solidFill>
            <a:srgbClr val="2459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5DC1F0C-99DA-0754-338C-917DC27A2959}"/>
              </a:ext>
            </a:extLst>
          </p:cNvPr>
          <p:cNvSpPr txBox="1"/>
          <p:nvPr/>
        </p:nvSpPr>
        <p:spPr>
          <a:xfrm>
            <a:off x="546100" y="6299200"/>
            <a:ext cx="4953000" cy="215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850">
                <a:solidFill>
                  <a:srgbClr val="F7F8FA"/>
                </a:solidFill>
                <a:latin typeface="Arial" panose="020B0604020202020204" pitchFamily="34" charset="0"/>
              </a:rPr>
              <a:t>GSM Promotion Experimentation • Mentor Rehearsal • Data Science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3AB464F-2EE3-0160-327A-E93862208271}"/>
              </a:ext>
            </a:extLst>
          </p:cNvPr>
          <p:cNvSpPr/>
          <p:nvPr/>
        </p:nvSpPr>
        <p:spPr>
          <a:xfrm>
            <a:off x="365760" y="6583680"/>
            <a:ext cx="8778240" cy="274320"/>
          </a:xfrm>
          <a:prstGeom prst="rect">
            <a:avLst/>
          </a:prstGeom>
          <a:solidFill>
            <a:srgbClr val="0A142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548132D-AB24-D196-E8B9-58FEC409ACF0}"/>
              </a:ext>
            </a:extLst>
          </p:cNvPr>
          <p:cNvSpPr txBox="1"/>
          <p:nvPr/>
        </p:nvSpPr>
        <p:spPr>
          <a:xfrm>
            <a:off x="546100" y="6604000"/>
            <a:ext cx="3302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800">
                <a:solidFill>
                  <a:srgbClr val="F7F8FA"/>
                </a:solidFill>
                <a:latin typeface="Arial" panose="020B0604020202020204" pitchFamily="34" charset="0"/>
              </a:rPr>
              <a:t>Uplift Modeling &amp; Profit-aware Targeting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B03B735-4B70-786B-662B-31A59064DC21}"/>
              </a:ext>
            </a:extLst>
          </p:cNvPr>
          <p:cNvSpPr txBox="1"/>
          <p:nvPr/>
        </p:nvSpPr>
        <p:spPr>
          <a:xfrm>
            <a:off x="8318500" y="6604000"/>
            <a:ext cx="6731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850" b="1">
                <a:solidFill>
                  <a:srgbClr val="F7F8FA"/>
                </a:solidFill>
                <a:latin typeface="Arial" panose="020B0604020202020204" pitchFamily="34" charset="0"/>
              </a:rPr>
              <a:t>01 / 06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CB9EBD2-D8B4-C0A8-08A7-74439D21C4AC}"/>
              </a:ext>
            </a:extLst>
          </p:cNvPr>
          <p:cNvCxnSpPr/>
          <p:nvPr/>
        </p:nvCxnSpPr>
        <p:spPr>
          <a:xfrm>
            <a:off x="1168400" y="3200400"/>
            <a:ext cx="7086600" cy="0"/>
          </a:xfrm>
          <a:prstGeom prst="line">
            <a:avLst/>
          </a:prstGeom>
          <a:ln w="38100">
            <a:solidFill>
              <a:srgbClr val="60718A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0EC0624C-BEDA-7C61-9702-19813DF78138}"/>
              </a:ext>
            </a:extLst>
          </p:cNvPr>
          <p:cNvSpPr/>
          <p:nvPr/>
        </p:nvSpPr>
        <p:spPr>
          <a:xfrm>
            <a:off x="1054100" y="2984500"/>
            <a:ext cx="431800" cy="431800"/>
          </a:xfrm>
          <a:prstGeom prst="ellipse">
            <a:avLst/>
          </a:prstGeom>
          <a:solidFill>
            <a:srgbClr val="FFC000"/>
          </a:solidFill>
          <a:ln w="15240">
            <a:solidFill>
              <a:srgbClr val="0A14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FD2A95D-55FE-8834-1E42-7DF2B9DC25A2}"/>
              </a:ext>
            </a:extLst>
          </p:cNvPr>
          <p:cNvSpPr txBox="1"/>
          <p:nvPr/>
        </p:nvSpPr>
        <p:spPr>
          <a:xfrm>
            <a:off x="1092200" y="3086100"/>
            <a:ext cx="3556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000" b="1">
                <a:solidFill>
                  <a:srgbClr val="0A1423"/>
                </a:solidFill>
                <a:latin typeface="Arial" panose="020B0604020202020204" pitchFamily="34" charset="0"/>
              </a:rPr>
              <a:t>01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808AC2F-A610-BAB7-A307-603EDB0AFFA1}"/>
              </a:ext>
            </a:extLst>
          </p:cNvPr>
          <p:cNvSpPr txBox="1"/>
          <p:nvPr/>
        </p:nvSpPr>
        <p:spPr>
          <a:xfrm>
            <a:off x="647700" y="2247900"/>
            <a:ext cx="12446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200" b="1">
                <a:solidFill>
                  <a:srgbClr val="F7F8FA"/>
                </a:solidFill>
                <a:latin typeface="Arial" panose="020B0604020202020204" pitchFamily="34" charset="0"/>
              </a:rPr>
              <a:t>Business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9049C68-3B23-D1E4-2113-ED54BABA55D2}"/>
              </a:ext>
            </a:extLst>
          </p:cNvPr>
          <p:cNvSpPr txBox="1"/>
          <p:nvPr/>
        </p:nvSpPr>
        <p:spPr>
          <a:xfrm>
            <a:off x="571500" y="2540000"/>
            <a:ext cx="1397000" cy="44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vi-VN" sz="1050">
                <a:solidFill>
                  <a:srgbClr val="B7C2D1"/>
                </a:solidFill>
                <a:latin typeface="Arial" panose="020B0604020202020204" pitchFamily="34" charset="0"/>
              </a:rPr>
              <a:t>Mass voucher có thể tăng demand nhưng đốt tiền</a:t>
            </a:r>
            <a:endParaRPr lang="en-US" sz="1050">
              <a:solidFill>
                <a:srgbClr val="B7C2D1"/>
              </a:solidFill>
              <a:latin typeface="Arial" panose="020B0604020202020204" pitchFamily="34" charset="0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958C197E-0D90-0880-A6F0-CEB784DBDB54}"/>
              </a:ext>
            </a:extLst>
          </p:cNvPr>
          <p:cNvSpPr/>
          <p:nvPr/>
        </p:nvSpPr>
        <p:spPr>
          <a:xfrm>
            <a:off x="2387600" y="2984500"/>
            <a:ext cx="431800" cy="431800"/>
          </a:xfrm>
          <a:prstGeom prst="ellipse">
            <a:avLst/>
          </a:prstGeom>
          <a:solidFill>
            <a:srgbClr val="29B8E8"/>
          </a:solidFill>
          <a:ln w="15240">
            <a:solidFill>
              <a:srgbClr val="0A14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67AB548-34B2-BD87-FB35-A52C4D24867B}"/>
              </a:ext>
            </a:extLst>
          </p:cNvPr>
          <p:cNvSpPr txBox="1"/>
          <p:nvPr/>
        </p:nvSpPr>
        <p:spPr>
          <a:xfrm>
            <a:off x="2425700" y="3086100"/>
            <a:ext cx="3556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000" b="1">
                <a:solidFill>
                  <a:srgbClr val="0A1423"/>
                </a:solidFill>
                <a:latin typeface="Arial" panose="020B0604020202020204" pitchFamily="34" charset="0"/>
              </a:rPr>
              <a:t>02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A90DAA4-1823-7F58-6CAB-9D6B59C99A48}"/>
              </a:ext>
            </a:extLst>
          </p:cNvPr>
          <p:cNvSpPr txBox="1"/>
          <p:nvPr/>
        </p:nvSpPr>
        <p:spPr>
          <a:xfrm>
            <a:off x="1981200" y="3581400"/>
            <a:ext cx="12446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200" b="1">
                <a:solidFill>
                  <a:srgbClr val="F7F8FA"/>
                </a:solidFill>
                <a:latin typeface="Arial" panose="020B0604020202020204" pitchFamily="34" charset="0"/>
              </a:rPr>
              <a:t>Measurement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144C9BD-5B8E-2C6A-9EE0-104707095D9A}"/>
              </a:ext>
            </a:extLst>
          </p:cNvPr>
          <p:cNvSpPr txBox="1"/>
          <p:nvPr/>
        </p:nvSpPr>
        <p:spPr>
          <a:xfrm>
            <a:off x="1905000" y="3873500"/>
            <a:ext cx="1397000" cy="44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050">
                <a:solidFill>
                  <a:srgbClr val="B7C2D1"/>
                </a:solidFill>
                <a:latin typeface="Arial" panose="020B0604020202020204" pitchFamily="34" charset="0"/>
              </a:rPr>
              <a:t>Cần đo incremental rides, không chỉ tổng rides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62964653-9BA5-37B6-2C24-D3C67A7D3EA7}"/>
              </a:ext>
            </a:extLst>
          </p:cNvPr>
          <p:cNvSpPr/>
          <p:nvPr/>
        </p:nvSpPr>
        <p:spPr>
          <a:xfrm>
            <a:off x="3721100" y="2984500"/>
            <a:ext cx="431800" cy="431800"/>
          </a:xfrm>
          <a:prstGeom prst="ellipse">
            <a:avLst/>
          </a:prstGeom>
          <a:solidFill>
            <a:srgbClr val="E978C6"/>
          </a:solidFill>
          <a:ln w="15240">
            <a:solidFill>
              <a:srgbClr val="0A14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19A7E11-F7BA-0E61-75A4-30EAFEE059D7}"/>
              </a:ext>
            </a:extLst>
          </p:cNvPr>
          <p:cNvSpPr txBox="1"/>
          <p:nvPr/>
        </p:nvSpPr>
        <p:spPr>
          <a:xfrm>
            <a:off x="3759200" y="3086100"/>
            <a:ext cx="3556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000" b="1">
                <a:solidFill>
                  <a:srgbClr val="0A1423"/>
                </a:solidFill>
                <a:latin typeface="Arial" panose="020B0604020202020204" pitchFamily="34" charset="0"/>
              </a:rPr>
              <a:t>03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FD27EC2-CAC5-EC40-9407-B3B3399F1812}"/>
              </a:ext>
            </a:extLst>
          </p:cNvPr>
          <p:cNvSpPr txBox="1"/>
          <p:nvPr/>
        </p:nvSpPr>
        <p:spPr>
          <a:xfrm>
            <a:off x="3314700" y="2247900"/>
            <a:ext cx="12446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200" b="1">
                <a:solidFill>
                  <a:srgbClr val="F7F8FA"/>
                </a:solidFill>
                <a:latin typeface="Arial" panose="020B0604020202020204" pitchFamily="34" charset="0"/>
              </a:rPr>
              <a:t>Heterogeneity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57DCC5C-EC73-E3EA-BEAD-19317FC4D6D4}"/>
              </a:ext>
            </a:extLst>
          </p:cNvPr>
          <p:cNvSpPr txBox="1"/>
          <p:nvPr/>
        </p:nvSpPr>
        <p:spPr>
          <a:xfrm>
            <a:off x="3238500" y="2540000"/>
            <a:ext cx="1397000" cy="44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050">
                <a:solidFill>
                  <a:srgbClr val="B7C2D1"/>
                </a:solidFill>
                <a:latin typeface="Arial" panose="020B0604020202020204" pitchFamily="34" charset="0"/>
              </a:rPr>
              <a:t>Hai user cùng persona có thể phản ứng khác nhau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8B2231B8-2BFF-2607-A335-2E04E067E23A}"/>
              </a:ext>
            </a:extLst>
          </p:cNvPr>
          <p:cNvSpPr/>
          <p:nvPr/>
        </p:nvSpPr>
        <p:spPr>
          <a:xfrm>
            <a:off x="5054600" y="2984500"/>
            <a:ext cx="431800" cy="431800"/>
          </a:xfrm>
          <a:prstGeom prst="ellipse">
            <a:avLst/>
          </a:prstGeom>
          <a:solidFill>
            <a:srgbClr val="25D0A2"/>
          </a:solidFill>
          <a:ln w="15240">
            <a:solidFill>
              <a:srgbClr val="0A14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E078666-C573-6DC7-FF5E-EF539556601C}"/>
              </a:ext>
            </a:extLst>
          </p:cNvPr>
          <p:cNvSpPr txBox="1"/>
          <p:nvPr/>
        </p:nvSpPr>
        <p:spPr>
          <a:xfrm>
            <a:off x="5092700" y="3086100"/>
            <a:ext cx="3556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000" b="1">
                <a:solidFill>
                  <a:srgbClr val="0A1423"/>
                </a:solidFill>
                <a:latin typeface="Arial" panose="020B0604020202020204" pitchFamily="34" charset="0"/>
              </a:rPr>
              <a:t>04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4A3714F-C9F4-C2EF-CFD8-CE3C51CA733B}"/>
              </a:ext>
            </a:extLst>
          </p:cNvPr>
          <p:cNvSpPr txBox="1"/>
          <p:nvPr/>
        </p:nvSpPr>
        <p:spPr>
          <a:xfrm>
            <a:off x="4648200" y="3581400"/>
            <a:ext cx="12446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200" b="1">
                <a:solidFill>
                  <a:srgbClr val="F7F8FA"/>
                </a:solidFill>
                <a:latin typeface="Arial" panose="020B0604020202020204" pitchFamily="34" charset="0"/>
              </a:rPr>
              <a:t>Economics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A7D6123-675A-CC4F-1724-BCCBFDA411FF}"/>
              </a:ext>
            </a:extLst>
          </p:cNvPr>
          <p:cNvSpPr txBox="1"/>
          <p:nvPr/>
        </p:nvSpPr>
        <p:spPr>
          <a:xfrm>
            <a:off x="4572000" y="3873500"/>
            <a:ext cx="1397000" cy="44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050">
                <a:solidFill>
                  <a:srgbClr val="B7C2D1"/>
                </a:solidFill>
                <a:latin typeface="Arial" panose="020B0604020202020204" pitchFamily="34" charset="0"/>
              </a:rPr>
              <a:t>Response ≠ profit nếu voucher burn quá lớn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41B91055-FE70-A521-DCAC-45C9B07F003A}"/>
              </a:ext>
            </a:extLst>
          </p:cNvPr>
          <p:cNvSpPr/>
          <p:nvPr/>
        </p:nvSpPr>
        <p:spPr>
          <a:xfrm>
            <a:off x="6388100" y="2984500"/>
            <a:ext cx="431800" cy="431800"/>
          </a:xfrm>
          <a:prstGeom prst="ellipse">
            <a:avLst/>
          </a:prstGeom>
          <a:solidFill>
            <a:srgbClr val="29B8E8"/>
          </a:solidFill>
          <a:ln w="15240">
            <a:solidFill>
              <a:srgbClr val="0A14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4DE218B-230B-9FD2-5CC0-18865DB2B506}"/>
              </a:ext>
            </a:extLst>
          </p:cNvPr>
          <p:cNvSpPr txBox="1"/>
          <p:nvPr/>
        </p:nvSpPr>
        <p:spPr>
          <a:xfrm>
            <a:off x="6426200" y="3086100"/>
            <a:ext cx="3556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000" b="1">
                <a:solidFill>
                  <a:srgbClr val="0A1423"/>
                </a:solidFill>
                <a:latin typeface="Arial" panose="020B0604020202020204" pitchFamily="34" charset="0"/>
              </a:rPr>
              <a:t>05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102C23C-99AE-7930-C43B-0A8CB4F0629E}"/>
              </a:ext>
            </a:extLst>
          </p:cNvPr>
          <p:cNvSpPr txBox="1"/>
          <p:nvPr/>
        </p:nvSpPr>
        <p:spPr>
          <a:xfrm>
            <a:off x="5981700" y="2247900"/>
            <a:ext cx="12446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200" b="1">
                <a:solidFill>
                  <a:srgbClr val="F7F8FA"/>
                </a:solidFill>
                <a:latin typeface="Arial" panose="020B0604020202020204" pitchFamily="34" charset="0"/>
              </a:rPr>
              <a:t>Policy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C3695C1-D6E7-B651-B43F-B590627635C8}"/>
              </a:ext>
            </a:extLst>
          </p:cNvPr>
          <p:cNvSpPr txBox="1"/>
          <p:nvPr/>
        </p:nvSpPr>
        <p:spPr>
          <a:xfrm>
            <a:off x="5905500" y="2540000"/>
            <a:ext cx="1397000" cy="44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vi-VN" sz="1050">
                <a:solidFill>
                  <a:srgbClr val="B7C2D1"/>
                </a:solidFill>
                <a:latin typeface="Arial" panose="020B0604020202020204" pitchFamily="34" charset="0"/>
              </a:rPr>
              <a:t>Chỉ target khi EV dương và còn trong budget</a:t>
            </a:r>
            <a:endParaRPr lang="en-US" sz="1050">
              <a:solidFill>
                <a:srgbClr val="B7C2D1"/>
              </a:solidFill>
              <a:latin typeface="Arial" panose="020B0604020202020204" pitchFamily="34" charset="0"/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D6D0001F-EC91-23C6-1007-561E13AAFB4E}"/>
              </a:ext>
            </a:extLst>
          </p:cNvPr>
          <p:cNvSpPr/>
          <p:nvPr/>
        </p:nvSpPr>
        <p:spPr>
          <a:xfrm>
            <a:off x="7721600" y="2984500"/>
            <a:ext cx="431800" cy="431800"/>
          </a:xfrm>
          <a:prstGeom prst="ellipse">
            <a:avLst/>
          </a:prstGeom>
          <a:solidFill>
            <a:srgbClr val="FFB44D"/>
          </a:solidFill>
          <a:ln w="15240">
            <a:solidFill>
              <a:srgbClr val="0A14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58F75CD-67B5-E1D6-8E81-8FB925E2946D}"/>
              </a:ext>
            </a:extLst>
          </p:cNvPr>
          <p:cNvSpPr txBox="1"/>
          <p:nvPr/>
        </p:nvSpPr>
        <p:spPr>
          <a:xfrm>
            <a:off x="7759700" y="3086100"/>
            <a:ext cx="3556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000" b="1">
                <a:solidFill>
                  <a:srgbClr val="0A1423"/>
                </a:solidFill>
                <a:latin typeface="Arial" panose="020B0604020202020204" pitchFamily="34" charset="0"/>
              </a:rPr>
              <a:t>06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75E2BDA-901B-944A-5DD4-A2553BB83610}"/>
              </a:ext>
            </a:extLst>
          </p:cNvPr>
          <p:cNvSpPr txBox="1"/>
          <p:nvPr/>
        </p:nvSpPr>
        <p:spPr>
          <a:xfrm>
            <a:off x="7315200" y="3581400"/>
            <a:ext cx="12446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200" b="1">
                <a:solidFill>
                  <a:srgbClr val="F7F8FA"/>
                </a:solidFill>
                <a:latin typeface="Arial" panose="020B0604020202020204" pitchFamily="34" charset="0"/>
              </a:rPr>
              <a:t>Validation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6BEA987-B6DE-9521-B5E9-CE7EC2C1DAF4}"/>
              </a:ext>
            </a:extLst>
          </p:cNvPr>
          <p:cNvSpPr txBox="1"/>
          <p:nvPr/>
        </p:nvSpPr>
        <p:spPr>
          <a:xfrm>
            <a:off x="7239000" y="3873500"/>
            <a:ext cx="1397000" cy="44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vi-VN" sz="1050">
                <a:solidFill>
                  <a:srgbClr val="B7C2D1"/>
                </a:solidFill>
                <a:latin typeface="Arial" panose="020B0604020202020204" pitchFamily="34" charset="0"/>
              </a:rPr>
              <a:t>Pilot thật trước khi rollout</a:t>
            </a:r>
            <a:endParaRPr lang="en-US" sz="1050">
              <a:solidFill>
                <a:srgbClr val="B7C2D1"/>
              </a:solidFill>
              <a:latin typeface="Arial" panose="020B0604020202020204" pitchFamily="34" charset="0"/>
            </a:endParaRP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D6D2A883-B228-0413-8BDC-77B4C62121A6}"/>
              </a:ext>
            </a:extLst>
          </p:cNvPr>
          <p:cNvSpPr/>
          <p:nvPr/>
        </p:nvSpPr>
        <p:spPr>
          <a:xfrm>
            <a:off x="914400" y="4889500"/>
            <a:ext cx="7315200" cy="812800"/>
          </a:xfrm>
          <a:prstGeom prst="roundRect">
            <a:avLst/>
          </a:prstGeom>
          <a:solidFill>
            <a:srgbClr val="1727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B41D8B7-36A6-E404-1CC7-40D090FC97E0}"/>
              </a:ext>
            </a:extLst>
          </p:cNvPr>
          <p:cNvSpPr txBox="1"/>
          <p:nvPr/>
        </p:nvSpPr>
        <p:spPr>
          <a:xfrm>
            <a:off x="1168400" y="5041900"/>
            <a:ext cx="2159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00" b="1">
                <a:solidFill>
                  <a:srgbClr val="FFC000"/>
                </a:solidFill>
                <a:latin typeface="Arial" panose="020B0604020202020204" pitchFamily="34" charset="0"/>
              </a:rPr>
              <a:t>Câu hỏi xuyên suốt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E2A6C89-379F-837A-A2F4-22133D3B4F3C}"/>
              </a:ext>
            </a:extLst>
          </p:cNvPr>
          <p:cNvSpPr txBox="1"/>
          <p:nvPr/>
        </p:nvSpPr>
        <p:spPr>
          <a:xfrm>
            <a:off x="1168400" y="5334000"/>
            <a:ext cx="6731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700" b="1">
                <a:solidFill>
                  <a:srgbClr val="F7F8FA"/>
                </a:solidFill>
                <a:latin typeface="Arial" panose="020B0604020202020204" pitchFamily="34" charset="0"/>
              </a:rPr>
              <a:t>Từ dữ liệu mobility công khai đến quyết định promotion có kiểm soát burn</a:t>
            </a:r>
          </a:p>
        </p:txBody>
      </p:sp>
    </p:spTree>
    <p:extLst>
      <p:ext uri="{BB962C8B-B14F-4D97-AF65-F5344CB8AC3E}">
        <p14:creationId xmlns:p14="http://schemas.microsoft.com/office/powerpoint/2010/main" val="2768125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FEDD262F-EBCC-C469-F869-2E7BD5E054AE}"/>
              </a:ext>
            </a:extLst>
          </p:cNvPr>
          <p:cNvSpPr/>
          <p:nvPr/>
        </p:nvSpPr>
        <p:spPr>
          <a:xfrm>
            <a:off x="365760" y="0"/>
            <a:ext cx="137160" cy="6858000"/>
          </a:xfrm>
          <a:prstGeom prst="rect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SlideTitle">
            <a:extLst>
              <a:ext uri="{FF2B5EF4-FFF2-40B4-BE49-F238E27FC236}">
                <a16:creationId xmlns:a16="http://schemas.microsoft.com/office/drawing/2014/main" id="{9CA199CF-B18D-B0B1-37C7-18D09C5E5D05}"/>
              </a:ext>
            </a:extLst>
          </p:cNvPr>
          <p:cNvSpPr txBox="1"/>
          <p:nvPr/>
        </p:nvSpPr>
        <p:spPr>
          <a:xfrm>
            <a:off x="736600" y="228600"/>
            <a:ext cx="81534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700" b="1">
                <a:solidFill>
                  <a:srgbClr val="F7F8FA"/>
                </a:solidFill>
                <a:latin typeface="Arial" panose="020B0604020202020204" pitchFamily="34" charset="0"/>
              </a:rPr>
              <a:t>Dữ liệu và EDA định hình sandbox</a:t>
            </a:r>
          </a:p>
        </p:txBody>
      </p:sp>
      <p:sp>
        <p:nvSpPr>
          <p:cNvPr id="25" name="SlideSubtitle">
            <a:extLst>
              <a:ext uri="{FF2B5EF4-FFF2-40B4-BE49-F238E27FC236}">
                <a16:creationId xmlns:a16="http://schemas.microsoft.com/office/drawing/2014/main" id="{C9A4012E-9092-41F6-DDB9-0820FF08999F}"/>
              </a:ext>
            </a:extLst>
          </p:cNvPr>
          <p:cNvSpPr txBox="1"/>
          <p:nvPr/>
        </p:nvSpPr>
        <p:spPr>
          <a:xfrm>
            <a:off x="736600" y="762000"/>
            <a:ext cx="8001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700">
                <a:solidFill>
                  <a:srgbClr val="F7F8FA"/>
                </a:solidFill>
                <a:latin typeface="Arial" panose="020B0604020202020204" pitchFamily="34" charset="0"/>
              </a:rPr>
              <a:t>Public mobility data calibrate pattern; counterfactual đến từ simulation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F002069-B7AC-471A-792E-815582CE2B36}"/>
              </a:ext>
            </a:extLst>
          </p:cNvPr>
          <p:cNvSpPr/>
          <p:nvPr/>
        </p:nvSpPr>
        <p:spPr>
          <a:xfrm>
            <a:off x="736600" y="1193800"/>
            <a:ext cx="2286000" cy="38100"/>
          </a:xfrm>
          <a:prstGeom prst="rect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5F8CF67-1090-F167-FADD-B87FB190864F}"/>
              </a:ext>
            </a:extLst>
          </p:cNvPr>
          <p:cNvSpPr/>
          <p:nvPr/>
        </p:nvSpPr>
        <p:spPr>
          <a:xfrm>
            <a:off x="365760" y="6217920"/>
            <a:ext cx="8778240" cy="365760"/>
          </a:xfrm>
          <a:prstGeom prst="rect">
            <a:avLst/>
          </a:prstGeom>
          <a:solidFill>
            <a:srgbClr val="2459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9EBED89-7976-D26D-4AE6-E1A7C9270741}"/>
              </a:ext>
            </a:extLst>
          </p:cNvPr>
          <p:cNvSpPr txBox="1"/>
          <p:nvPr/>
        </p:nvSpPr>
        <p:spPr>
          <a:xfrm>
            <a:off x="546100" y="6299200"/>
            <a:ext cx="4953000" cy="215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850">
                <a:solidFill>
                  <a:srgbClr val="F7F8FA"/>
                </a:solidFill>
                <a:latin typeface="Arial" panose="020B0604020202020204" pitchFamily="34" charset="0"/>
              </a:rPr>
              <a:t>GSM Promotion Experimentation • Mentor Rehearsal • Data Science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1CA5D81-93AC-C351-2A85-E80EAB1C310D}"/>
              </a:ext>
            </a:extLst>
          </p:cNvPr>
          <p:cNvSpPr/>
          <p:nvPr/>
        </p:nvSpPr>
        <p:spPr>
          <a:xfrm>
            <a:off x="365760" y="6583680"/>
            <a:ext cx="8778240" cy="274320"/>
          </a:xfrm>
          <a:prstGeom prst="rect">
            <a:avLst/>
          </a:prstGeom>
          <a:solidFill>
            <a:srgbClr val="0A142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F737231-A639-7746-58B3-A3F1B49C68E0}"/>
              </a:ext>
            </a:extLst>
          </p:cNvPr>
          <p:cNvSpPr txBox="1"/>
          <p:nvPr/>
        </p:nvSpPr>
        <p:spPr>
          <a:xfrm>
            <a:off x="546100" y="6604000"/>
            <a:ext cx="3302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800">
                <a:solidFill>
                  <a:srgbClr val="F7F8FA"/>
                </a:solidFill>
                <a:latin typeface="Arial" panose="020B0604020202020204" pitchFamily="34" charset="0"/>
              </a:rPr>
              <a:t>Uplift Modeling &amp; Profit-aware Targeting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4E37D7F-67BE-E69E-FBDA-F04B32B38A64}"/>
              </a:ext>
            </a:extLst>
          </p:cNvPr>
          <p:cNvSpPr txBox="1"/>
          <p:nvPr/>
        </p:nvSpPr>
        <p:spPr>
          <a:xfrm>
            <a:off x="8318500" y="6604000"/>
            <a:ext cx="6731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850" b="1">
                <a:solidFill>
                  <a:srgbClr val="F7F8FA"/>
                </a:solidFill>
                <a:latin typeface="Arial" panose="020B0604020202020204" pitchFamily="34" charset="0"/>
              </a:rPr>
              <a:t>02 / 06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32D2E6B-3850-4F9F-2C77-9FE1B187629D}"/>
              </a:ext>
            </a:extLst>
          </p:cNvPr>
          <p:cNvCxnSpPr/>
          <p:nvPr/>
        </p:nvCxnSpPr>
        <p:spPr>
          <a:xfrm>
            <a:off x="2603500" y="2730500"/>
            <a:ext cx="508000" cy="0"/>
          </a:xfrm>
          <a:prstGeom prst="line">
            <a:avLst/>
          </a:prstGeom>
          <a:ln w="25400">
            <a:solidFill>
              <a:srgbClr val="60718A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D5199E4-EAE9-C2CA-660A-1706B487B607}"/>
              </a:ext>
            </a:extLst>
          </p:cNvPr>
          <p:cNvCxnSpPr/>
          <p:nvPr/>
        </p:nvCxnSpPr>
        <p:spPr>
          <a:xfrm>
            <a:off x="4572000" y="2730500"/>
            <a:ext cx="508000" cy="0"/>
          </a:xfrm>
          <a:prstGeom prst="line">
            <a:avLst/>
          </a:prstGeom>
          <a:ln w="25400">
            <a:solidFill>
              <a:srgbClr val="60718A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348F150-7C73-E4FD-DF13-32D2C8C3D262}"/>
              </a:ext>
            </a:extLst>
          </p:cNvPr>
          <p:cNvCxnSpPr/>
          <p:nvPr/>
        </p:nvCxnSpPr>
        <p:spPr>
          <a:xfrm>
            <a:off x="6540500" y="2730500"/>
            <a:ext cx="508000" cy="0"/>
          </a:xfrm>
          <a:prstGeom prst="line">
            <a:avLst/>
          </a:prstGeom>
          <a:ln w="25400">
            <a:solidFill>
              <a:srgbClr val="60718A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92EB9048-AF30-0029-53E1-147528FBAAA1}"/>
              </a:ext>
            </a:extLst>
          </p:cNvPr>
          <p:cNvSpPr txBox="1"/>
          <p:nvPr/>
        </p:nvSpPr>
        <p:spPr>
          <a:xfrm>
            <a:off x="736600" y="1600200"/>
            <a:ext cx="4318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 b="1">
                <a:solidFill>
                  <a:srgbClr val="FFC000"/>
                </a:solidFill>
                <a:latin typeface="Arial" panose="020B0604020202020204" pitchFamily="34" charset="0"/>
              </a:rPr>
              <a:t>01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8522102-7171-4B14-1A7E-13411EEE3697}"/>
              </a:ext>
            </a:extLst>
          </p:cNvPr>
          <p:cNvSpPr/>
          <p:nvPr/>
        </p:nvSpPr>
        <p:spPr>
          <a:xfrm>
            <a:off x="736600" y="1917700"/>
            <a:ext cx="1549400" cy="38100"/>
          </a:xfrm>
          <a:prstGeom prst="rect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E46B55B-C817-D2D8-6A21-98715922B6A8}"/>
              </a:ext>
            </a:extLst>
          </p:cNvPr>
          <p:cNvSpPr txBox="1"/>
          <p:nvPr/>
        </p:nvSpPr>
        <p:spPr>
          <a:xfrm>
            <a:off x="736600" y="2095500"/>
            <a:ext cx="1651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 b="1">
                <a:solidFill>
                  <a:srgbClr val="F7F8FA"/>
                </a:solidFill>
                <a:latin typeface="Arial" panose="020B0604020202020204" pitchFamily="34" charset="0"/>
              </a:rPr>
              <a:t>Public mobility data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7983591-C651-96B1-C5CC-52B1DF120470}"/>
              </a:ext>
            </a:extLst>
          </p:cNvPr>
          <p:cNvSpPr txBox="1"/>
          <p:nvPr/>
        </p:nvSpPr>
        <p:spPr>
          <a:xfrm>
            <a:off x="736600" y="2603500"/>
            <a:ext cx="17145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50" b="1">
                <a:solidFill>
                  <a:srgbClr val="FFC000"/>
                </a:solidFill>
                <a:latin typeface="Arial" panose="020B0604020202020204" pitchFamily="34" charset="0"/>
              </a:rPr>
              <a:t>3,72 triệu trips • 20 biến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2799386-89D4-320F-C3A3-523412A3181F}"/>
              </a:ext>
            </a:extLst>
          </p:cNvPr>
          <p:cNvSpPr txBox="1"/>
          <p:nvPr/>
        </p:nvSpPr>
        <p:spPr>
          <a:xfrm>
            <a:off x="736600" y="3009900"/>
            <a:ext cx="17145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50">
                <a:solidFill>
                  <a:srgbClr val="B7C2D1"/>
                </a:solidFill>
                <a:latin typeface="Arial" panose="020B0604020202020204" pitchFamily="34" charset="0"/>
              </a:rPr>
              <a:t>NYC Yellow Taxi + ride-sharing reference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371308E-AB40-6726-CA8E-74C5A9A74975}"/>
              </a:ext>
            </a:extLst>
          </p:cNvPr>
          <p:cNvSpPr txBox="1"/>
          <p:nvPr/>
        </p:nvSpPr>
        <p:spPr>
          <a:xfrm>
            <a:off x="2705100" y="1600200"/>
            <a:ext cx="4318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 b="1">
                <a:solidFill>
                  <a:srgbClr val="29B8E8"/>
                </a:solidFill>
                <a:latin typeface="Arial" panose="020B0604020202020204" pitchFamily="34" charset="0"/>
              </a:rPr>
              <a:t>02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5997214-5A5B-64E0-B9B4-7C1A1D9EA84E}"/>
              </a:ext>
            </a:extLst>
          </p:cNvPr>
          <p:cNvSpPr/>
          <p:nvPr/>
        </p:nvSpPr>
        <p:spPr>
          <a:xfrm>
            <a:off x="2705100" y="1917700"/>
            <a:ext cx="1549400" cy="38100"/>
          </a:xfrm>
          <a:prstGeom prst="rect">
            <a:avLst/>
          </a:prstGeom>
          <a:solidFill>
            <a:srgbClr val="29B8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DB8C7FF-F665-1DD6-300B-0793249FF48C}"/>
              </a:ext>
            </a:extLst>
          </p:cNvPr>
          <p:cNvSpPr txBox="1"/>
          <p:nvPr/>
        </p:nvSpPr>
        <p:spPr>
          <a:xfrm>
            <a:off x="2705100" y="2095500"/>
            <a:ext cx="1651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 b="1">
                <a:solidFill>
                  <a:srgbClr val="F7F8FA"/>
                </a:solidFill>
                <a:latin typeface="Arial" panose="020B0604020202020204" pitchFamily="34" charset="0"/>
              </a:rPr>
              <a:t>Data quality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E82A3A3-74DF-9496-3CEB-D11ABE147A8E}"/>
              </a:ext>
            </a:extLst>
          </p:cNvPr>
          <p:cNvSpPr txBox="1"/>
          <p:nvPr/>
        </p:nvSpPr>
        <p:spPr>
          <a:xfrm>
            <a:off x="2705100" y="2603500"/>
            <a:ext cx="17145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50" b="1">
                <a:solidFill>
                  <a:srgbClr val="29B8E8"/>
                </a:solidFill>
                <a:latin typeface="Arial" panose="020B0604020202020204" pitchFamily="34" charset="0"/>
              </a:rPr>
              <a:t>29,2% missing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06A8D5E-C78C-9683-C319-87C7CA9AF3C5}"/>
              </a:ext>
            </a:extLst>
          </p:cNvPr>
          <p:cNvSpPr txBox="1"/>
          <p:nvPr/>
        </p:nvSpPr>
        <p:spPr>
          <a:xfrm>
            <a:off x="2705100" y="3009900"/>
            <a:ext cx="17145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50">
                <a:solidFill>
                  <a:srgbClr val="B7C2D1"/>
                </a:solidFill>
                <a:latin typeface="Arial" panose="020B0604020202020204" pitchFamily="34" charset="0"/>
              </a:rPr>
              <a:t>Structural missing + outlier checks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589CB0E-644B-E4B7-38D9-758E4A2F1DBC}"/>
              </a:ext>
            </a:extLst>
          </p:cNvPr>
          <p:cNvSpPr txBox="1"/>
          <p:nvPr/>
        </p:nvSpPr>
        <p:spPr>
          <a:xfrm>
            <a:off x="4673600" y="1600200"/>
            <a:ext cx="4318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 b="1">
                <a:solidFill>
                  <a:srgbClr val="25D0A2"/>
                </a:solidFill>
                <a:latin typeface="Arial" panose="020B0604020202020204" pitchFamily="34" charset="0"/>
              </a:rPr>
              <a:t>03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EBAFC43-C627-D8F8-C8B9-CA5C11A823BC}"/>
              </a:ext>
            </a:extLst>
          </p:cNvPr>
          <p:cNvSpPr/>
          <p:nvPr/>
        </p:nvSpPr>
        <p:spPr>
          <a:xfrm>
            <a:off x="4673600" y="1917700"/>
            <a:ext cx="1549400" cy="38100"/>
          </a:xfrm>
          <a:prstGeom prst="rect">
            <a:avLst/>
          </a:prstGeom>
          <a:solidFill>
            <a:srgbClr val="25D0A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D2EDC14-28AD-76B3-D5E8-3C58370A6EFB}"/>
              </a:ext>
            </a:extLst>
          </p:cNvPr>
          <p:cNvSpPr txBox="1"/>
          <p:nvPr/>
        </p:nvSpPr>
        <p:spPr>
          <a:xfrm>
            <a:off x="4673600" y="2095500"/>
            <a:ext cx="1651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 b="1">
                <a:solidFill>
                  <a:srgbClr val="F7F8FA"/>
                </a:solidFill>
                <a:latin typeface="Arial" panose="020B0604020202020204" pitchFamily="34" charset="0"/>
              </a:rPr>
              <a:t>EDA signals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2880A89-0984-F875-BAAE-09DA362ADD42}"/>
              </a:ext>
            </a:extLst>
          </p:cNvPr>
          <p:cNvSpPr txBox="1"/>
          <p:nvPr/>
        </p:nvSpPr>
        <p:spPr>
          <a:xfrm>
            <a:off x="4673600" y="2603500"/>
            <a:ext cx="17145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50" b="1">
                <a:solidFill>
                  <a:srgbClr val="25D0A2"/>
                </a:solidFill>
                <a:latin typeface="Arial" panose="020B0604020202020204" pitchFamily="34" charset="0"/>
              </a:rPr>
              <a:t>Fare • distance • time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C420CF8-A781-8749-2950-271B25FB71CE}"/>
              </a:ext>
            </a:extLst>
          </p:cNvPr>
          <p:cNvSpPr txBox="1"/>
          <p:nvPr/>
        </p:nvSpPr>
        <p:spPr>
          <a:xfrm>
            <a:off x="4673600" y="3009900"/>
            <a:ext cx="17145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50">
                <a:solidFill>
                  <a:srgbClr val="B7C2D1"/>
                </a:solidFill>
                <a:latin typeface="Arial" panose="020B0604020202020204" pitchFamily="34" charset="0"/>
              </a:rPr>
              <a:t>Rider behavior patterns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11E33DA-C151-2BCA-12CE-E62FB7A10B50}"/>
              </a:ext>
            </a:extLst>
          </p:cNvPr>
          <p:cNvSpPr txBox="1"/>
          <p:nvPr/>
        </p:nvSpPr>
        <p:spPr>
          <a:xfrm>
            <a:off x="6642100" y="1600200"/>
            <a:ext cx="4318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 b="1">
                <a:solidFill>
                  <a:srgbClr val="E978C6"/>
                </a:solidFill>
                <a:latin typeface="Arial" panose="020B0604020202020204" pitchFamily="34" charset="0"/>
              </a:rPr>
              <a:t>04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7E427E3-89F5-2573-19A6-8AA750DDBA06}"/>
              </a:ext>
            </a:extLst>
          </p:cNvPr>
          <p:cNvSpPr/>
          <p:nvPr/>
        </p:nvSpPr>
        <p:spPr>
          <a:xfrm>
            <a:off x="6642100" y="1917700"/>
            <a:ext cx="1549400" cy="38100"/>
          </a:xfrm>
          <a:prstGeom prst="rect">
            <a:avLst/>
          </a:prstGeom>
          <a:solidFill>
            <a:srgbClr val="E978C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101DEDF-9720-69D8-7F47-38D02DBC4CDE}"/>
              </a:ext>
            </a:extLst>
          </p:cNvPr>
          <p:cNvSpPr txBox="1"/>
          <p:nvPr/>
        </p:nvSpPr>
        <p:spPr>
          <a:xfrm>
            <a:off x="6642100" y="2095500"/>
            <a:ext cx="1651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 b="1">
                <a:solidFill>
                  <a:srgbClr val="F7F8FA"/>
                </a:solidFill>
                <a:latin typeface="Arial" panose="020B0604020202020204" pitchFamily="34" charset="0"/>
              </a:rPr>
              <a:t>Simulation input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9FC1FBA-186A-9300-80E2-69948348A221}"/>
              </a:ext>
            </a:extLst>
          </p:cNvPr>
          <p:cNvSpPr txBox="1"/>
          <p:nvPr/>
        </p:nvSpPr>
        <p:spPr>
          <a:xfrm>
            <a:off x="6642100" y="2603500"/>
            <a:ext cx="17145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50" b="1">
                <a:solidFill>
                  <a:srgbClr val="E978C6"/>
                </a:solidFill>
                <a:latin typeface="Arial" panose="020B0604020202020204" pitchFamily="34" charset="0"/>
              </a:rPr>
              <a:t>20.000 users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8F1AF07-B7C9-1D2A-4459-3DFB51E9A584}"/>
              </a:ext>
            </a:extLst>
          </p:cNvPr>
          <p:cNvSpPr txBox="1"/>
          <p:nvPr/>
        </p:nvSpPr>
        <p:spPr>
          <a:xfrm>
            <a:off x="6642100" y="3009900"/>
            <a:ext cx="17145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50">
                <a:solidFill>
                  <a:srgbClr val="B7C2D1"/>
                </a:solidFill>
                <a:latin typeface="Arial" panose="020B0604020202020204" pitchFamily="34" charset="0"/>
              </a:rPr>
              <a:t>30-day synthetic cycle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12F33B8-6257-627B-C1B0-6BBE922824C2}"/>
              </a:ext>
            </a:extLst>
          </p:cNvPr>
          <p:cNvSpPr txBox="1"/>
          <p:nvPr/>
        </p:nvSpPr>
        <p:spPr>
          <a:xfrm>
            <a:off x="736600" y="4000500"/>
            <a:ext cx="76708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vi-VN" sz="1200" b="1">
                <a:solidFill>
                  <a:srgbClr val="29B8E8"/>
                </a:solidFill>
                <a:latin typeface="Arial" panose="020B0604020202020204" pitchFamily="34" charset="0"/>
              </a:rPr>
              <a:t>Các pattern quan sát được chuyển thành feature X</a:t>
            </a:r>
            <a:endParaRPr lang="en-US" sz="1200" b="1">
              <a:solidFill>
                <a:srgbClr val="29B8E8"/>
              </a:solidFill>
              <a:latin typeface="Arial" panose="020B0604020202020204" pitchFamily="34" charset="0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D1E5230-C36B-7AB7-ED0E-328153F7341E}"/>
              </a:ext>
            </a:extLst>
          </p:cNvPr>
          <p:cNvSpPr/>
          <p:nvPr/>
        </p:nvSpPr>
        <p:spPr>
          <a:xfrm>
            <a:off x="736600" y="4305300"/>
            <a:ext cx="7670800" cy="25400"/>
          </a:xfrm>
          <a:prstGeom prst="rect">
            <a:avLst/>
          </a:prstGeom>
          <a:solidFill>
            <a:srgbClr val="29B8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71261E9-2094-8F64-670F-63D2C3DB2E89}"/>
              </a:ext>
            </a:extLst>
          </p:cNvPr>
          <p:cNvSpPr/>
          <p:nvPr/>
        </p:nvSpPr>
        <p:spPr>
          <a:xfrm>
            <a:off x="736600" y="4584700"/>
            <a:ext cx="3286171" cy="330200"/>
          </a:xfrm>
          <a:prstGeom prst="rect">
            <a:avLst/>
          </a:prstGeom>
          <a:solidFill>
            <a:srgbClr val="29B8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180A434-CC93-6942-3707-F546EFFF23B7}"/>
              </a:ext>
            </a:extLst>
          </p:cNvPr>
          <p:cNvSpPr/>
          <p:nvPr/>
        </p:nvSpPr>
        <p:spPr>
          <a:xfrm>
            <a:off x="4022771" y="4584700"/>
            <a:ext cx="2063828" cy="330200"/>
          </a:xfrm>
          <a:prstGeom prst="rect">
            <a:avLst/>
          </a:prstGeom>
          <a:solidFill>
            <a:srgbClr val="25D0A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F19A3EEF-23AD-E6B1-C44D-DDAC3762628C}"/>
              </a:ext>
            </a:extLst>
          </p:cNvPr>
          <p:cNvSpPr/>
          <p:nvPr/>
        </p:nvSpPr>
        <p:spPr>
          <a:xfrm>
            <a:off x="6086599" y="4584700"/>
            <a:ext cx="1027888" cy="330200"/>
          </a:xfrm>
          <a:prstGeom prst="rect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EF9154C6-AEC5-F081-5717-0FCCE10BB50A}"/>
              </a:ext>
            </a:extLst>
          </p:cNvPr>
          <p:cNvSpPr/>
          <p:nvPr/>
        </p:nvSpPr>
        <p:spPr>
          <a:xfrm>
            <a:off x="7114487" y="4584700"/>
            <a:ext cx="1016764" cy="330200"/>
          </a:xfrm>
          <a:prstGeom prst="rect">
            <a:avLst/>
          </a:prstGeom>
          <a:solidFill>
            <a:srgbClr val="E978C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C55E8C3A-DC4B-9F2E-C28A-81FBE182828D}"/>
              </a:ext>
            </a:extLst>
          </p:cNvPr>
          <p:cNvSpPr/>
          <p:nvPr/>
        </p:nvSpPr>
        <p:spPr>
          <a:xfrm>
            <a:off x="8131251" y="4584700"/>
            <a:ext cx="276149" cy="330200"/>
          </a:xfrm>
          <a:prstGeom prst="rect">
            <a:avLst/>
          </a:prstGeom>
          <a:solidFill>
            <a:srgbClr val="FFB4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1045E439-98EC-4D66-5AAA-4604B0BB0FD2}"/>
              </a:ext>
            </a:extLst>
          </p:cNvPr>
          <p:cNvSpPr/>
          <p:nvPr/>
        </p:nvSpPr>
        <p:spPr>
          <a:xfrm>
            <a:off x="736600" y="5143500"/>
            <a:ext cx="101600" cy="101600"/>
          </a:xfrm>
          <a:prstGeom prst="ellipse">
            <a:avLst/>
          </a:prstGeom>
          <a:solidFill>
            <a:srgbClr val="29B8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E7DC613-37B7-1E28-E613-FB44D5F5373F}"/>
              </a:ext>
            </a:extLst>
          </p:cNvPr>
          <p:cNvSpPr txBox="1"/>
          <p:nvPr/>
        </p:nvSpPr>
        <p:spPr>
          <a:xfrm>
            <a:off x="889000" y="5067300"/>
            <a:ext cx="1460500" cy="482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50">
                <a:solidFill>
                  <a:srgbClr val="F7F8FA"/>
                </a:solidFill>
                <a:latin typeface="Arial" panose="020B0604020202020204" pitchFamily="34" charset="0"/>
              </a:rPr>
              <a:t>Urban Regulars
8.568 users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AEBB1882-F3FB-58DA-97A5-A3B92971D23E}"/>
              </a:ext>
            </a:extLst>
          </p:cNvPr>
          <p:cNvSpPr/>
          <p:nvPr/>
        </p:nvSpPr>
        <p:spPr>
          <a:xfrm>
            <a:off x="2921000" y="5143500"/>
            <a:ext cx="101600" cy="101600"/>
          </a:xfrm>
          <a:prstGeom prst="ellipse">
            <a:avLst/>
          </a:prstGeom>
          <a:solidFill>
            <a:srgbClr val="25D0A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1891B91-D1D7-445F-47B7-D3F901444B41}"/>
              </a:ext>
            </a:extLst>
          </p:cNvPr>
          <p:cNvSpPr txBox="1"/>
          <p:nvPr/>
        </p:nvSpPr>
        <p:spPr>
          <a:xfrm>
            <a:off x="3073400" y="5067300"/>
            <a:ext cx="1460500" cy="482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50">
                <a:solidFill>
                  <a:srgbClr val="F7F8FA"/>
                </a:solidFill>
                <a:latin typeface="Arial" panose="020B0604020202020204" pitchFamily="34" charset="0"/>
              </a:rPr>
              <a:t>Suburban Cash
5.381 users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D5DA63A1-FD26-FDAF-F85B-3D4112D8C003}"/>
              </a:ext>
            </a:extLst>
          </p:cNvPr>
          <p:cNvSpPr/>
          <p:nvPr/>
        </p:nvSpPr>
        <p:spPr>
          <a:xfrm>
            <a:off x="4737100" y="5143500"/>
            <a:ext cx="101600" cy="101600"/>
          </a:xfrm>
          <a:prstGeom prst="ellipse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B26A291-68F1-26EB-FD4B-47C90CC31C90}"/>
              </a:ext>
            </a:extLst>
          </p:cNvPr>
          <p:cNvSpPr txBox="1"/>
          <p:nvPr/>
        </p:nvSpPr>
        <p:spPr>
          <a:xfrm>
            <a:off x="4889500" y="5067300"/>
            <a:ext cx="1460500" cy="482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50">
                <a:solidFill>
                  <a:srgbClr val="F7F8FA"/>
                </a:solidFill>
                <a:latin typeface="Arial" panose="020B0604020202020204" pitchFamily="34" charset="0"/>
              </a:rPr>
              <a:t>Suburban Card
2.680 users</a:t>
            </a: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CA627EF7-7527-7109-F24E-D0963BE69880}"/>
              </a:ext>
            </a:extLst>
          </p:cNvPr>
          <p:cNvSpPr/>
          <p:nvPr/>
        </p:nvSpPr>
        <p:spPr>
          <a:xfrm>
            <a:off x="6197600" y="5143500"/>
            <a:ext cx="101600" cy="101600"/>
          </a:xfrm>
          <a:prstGeom prst="ellipse">
            <a:avLst/>
          </a:prstGeom>
          <a:solidFill>
            <a:srgbClr val="E978C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A5E697D-2D46-9399-CB99-F4321B5D7CE0}"/>
              </a:ext>
            </a:extLst>
          </p:cNvPr>
          <p:cNvSpPr txBox="1"/>
          <p:nvPr/>
        </p:nvSpPr>
        <p:spPr>
          <a:xfrm>
            <a:off x="6350000" y="5067300"/>
            <a:ext cx="1460500" cy="482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50">
                <a:solidFill>
                  <a:srgbClr val="F7F8FA"/>
                </a:solidFill>
                <a:latin typeface="Arial" panose="020B0604020202020204" pitchFamily="34" charset="0"/>
              </a:rPr>
              <a:t>Rain Riders
2.651 users</a:t>
            </a: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1842FDCD-3D2A-F78A-1C52-6C5AC6E6E739}"/>
              </a:ext>
            </a:extLst>
          </p:cNvPr>
          <p:cNvSpPr/>
          <p:nvPr/>
        </p:nvSpPr>
        <p:spPr>
          <a:xfrm>
            <a:off x="7429500" y="5143500"/>
            <a:ext cx="101600" cy="101600"/>
          </a:xfrm>
          <a:prstGeom prst="ellipse">
            <a:avLst/>
          </a:prstGeom>
          <a:solidFill>
            <a:srgbClr val="FFB4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A40F409-9106-BAFC-CCB1-33BD3CDBC10D}"/>
              </a:ext>
            </a:extLst>
          </p:cNvPr>
          <p:cNvSpPr txBox="1"/>
          <p:nvPr/>
        </p:nvSpPr>
        <p:spPr>
          <a:xfrm>
            <a:off x="7581900" y="5067300"/>
            <a:ext cx="1460500" cy="482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50">
                <a:solidFill>
                  <a:srgbClr val="F7F8FA"/>
                </a:solidFill>
                <a:latin typeface="Arial" panose="020B0604020202020204" pitchFamily="34" charset="0"/>
              </a:rPr>
              <a:t>Airport Business
720 users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8E1B589-FCAA-A3F7-35E6-54BC262D039F}"/>
              </a:ext>
            </a:extLst>
          </p:cNvPr>
          <p:cNvSpPr txBox="1"/>
          <p:nvPr/>
        </p:nvSpPr>
        <p:spPr>
          <a:xfrm>
            <a:off x="736600" y="5765800"/>
            <a:ext cx="7874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vi-VN" sz="950">
                <a:solidFill>
                  <a:srgbClr val="B7C2D1"/>
                </a:solidFill>
                <a:latin typeface="Arial" panose="020B0604020202020204" pitchFamily="34" charset="0"/>
              </a:rPr>
              <a:t>EDA không chứng minh causal effect; nó giúp thiết kế synthetic population có cấu trúc hợp lý.</a:t>
            </a:r>
            <a:endParaRPr lang="en-US" sz="950">
              <a:solidFill>
                <a:srgbClr val="B7C2D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2365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A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60C43F06-5AEA-C2B9-8704-012031FFABC1}"/>
              </a:ext>
            </a:extLst>
          </p:cNvPr>
          <p:cNvSpPr/>
          <p:nvPr/>
        </p:nvSpPr>
        <p:spPr>
          <a:xfrm>
            <a:off x="365760" y="0"/>
            <a:ext cx="137160" cy="6858000"/>
          </a:xfrm>
          <a:prstGeom prst="rect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SlideTitle">
            <a:extLst>
              <a:ext uri="{FF2B5EF4-FFF2-40B4-BE49-F238E27FC236}">
                <a16:creationId xmlns:a16="http://schemas.microsoft.com/office/drawing/2014/main" id="{FE915942-9615-A22E-A704-B174C1553D35}"/>
              </a:ext>
            </a:extLst>
          </p:cNvPr>
          <p:cNvSpPr txBox="1"/>
          <p:nvPr/>
        </p:nvSpPr>
        <p:spPr>
          <a:xfrm>
            <a:off x="736600" y="228600"/>
            <a:ext cx="81534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500" b="1">
                <a:solidFill>
                  <a:srgbClr val="F7F8FA"/>
                </a:solidFill>
                <a:latin typeface="Arial" panose="020B0604020202020204" pitchFamily="34" charset="0"/>
              </a:rPr>
              <a:t>Vì sao cần synthetic sandbox?</a:t>
            </a:r>
          </a:p>
        </p:txBody>
      </p:sp>
      <p:sp>
        <p:nvSpPr>
          <p:cNvPr id="21" name="SlideSubtitle">
            <a:extLst>
              <a:ext uri="{FF2B5EF4-FFF2-40B4-BE49-F238E27FC236}">
                <a16:creationId xmlns:a16="http://schemas.microsoft.com/office/drawing/2014/main" id="{18025FF7-2DA0-E972-BD6B-C0ADF06EA057}"/>
              </a:ext>
            </a:extLst>
          </p:cNvPr>
          <p:cNvSpPr txBox="1"/>
          <p:nvPr/>
        </p:nvSpPr>
        <p:spPr>
          <a:xfrm>
            <a:off x="736600" y="762000"/>
            <a:ext cx="8001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700">
                <a:solidFill>
                  <a:srgbClr val="F7F8FA"/>
                </a:solidFill>
                <a:latin typeface="Arial" panose="020B0604020202020204" pitchFamily="34" charset="0"/>
              </a:rPr>
              <a:t>Dữ liệu quan sát thiếu counterfactual Y0/Y1 để kiểm chứng causal methods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6F96CE3-9404-9155-50CF-EEC0BA301EE6}"/>
              </a:ext>
            </a:extLst>
          </p:cNvPr>
          <p:cNvSpPr/>
          <p:nvPr/>
        </p:nvSpPr>
        <p:spPr>
          <a:xfrm>
            <a:off x="736600" y="1193800"/>
            <a:ext cx="2286000" cy="38100"/>
          </a:xfrm>
          <a:prstGeom prst="rect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06AB4DE-4E08-F3FA-DE45-6D20008F2B4D}"/>
              </a:ext>
            </a:extLst>
          </p:cNvPr>
          <p:cNvSpPr/>
          <p:nvPr/>
        </p:nvSpPr>
        <p:spPr>
          <a:xfrm>
            <a:off x="365760" y="6217920"/>
            <a:ext cx="8778240" cy="365760"/>
          </a:xfrm>
          <a:prstGeom prst="rect">
            <a:avLst/>
          </a:prstGeom>
          <a:solidFill>
            <a:srgbClr val="2459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24FBC69-AD06-CAE7-AD74-CD17C4A70083}"/>
              </a:ext>
            </a:extLst>
          </p:cNvPr>
          <p:cNvSpPr txBox="1"/>
          <p:nvPr/>
        </p:nvSpPr>
        <p:spPr>
          <a:xfrm>
            <a:off x="546100" y="6299200"/>
            <a:ext cx="4953000" cy="215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850">
                <a:solidFill>
                  <a:srgbClr val="F7F8FA"/>
                </a:solidFill>
                <a:latin typeface="Arial" panose="020B0604020202020204" pitchFamily="34" charset="0"/>
              </a:rPr>
              <a:t>GSM Promotion Experimentation • Mentor Rehearsal • Data Science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BFBA420-96E0-860B-7918-52D11DF51D23}"/>
              </a:ext>
            </a:extLst>
          </p:cNvPr>
          <p:cNvSpPr/>
          <p:nvPr/>
        </p:nvSpPr>
        <p:spPr>
          <a:xfrm>
            <a:off x="365760" y="6583680"/>
            <a:ext cx="8778240" cy="274320"/>
          </a:xfrm>
          <a:prstGeom prst="rect">
            <a:avLst/>
          </a:prstGeom>
          <a:solidFill>
            <a:srgbClr val="0A142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084403D-34FE-99A0-5E01-C52832C460FE}"/>
              </a:ext>
            </a:extLst>
          </p:cNvPr>
          <p:cNvSpPr txBox="1"/>
          <p:nvPr/>
        </p:nvSpPr>
        <p:spPr>
          <a:xfrm>
            <a:off x="546100" y="6604000"/>
            <a:ext cx="3302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800">
                <a:solidFill>
                  <a:srgbClr val="F7F8FA"/>
                </a:solidFill>
                <a:latin typeface="Arial" panose="020B0604020202020204" pitchFamily="34" charset="0"/>
              </a:rPr>
              <a:t>Uplift Modeling &amp; Profit-aware Targeting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03A9DCE-8221-CB5D-9159-4C59FD684E43}"/>
              </a:ext>
            </a:extLst>
          </p:cNvPr>
          <p:cNvSpPr txBox="1"/>
          <p:nvPr/>
        </p:nvSpPr>
        <p:spPr>
          <a:xfrm>
            <a:off x="8318500" y="6604000"/>
            <a:ext cx="6731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850" b="1">
                <a:solidFill>
                  <a:srgbClr val="F7F8FA"/>
                </a:solidFill>
                <a:latin typeface="Arial" panose="020B0604020202020204" pitchFamily="34" charset="0"/>
              </a:rPr>
              <a:t>03 / 06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8216495A-EE82-C71B-17F0-701F4C86C2BC}"/>
              </a:ext>
            </a:extLst>
          </p:cNvPr>
          <p:cNvSpPr/>
          <p:nvPr/>
        </p:nvSpPr>
        <p:spPr>
          <a:xfrm>
            <a:off x="863600" y="1752600"/>
            <a:ext cx="7416800" cy="1219200"/>
          </a:xfrm>
          <a:prstGeom prst="roundRect">
            <a:avLst/>
          </a:prstGeom>
          <a:solidFill>
            <a:srgbClr val="172746"/>
          </a:solidFill>
          <a:ln w="12700">
            <a:solidFill>
              <a:srgbClr val="3446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123CC13-3229-1BEB-ED6D-73691E1CD8E7}"/>
              </a:ext>
            </a:extLst>
          </p:cNvPr>
          <p:cNvSpPr txBox="1"/>
          <p:nvPr/>
        </p:nvSpPr>
        <p:spPr>
          <a:xfrm>
            <a:off x="1117600" y="2032000"/>
            <a:ext cx="6908800" cy="660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900" b="1">
                <a:solidFill>
                  <a:srgbClr val="F7F8FA"/>
                </a:solidFill>
                <a:latin typeface="Arial" panose="020B0604020202020204" pitchFamily="34" charset="0"/>
              </a:rPr>
              <a:t>Observed data: chỉ thấy Y_obs = Y0 hoặc Y1, không thấy đồng thời cả hai trạng thái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BB5E7E4-5D02-CA71-FB15-778F939F10B0}"/>
              </a:ext>
            </a:extLst>
          </p:cNvPr>
          <p:cNvSpPr txBox="1"/>
          <p:nvPr/>
        </p:nvSpPr>
        <p:spPr>
          <a:xfrm>
            <a:off x="863600" y="3441700"/>
            <a:ext cx="3302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00" b="1">
                <a:solidFill>
                  <a:srgbClr val="FFC000"/>
                </a:solidFill>
                <a:latin typeface="Arial" panose="020B0604020202020204" pitchFamily="34" charset="0"/>
              </a:rPr>
              <a:t>Vấn đề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C63E5C9-6AA9-7743-4412-FEE74FEF201A}"/>
              </a:ext>
            </a:extLst>
          </p:cNvPr>
          <p:cNvSpPr/>
          <p:nvPr/>
        </p:nvSpPr>
        <p:spPr>
          <a:xfrm>
            <a:off x="863600" y="3746500"/>
            <a:ext cx="3302000" cy="25400"/>
          </a:xfrm>
          <a:prstGeom prst="rect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0DC6C65-3665-01ED-E203-F989ACF6626B}"/>
              </a:ext>
            </a:extLst>
          </p:cNvPr>
          <p:cNvSpPr txBox="1"/>
          <p:nvPr/>
        </p:nvSpPr>
        <p:spPr>
          <a:xfrm>
            <a:off x="863600" y="3924300"/>
            <a:ext cx="3429000" cy="1206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F7F8FA"/>
                </a:solidFill>
                <a:latin typeface="Arial" panose="020B0604020202020204" pitchFamily="34" charset="0"/>
              </a:rPr>
              <a:t>• Trip-level data không có treatment random
• Không biết user sẽ đi bao nhiêu chuyến nếu không nhận voucher
• Không thể kiểm chứng estimator nếu không có ground truth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901CC0C-E95A-4800-A3FA-ABD5EAAAEEE9}"/>
              </a:ext>
            </a:extLst>
          </p:cNvPr>
          <p:cNvSpPr txBox="1"/>
          <p:nvPr/>
        </p:nvSpPr>
        <p:spPr>
          <a:xfrm>
            <a:off x="4826000" y="3441700"/>
            <a:ext cx="34544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00" b="1">
                <a:solidFill>
                  <a:srgbClr val="E978C6"/>
                </a:solidFill>
                <a:latin typeface="Arial" panose="020B0604020202020204" pitchFamily="34" charset="0"/>
              </a:rPr>
              <a:t>Vai trò synthetic sandbox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8BC3E19-8841-DA82-8B2D-F4527A49F6C6}"/>
              </a:ext>
            </a:extLst>
          </p:cNvPr>
          <p:cNvSpPr/>
          <p:nvPr/>
        </p:nvSpPr>
        <p:spPr>
          <a:xfrm>
            <a:off x="4826000" y="3746500"/>
            <a:ext cx="3454400" cy="25400"/>
          </a:xfrm>
          <a:prstGeom prst="rect">
            <a:avLst/>
          </a:prstGeom>
          <a:solidFill>
            <a:srgbClr val="E978C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DB507D3-84FA-2A1B-CE15-1C6E5AE24451}"/>
              </a:ext>
            </a:extLst>
          </p:cNvPr>
          <p:cNvSpPr txBox="1"/>
          <p:nvPr/>
        </p:nvSpPr>
        <p:spPr>
          <a:xfrm>
            <a:off x="4826000" y="3924300"/>
            <a:ext cx="3454400" cy="1206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vi-VN" sz="1400">
                <a:solidFill>
                  <a:srgbClr val="F7F8FA"/>
                </a:solidFill>
                <a:latin typeface="Arial" panose="020B0604020202020204" pitchFamily="34" charset="0"/>
              </a:rPr>
              <a:t>• Sinh population 20.000 khách hàng có X, Y0, Y1
• Biết CATE/ITE để benchmark model
• Cho phép stress test measurement logic trước pilot thật</a:t>
            </a:r>
            <a:endParaRPr lang="en-US" sz="1400">
              <a:solidFill>
                <a:srgbClr val="F7F8FA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87379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AB99EE34-D140-66BD-239D-C597656E734C}"/>
              </a:ext>
            </a:extLst>
          </p:cNvPr>
          <p:cNvSpPr/>
          <p:nvPr/>
        </p:nvSpPr>
        <p:spPr>
          <a:xfrm>
            <a:off x="365760" y="0"/>
            <a:ext cx="137160" cy="6858000"/>
          </a:xfrm>
          <a:prstGeom prst="rect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SlideTitle">
            <a:extLst>
              <a:ext uri="{FF2B5EF4-FFF2-40B4-BE49-F238E27FC236}">
                <a16:creationId xmlns:a16="http://schemas.microsoft.com/office/drawing/2014/main" id="{A50E3BD2-F00C-4281-23FF-AE924F6C4201}"/>
              </a:ext>
            </a:extLst>
          </p:cNvPr>
          <p:cNvSpPr txBox="1"/>
          <p:nvPr/>
        </p:nvSpPr>
        <p:spPr>
          <a:xfrm>
            <a:off x="736600" y="228600"/>
            <a:ext cx="81534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2900" b="1">
                <a:solidFill>
                  <a:srgbClr val="F7F8FA"/>
                </a:solidFill>
                <a:latin typeface="Arial" panose="020B0604020202020204" pitchFamily="34" charset="0"/>
              </a:rPr>
              <a:t>Quy trình: X → Y0 → CATE/ITE → Y1</a:t>
            </a:r>
            <a:endParaRPr lang="en-US" sz="2900" b="1">
              <a:solidFill>
                <a:srgbClr val="F7F8FA"/>
              </a:solidFill>
              <a:latin typeface="Arial" panose="020B0604020202020204" pitchFamily="34" charset="0"/>
            </a:endParaRPr>
          </a:p>
        </p:txBody>
      </p:sp>
      <p:sp>
        <p:nvSpPr>
          <p:cNvPr id="21" name="SlideSubtitle">
            <a:extLst>
              <a:ext uri="{FF2B5EF4-FFF2-40B4-BE49-F238E27FC236}">
                <a16:creationId xmlns:a16="http://schemas.microsoft.com/office/drawing/2014/main" id="{493C4CA6-2846-D076-98F4-D127CEBA6CB0}"/>
              </a:ext>
            </a:extLst>
          </p:cNvPr>
          <p:cNvSpPr txBox="1"/>
          <p:nvPr/>
        </p:nvSpPr>
        <p:spPr>
          <a:xfrm>
            <a:off x="736600" y="762000"/>
            <a:ext cx="8001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700">
                <a:solidFill>
                  <a:srgbClr val="F7F8FA"/>
                </a:solidFill>
                <a:latin typeface="Arial" panose="020B0604020202020204" pitchFamily="34" charset="0"/>
              </a:rPr>
              <a:t>Tách baseline demand khỏi effect voucher để tạo ground truth cấp user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F60C367-F604-245C-FC64-B763E17C572C}"/>
              </a:ext>
            </a:extLst>
          </p:cNvPr>
          <p:cNvSpPr/>
          <p:nvPr/>
        </p:nvSpPr>
        <p:spPr>
          <a:xfrm>
            <a:off x="736600" y="1193800"/>
            <a:ext cx="2286000" cy="38100"/>
          </a:xfrm>
          <a:prstGeom prst="rect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A436F1E-C981-BE2E-06C7-140FF6878009}"/>
              </a:ext>
            </a:extLst>
          </p:cNvPr>
          <p:cNvSpPr/>
          <p:nvPr/>
        </p:nvSpPr>
        <p:spPr>
          <a:xfrm>
            <a:off x="365760" y="6217920"/>
            <a:ext cx="8778240" cy="365760"/>
          </a:xfrm>
          <a:prstGeom prst="rect">
            <a:avLst/>
          </a:prstGeom>
          <a:solidFill>
            <a:srgbClr val="2459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9885949-87F9-45F9-D528-701828FB59B2}"/>
              </a:ext>
            </a:extLst>
          </p:cNvPr>
          <p:cNvSpPr txBox="1"/>
          <p:nvPr/>
        </p:nvSpPr>
        <p:spPr>
          <a:xfrm>
            <a:off x="546100" y="6299200"/>
            <a:ext cx="4953000" cy="215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850">
                <a:solidFill>
                  <a:srgbClr val="F7F8FA"/>
                </a:solidFill>
                <a:latin typeface="Arial" panose="020B0604020202020204" pitchFamily="34" charset="0"/>
              </a:rPr>
              <a:t>GSM Promotion Experimentation • Mentor Rehearsal • Data Science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E2D7DF7-AA09-CD97-5987-6396652FBD72}"/>
              </a:ext>
            </a:extLst>
          </p:cNvPr>
          <p:cNvSpPr/>
          <p:nvPr/>
        </p:nvSpPr>
        <p:spPr>
          <a:xfrm>
            <a:off x="365760" y="6583680"/>
            <a:ext cx="8778240" cy="274320"/>
          </a:xfrm>
          <a:prstGeom prst="rect">
            <a:avLst/>
          </a:prstGeom>
          <a:solidFill>
            <a:srgbClr val="0A142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36B3E15-5DE4-3B85-8B28-6F90EDD9C605}"/>
              </a:ext>
            </a:extLst>
          </p:cNvPr>
          <p:cNvSpPr txBox="1"/>
          <p:nvPr/>
        </p:nvSpPr>
        <p:spPr>
          <a:xfrm>
            <a:off x="546100" y="6604000"/>
            <a:ext cx="3302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800">
                <a:solidFill>
                  <a:srgbClr val="F7F8FA"/>
                </a:solidFill>
                <a:latin typeface="Arial" panose="020B0604020202020204" pitchFamily="34" charset="0"/>
              </a:rPr>
              <a:t>Uplift Modeling &amp; Profit-aware Targeting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73474D6-AEB1-E5F2-1A98-3454ED7D982F}"/>
              </a:ext>
            </a:extLst>
          </p:cNvPr>
          <p:cNvSpPr txBox="1"/>
          <p:nvPr/>
        </p:nvSpPr>
        <p:spPr>
          <a:xfrm>
            <a:off x="8318500" y="6604000"/>
            <a:ext cx="6731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850" b="1">
                <a:solidFill>
                  <a:srgbClr val="F7F8FA"/>
                </a:solidFill>
                <a:latin typeface="Arial" panose="020B0604020202020204" pitchFamily="34" charset="0"/>
              </a:rPr>
              <a:t>04 / 06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463A0710-AC60-7713-F2FE-471AC3E973B0}"/>
              </a:ext>
            </a:extLst>
          </p:cNvPr>
          <p:cNvSpPr/>
          <p:nvPr/>
        </p:nvSpPr>
        <p:spPr>
          <a:xfrm>
            <a:off x="939800" y="1651000"/>
            <a:ext cx="7264400" cy="965200"/>
          </a:xfrm>
          <a:prstGeom prst="roundRect">
            <a:avLst/>
          </a:prstGeom>
          <a:solidFill>
            <a:srgbClr val="172746"/>
          </a:solidFill>
          <a:ln w="12700">
            <a:solidFill>
              <a:srgbClr val="3446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402146E-2695-6082-531D-42FDEE2E627D}"/>
              </a:ext>
            </a:extLst>
          </p:cNvPr>
          <p:cNvSpPr txBox="1"/>
          <p:nvPr/>
        </p:nvSpPr>
        <p:spPr>
          <a:xfrm>
            <a:off x="1168400" y="1943100"/>
            <a:ext cx="68072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s-ES" sz="2200" b="1">
                <a:solidFill>
                  <a:srgbClr val="F7F8FA"/>
                </a:solidFill>
                <a:latin typeface="Arial" panose="020B0604020202020204" pitchFamily="34" charset="0"/>
              </a:rPr>
              <a:t>X  →  Y0  →  CATE / ITE  →  Y1</a:t>
            </a:r>
            <a:endParaRPr lang="en-US" sz="2200" b="1">
              <a:solidFill>
                <a:srgbClr val="F7F8FA"/>
              </a:solidFill>
              <a:latin typeface="Arial" panose="020B06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57DF97C-9E54-EC54-ADF3-0D8E9402CA2C}"/>
              </a:ext>
            </a:extLst>
          </p:cNvPr>
          <p:cNvSpPr txBox="1"/>
          <p:nvPr/>
        </p:nvSpPr>
        <p:spPr>
          <a:xfrm>
            <a:off x="2019300" y="2425700"/>
            <a:ext cx="18415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900" b="1">
                <a:solidFill>
                  <a:srgbClr val="25D0A2"/>
                </a:solidFill>
                <a:latin typeface="Arial" panose="020B0604020202020204" pitchFamily="34" charset="0"/>
              </a:rPr>
              <a:t>Observed features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A305583-1DDF-718D-6BCC-D2A38D2759B5}"/>
              </a:ext>
            </a:extLst>
          </p:cNvPr>
          <p:cNvSpPr txBox="1"/>
          <p:nvPr/>
        </p:nvSpPr>
        <p:spPr>
          <a:xfrm>
            <a:off x="5486400" y="2425700"/>
            <a:ext cx="19685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900" b="1">
                <a:solidFill>
                  <a:srgbClr val="FF5D66"/>
                </a:solidFill>
                <a:latin typeface="Arial" panose="020B0604020202020204" pitchFamily="34" charset="0"/>
              </a:rPr>
              <a:t>potential outcomes + effect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2A9FED4-F5B2-8B1D-7D5C-15F12778D909}"/>
              </a:ext>
            </a:extLst>
          </p:cNvPr>
          <p:cNvCxnSpPr/>
          <p:nvPr/>
        </p:nvCxnSpPr>
        <p:spPr>
          <a:xfrm>
            <a:off x="1447800" y="3860800"/>
            <a:ext cx="6223000" cy="0"/>
          </a:xfrm>
          <a:prstGeom prst="line">
            <a:avLst/>
          </a:prstGeom>
          <a:ln w="38100">
            <a:solidFill>
              <a:srgbClr val="60718A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EEBC48B4-037A-2D9E-F496-E5D8105AEAF6}"/>
              </a:ext>
            </a:extLst>
          </p:cNvPr>
          <p:cNvSpPr/>
          <p:nvPr/>
        </p:nvSpPr>
        <p:spPr>
          <a:xfrm>
            <a:off x="1320800" y="3632200"/>
            <a:ext cx="457200" cy="457200"/>
          </a:xfrm>
          <a:prstGeom prst="ellipse">
            <a:avLst/>
          </a:prstGeom>
          <a:solidFill>
            <a:srgbClr val="25D0A2"/>
          </a:solidFill>
          <a:ln w="15240">
            <a:solidFill>
              <a:srgbClr val="0A14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E35B633-9983-A56A-1635-6C2C633C30CA}"/>
              </a:ext>
            </a:extLst>
          </p:cNvPr>
          <p:cNvSpPr txBox="1"/>
          <p:nvPr/>
        </p:nvSpPr>
        <p:spPr>
          <a:xfrm>
            <a:off x="1371600" y="3733800"/>
            <a:ext cx="3556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000" b="1">
                <a:solidFill>
                  <a:srgbClr val="0A1423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8A19C93-E48A-800D-8F2F-CB5E234BE7B8}"/>
              </a:ext>
            </a:extLst>
          </p:cNvPr>
          <p:cNvSpPr txBox="1"/>
          <p:nvPr/>
        </p:nvSpPr>
        <p:spPr>
          <a:xfrm>
            <a:off x="812800" y="4241800"/>
            <a:ext cx="1473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300" b="1">
                <a:solidFill>
                  <a:srgbClr val="25D0A2"/>
                </a:solidFill>
                <a:latin typeface="Arial" panose="020B0604020202020204" pitchFamily="34" charset="0"/>
              </a:rPr>
              <a:t>X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411EC57-C060-08AB-1EC3-0BF90E85527F}"/>
              </a:ext>
            </a:extLst>
          </p:cNvPr>
          <p:cNvSpPr txBox="1"/>
          <p:nvPr/>
        </p:nvSpPr>
        <p:spPr>
          <a:xfrm>
            <a:off x="711200" y="4546600"/>
            <a:ext cx="16764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vi-VN" sz="1050">
                <a:solidFill>
                  <a:srgbClr val="F7F8FA"/>
                </a:solidFill>
                <a:latin typeface="Arial" panose="020B0604020202020204" pitchFamily="34" charset="0"/>
              </a:rPr>
              <a:t>Đặc trưng trước treatment: lịch sử rides, urban, recency, fare</a:t>
            </a:r>
            <a:endParaRPr lang="en-US" sz="1050">
              <a:solidFill>
                <a:srgbClr val="F7F8FA"/>
              </a:solidFill>
              <a:latin typeface="Arial" panose="020B0604020202020204" pitchFamily="34" charset="0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5B2F1ECC-31D3-B8DC-733C-E156DEE28CB2}"/>
              </a:ext>
            </a:extLst>
          </p:cNvPr>
          <p:cNvSpPr/>
          <p:nvPr/>
        </p:nvSpPr>
        <p:spPr>
          <a:xfrm>
            <a:off x="3327400" y="3632200"/>
            <a:ext cx="457200" cy="457200"/>
          </a:xfrm>
          <a:prstGeom prst="ellipse">
            <a:avLst/>
          </a:prstGeom>
          <a:solidFill>
            <a:srgbClr val="29B8E8"/>
          </a:solidFill>
          <a:ln w="15240">
            <a:solidFill>
              <a:srgbClr val="0A14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5316DCE-DACC-6B42-45EB-F594EE730C9C}"/>
              </a:ext>
            </a:extLst>
          </p:cNvPr>
          <p:cNvSpPr txBox="1"/>
          <p:nvPr/>
        </p:nvSpPr>
        <p:spPr>
          <a:xfrm>
            <a:off x="3378200" y="3733800"/>
            <a:ext cx="3556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000" b="1">
                <a:solidFill>
                  <a:srgbClr val="0A1423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28EEF46-147A-48B8-FF1A-58BFA025E306}"/>
              </a:ext>
            </a:extLst>
          </p:cNvPr>
          <p:cNvSpPr txBox="1"/>
          <p:nvPr/>
        </p:nvSpPr>
        <p:spPr>
          <a:xfrm>
            <a:off x="2819400" y="4241800"/>
            <a:ext cx="1473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300" b="1">
                <a:solidFill>
                  <a:srgbClr val="29B8E8"/>
                </a:solidFill>
                <a:latin typeface="Arial" panose="020B0604020202020204" pitchFamily="34" charset="0"/>
              </a:rPr>
              <a:t>Y0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165C77B-B55F-8F65-FA97-87AEFBE5F042}"/>
              </a:ext>
            </a:extLst>
          </p:cNvPr>
          <p:cNvSpPr txBox="1"/>
          <p:nvPr/>
        </p:nvSpPr>
        <p:spPr>
          <a:xfrm>
            <a:off x="2717800" y="4546600"/>
            <a:ext cx="16764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050">
                <a:solidFill>
                  <a:srgbClr val="F7F8FA"/>
                </a:solidFill>
                <a:latin typeface="Arial" panose="020B0604020202020204" pitchFamily="34" charset="0"/>
              </a:rPr>
              <a:t>Potential outcome khi không có voucher, sinh bằng ZINB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A32D195F-9607-61C7-1A02-1FC652B82F9A}"/>
              </a:ext>
            </a:extLst>
          </p:cNvPr>
          <p:cNvSpPr/>
          <p:nvPr/>
        </p:nvSpPr>
        <p:spPr>
          <a:xfrm>
            <a:off x="5334000" y="3632200"/>
            <a:ext cx="457200" cy="457200"/>
          </a:xfrm>
          <a:prstGeom prst="ellipse">
            <a:avLst/>
          </a:prstGeom>
          <a:solidFill>
            <a:srgbClr val="FF5D66"/>
          </a:solidFill>
          <a:ln w="15240">
            <a:solidFill>
              <a:srgbClr val="0A14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2DD0F91-0CA1-BF7A-0CD1-D398EABC7F47}"/>
              </a:ext>
            </a:extLst>
          </p:cNvPr>
          <p:cNvSpPr txBox="1"/>
          <p:nvPr/>
        </p:nvSpPr>
        <p:spPr>
          <a:xfrm>
            <a:off x="5384800" y="3733800"/>
            <a:ext cx="3556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000" b="1">
                <a:solidFill>
                  <a:srgbClr val="0A1423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31B6898-36A5-3BA0-428D-45FEA0C80D7F}"/>
              </a:ext>
            </a:extLst>
          </p:cNvPr>
          <p:cNvSpPr txBox="1"/>
          <p:nvPr/>
        </p:nvSpPr>
        <p:spPr>
          <a:xfrm>
            <a:off x="4826000" y="4241800"/>
            <a:ext cx="1473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300" b="1">
                <a:solidFill>
                  <a:srgbClr val="FF5D66"/>
                </a:solidFill>
                <a:latin typeface="Arial" panose="020B0604020202020204" pitchFamily="34" charset="0"/>
              </a:rPr>
              <a:t>CATE / ITE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963D89C-51E8-2894-44AA-A3D5A57F591A}"/>
              </a:ext>
            </a:extLst>
          </p:cNvPr>
          <p:cNvSpPr txBox="1"/>
          <p:nvPr/>
        </p:nvSpPr>
        <p:spPr>
          <a:xfrm>
            <a:off x="4724400" y="4546600"/>
            <a:ext cx="16764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050">
                <a:solidFill>
                  <a:srgbClr val="F7F8FA"/>
                </a:solidFill>
                <a:latin typeface="Arial" panose="020B0604020202020204" pitchFamily="34" charset="0"/>
              </a:rPr>
              <a:t>Expected và realized treatment effect theo từng user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37E0C3A7-AE4E-2D25-766B-505C5BC32FD7}"/>
              </a:ext>
            </a:extLst>
          </p:cNvPr>
          <p:cNvSpPr/>
          <p:nvPr/>
        </p:nvSpPr>
        <p:spPr>
          <a:xfrm>
            <a:off x="7340600" y="3632200"/>
            <a:ext cx="457200" cy="457200"/>
          </a:xfrm>
          <a:prstGeom prst="ellipse">
            <a:avLst/>
          </a:prstGeom>
          <a:solidFill>
            <a:srgbClr val="FFC000"/>
          </a:solidFill>
          <a:ln w="15240">
            <a:solidFill>
              <a:srgbClr val="0A14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B1BFA5D-FB09-7691-C812-207210F3C099}"/>
              </a:ext>
            </a:extLst>
          </p:cNvPr>
          <p:cNvSpPr txBox="1"/>
          <p:nvPr/>
        </p:nvSpPr>
        <p:spPr>
          <a:xfrm>
            <a:off x="7391400" y="3733800"/>
            <a:ext cx="3556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000" b="1">
                <a:solidFill>
                  <a:srgbClr val="0A1423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8BE1CE2-0797-10CC-75C8-5F59E4755D3D}"/>
              </a:ext>
            </a:extLst>
          </p:cNvPr>
          <p:cNvSpPr txBox="1"/>
          <p:nvPr/>
        </p:nvSpPr>
        <p:spPr>
          <a:xfrm>
            <a:off x="6832600" y="4241800"/>
            <a:ext cx="1473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300" b="1">
                <a:solidFill>
                  <a:srgbClr val="FFC000"/>
                </a:solidFill>
                <a:latin typeface="Arial" panose="020B0604020202020204" pitchFamily="34" charset="0"/>
              </a:rPr>
              <a:t>Y1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323E819-D930-4043-1E8A-4D21F2BA8386}"/>
              </a:ext>
            </a:extLst>
          </p:cNvPr>
          <p:cNvSpPr txBox="1"/>
          <p:nvPr/>
        </p:nvSpPr>
        <p:spPr>
          <a:xfrm>
            <a:off x="6731000" y="4546600"/>
            <a:ext cx="16764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050">
                <a:solidFill>
                  <a:srgbClr val="F7F8FA"/>
                </a:solidFill>
                <a:latin typeface="Arial" panose="020B0604020202020204" pitchFamily="34" charset="0"/>
              </a:rPr>
              <a:t>Potential outcome khi có voucher; outcome quan sát phụ thuộc assignment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8E63DE08-7530-8E12-0D49-B0A316269E6A}"/>
              </a:ext>
            </a:extLst>
          </p:cNvPr>
          <p:cNvSpPr/>
          <p:nvPr/>
        </p:nvSpPr>
        <p:spPr>
          <a:xfrm>
            <a:off x="939800" y="5346700"/>
            <a:ext cx="7264400" cy="546100"/>
          </a:xfrm>
          <a:prstGeom prst="roundRect">
            <a:avLst/>
          </a:prstGeom>
          <a:solidFill>
            <a:srgbClr val="111C30"/>
          </a:solidFill>
          <a:ln w="12700">
            <a:solidFill>
              <a:srgbClr val="3446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E49230F-C8F2-7BE7-99FC-7F6E121C84FF}"/>
              </a:ext>
            </a:extLst>
          </p:cNvPr>
          <p:cNvSpPr txBox="1"/>
          <p:nvPr/>
        </p:nvSpPr>
        <p:spPr>
          <a:xfrm>
            <a:off x="1168400" y="5410200"/>
            <a:ext cx="6807200" cy="44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300" b="1">
                <a:solidFill>
                  <a:srgbClr val="F7F8FA"/>
                </a:solidFill>
                <a:latin typeface="Arial" panose="020B0604020202020204" pitchFamily="34" charset="0"/>
              </a:rPr>
              <a:t>A/B chỉ thấy một outcome; synthetic giữ cả hai để kiểm tra estimator và policy.</a:t>
            </a:r>
          </a:p>
        </p:txBody>
      </p:sp>
    </p:spTree>
    <p:extLst>
      <p:ext uri="{BB962C8B-B14F-4D97-AF65-F5344CB8AC3E}">
        <p14:creationId xmlns:p14="http://schemas.microsoft.com/office/powerpoint/2010/main" val="4283573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FEDD262F-EBCC-C469-F869-2E7BD5E054AE}"/>
              </a:ext>
            </a:extLst>
          </p:cNvPr>
          <p:cNvSpPr/>
          <p:nvPr/>
        </p:nvSpPr>
        <p:spPr>
          <a:xfrm>
            <a:off x="365760" y="0"/>
            <a:ext cx="137160" cy="6858000"/>
          </a:xfrm>
          <a:prstGeom prst="rect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SlideTitle">
            <a:extLst>
              <a:ext uri="{FF2B5EF4-FFF2-40B4-BE49-F238E27FC236}">
                <a16:creationId xmlns:a16="http://schemas.microsoft.com/office/drawing/2014/main" id="{9CA199CF-B18D-B0B1-37C7-18D09C5E5D05}"/>
              </a:ext>
            </a:extLst>
          </p:cNvPr>
          <p:cNvSpPr txBox="1"/>
          <p:nvPr/>
        </p:nvSpPr>
        <p:spPr>
          <a:xfrm>
            <a:off x="736600" y="228600"/>
            <a:ext cx="81534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700" b="1">
                <a:solidFill>
                  <a:srgbClr val="F7F8FA"/>
                </a:solidFill>
                <a:latin typeface="Arial" panose="020B0604020202020204" pitchFamily="34" charset="0"/>
              </a:rPr>
              <a:t>Segmentation → dashboard quyết định</a:t>
            </a:r>
          </a:p>
        </p:txBody>
      </p:sp>
      <p:sp>
        <p:nvSpPr>
          <p:cNvPr id="25" name="SlideSubtitle">
            <a:extLst>
              <a:ext uri="{FF2B5EF4-FFF2-40B4-BE49-F238E27FC236}">
                <a16:creationId xmlns:a16="http://schemas.microsoft.com/office/drawing/2014/main" id="{C9A4012E-9092-41F6-DDB9-0820FF08999F}"/>
              </a:ext>
            </a:extLst>
          </p:cNvPr>
          <p:cNvSpPr txBox="1"/>
          <p:nvPr/>
        </p:nvSpPr>
        <p:spPr>
          <a:xfrm>
            <a:off x="736600" y="762000"/>
            <a:ext cx="8001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700">
                <a:solidFill>
                  <a:srgbClr val="F7F8FA"/>
                </a:solidFill>
                <a:latin typeface="Arial" panose="020B0604020202020204" pitchFamily="34" charset="0"/>
              </a:rPr>
              <a:t>Persona để giải thích; CATE + EV + budget để chọn user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F002069-B7AC-471A-792E-815582CE2B36}"/>
              </a:ext>
            </a:extLst>
          </p:cNvPr>
          <p:cNvSpPr/>
          <p:nvPr/>
        </p:nvSpPr>
        <p:spPr>
          <a:xfrm>
            <a:off x="736600" y="1193800"/>
            <a:ext cx="2286000" cy="38100"/>
          </a:xfrm>
          <a:prstGeom prst="rect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5F8CF67-1090-F167-FADD-B87FB190864F}"/>
              </a:ext>
            </a:extLst>
          </p:cNvPr>
          <p:cNvSpPr/>
          <p:nvPr/>
        </p:nvSpPr>
        <p:spPr>
          <a:xfrm>
            <a:off x="365760" y="6217920"/>
            <a:ext cx="8778240" cy="365760"/>
          </a:xfrm>
          <a:prstGeom prst="rect">
            <a:avLst/>
          </a:prstGeom>
          <a:solidFill>
            <a:srgbClr val="2459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9EBED89-7976-D26D-4AE6-E1A7C9270741}"/>
              </a:ext>
            </a:extLst>
          </p:cNvPr>
          <p:cNvSpPr txBox="1"/>
          <p:nvPr/>
        </p:nvSpPr>
        <p:spPr>
          <a:xfrm>
            <a:off x="546100" y="6299200"/>
            <a:ext cx="4953000" cy="215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850">
                <a:solidFill>
                  <a:srgbClr val="F7F8FA"/>
                </a:solidFill>
                <a:latin typeface="Arial" panose="020B0604020202020204" pitchFamily="34" charset="0"/>
              </a:rPr>
              <a:t>GSM Promotion Experimentation • Mentor Rehearsal • Data Science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1CA5D81-93AC-C351-2A85-E80EAB1C310D}"/>
              </a:ext>
            </a:extLst>
          </p:cNvPr>
          <p:cNvSpPr/>
          <p:nvPr/>
        </p:nvSpPr>
        <p:spPr>
          <a:xfrm>
            <a:off x="365760" y="6583680"/>
            <a:ext cx="8778240" cy="274320"/>
          </a:xfrm>
          <a:prstGeom prst="rect">
            <a:avLst/>
          </a:prstGeom>
          <a:solidFill>
            <a:srgbClr val="0A142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F737231-A639-7746-58B3-A3F1B49C68E0}"/>
              </a:ext>
            </a:extLst>
          </p:cNvPr>
          <p:cNvSpPr txBox="1"/>
          <p:nvPr/>
        </p:nvSpPr>
        <p:spPr>
          <a:xfrm>
            <a:off x="546100" y="6604000"/>
            <a:ext cx="3302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800">
                <a:solidFill>
                  <a:srgbClr val="F7F8FA"/>
                </a:solidFill>
                <a:latin typeface="Arial" panose="020B0604020202020204" pitchFamily="34" charset="0"/>
              </a:rPr>
              <a:t>Uplift Modeling &amp; Profit-aware Targeting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4E37D7F-67BE-E69E-FBDA-F04B32B38A64}"/>
              </a:ext>
            </a:extLst>
          </p:cNvPr>
          <p:cNvSpPr txBox="1"/>
          <p:nvPr/>
        </p:nvSpPr>
        <p:spPr>
          <a:xfrm>
            <a:off x="8318500" y="6604000"/>
            <a:ext cx="6731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850" b="1">
                <a:solidFill>
                  <a:srgbClr val="F7F8FA"/>
                </a:solidFill>
                <a:latin typeface="Arial" panose="020B0604020202020204" pitchFamily="34" charset="0"/>
              </a:rPr>
              <a:t>05 / 06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32D2E6B-3850-4F9F-2C77-9FE1B187629D}"/>
              </a:ext>
            </a:extLst>
          </p:cNvPr>
          <p:cNvCxnSpPr/>
          <p:nvPr/>
        </p:nvCxnSpPr>
        <p:spPr>
          <a:xfrm>
            <a:off x="2603500" y="2730500"/>
            <a:ext cx="508000" cy="0"/>
          </a:xfrm>
          <a:prstGeom prst="line">
            <a:avLst/>
          </a:prstGeom>
          <a:ln w="25400">
            <a:solidFill>
              <a:srgbClr val="60718A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D5199E4-EAE9-C2CA-660A-1706B487B607}"/>
              </a:ext>
            </a:extLst>
          </p:cNvPr>
          <p:cNvCxnSpPr/>
          <p:nvPr/>
        </p:nvCxnSpPr>
        <p:spPr>
          <a:xfrm>
            <a:off x="4572000" y="2730500"/>
            <a:ext cx="508000" cy="0"/>
          </a:xfrm>
          <a:prstGeom prst="line">
            <a:avLst/>
          </a:prstGeom>
          <a:ln w="25400">
            <a:solidFill>
              <a:srgbClr val="60718A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348F150-7C73-E4FD-DF13-32D2C8C3D262}"/>
              </a:ext>
            </a:extLst>
          </p:cNvPr>
          <p:cNvCxnSpPr/>
          <p:nvPr/>
        </p:nvCxnSpPr>
        <p:spPr>
          <a:xfrm>
            <a:off x="6540500" y="2730500"/>
            <a:ext cx="508000" cy="0"/>
          </a:xfrm>
          <a:prstGeom prst="line">
            <a:avLst/>
          </a:prstGeom>
          <a:ln w="25400">
            <a:solidFill>
              <a:srgbClr val="60718A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92EB9048-AF30-0029-53E1-147528FBAAA1}"/>
              </a:ext>
            </a:extLst>
          </p:cNvPr>
          <p:cNvSpPr txBox="1"/>
          <p:nvPr/>
        </p:nvSpPr>
        <p:spPr>
          <a:xfrm>
            <a:off x="736600" y="1600200"/>
            <a:ext cx="4318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 b="1">
                <a:solidFill>
                  <a:srgbClr val="FFC000"/>
                </a:solidFill>
                <a:latin typeface="Arial" panose="020B0604020202020204" pitchFamily="34" charset="0"/>
              </a:rPr>
              <a:t>01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8522102-7171-4B14-1A7E-13411EEE3697}"/>
              </a:ext>
            </a:extLst>
          </p:cNvPr>
          <p:cNvSpPr/>
          <p:nvPr/>
        </p:nvSpPr>
        <p:spPr>
          <a:xfrm>
            <a:off x="736600" y="1917700"/>
            <a:ext cx="1549400" cy="38100"/>
          </a:xfrm>
          <a:prstGeom prst="rect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E46B55B-C817-D2D8-6A21-98715922B6A8}"/>
              </a:ext>
            </a:extLst>
          </p:cNvPr>
          <p:cNvSpPr txBox="1"/>
          <p:nvPr/>
        </p:nvSpPr>
        <p:spPr>
          <a:xfrm>
            <a:off x="736600" y="2095500"/>
            <a:ext cx="1651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 b="1">
                <a:solidFill>
                  <a:srgbClr val="F7F8FA"/>
                </a:solidFill>
                <a:latin typeface="Arial" panose="020B0604020202020204" pitchFamily="34" charset="0"/>
              </a:rPr>
              <a:t>Persona layer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7983591-C651-96B1-C5CC-52B1DF120470}"/>
              </a:ext>
            </a:extLst>
          </p:cNvPr>
          <p:cNvSpPr txBox="1"/>
          <p:nvPr/>
        </p:nvSpPr>
        <p:spPr>
          <a:xfrm>
            <a:off x="736600" y="2603500"/>
            <a:ext cx="17145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50" b="1">
                <a:solidFill>
                  <a:srgbClr val="FFC000"/>
                </a:solidFill>
                <a:latin typeface="Arial" panose="020B0604020202020204" pitchFamily="34" charset="0"/>
              </a:rPr>
              <a:t>5 nhóm hành vi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2799386-89D4-320F-C3A3-523412A3181F}"/>
              </a:ext>
            </a:extLst>
          </p:cNvPr>
          <p:cNvSpPr txBox="1"/>
          <p:nvPr/>
        </p:nvSpPr>
        <p:spPr>
          <a:xfrm>
            <a:off x="736600" y="3009900"/>
            <a:ext cx="17145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50">
                <a:solidFill>
                  <a:srgbClr val="B7C2D1"/>
                </a:solidFill>
                <a:latin typeface="Arial" panose="020B0604020202020204" pitchFamily="34" charset="0"/>
              </a:rPr>
              <a:t>Dễ giải thích cho business và campaign ops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371308E-AB40-6726-CA8E-74C5A9A74975}"/>
              </a:ext>
            </a:extLst>
          </p:cNvPr>
          <p:cNvSpPr txBox="1"/>
          <p:nvPr/>
        </p:nvSpPr>
        <p:spPr>
          <a:xfrm>
            <a:off x="2705100" y="1600200"/>
            <a:ext cx="4318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 b="1">
                <a:solidFill>
                  <a:srgbClr val="29B8E8"/>
                </a:solidFill>
                <a:latin typeface="Arial" panose="020B0604020202020204" pitchFamily="34" charset="0"/>
              </a:rPr>
              <a:t>02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5997214-5A5B-64E0-B9B4-7C1A1D9EA84E}"/>
              </a:ext>
            </a:extLst>
          </p:cNvPr>
          <p:cNvSpPr/>
          <p:nvPr/>
        </p:nvSpPr>
        <p:spPr>
          <a:xfrm>
            <a:off x="2705100" y="1917700"/>
            <a:ext cx="1549400" cy="38100"/>
          </a:xfrm>
          <a:prstGeom prst="rect">
            <a:avLst/>
          </a:prstGeom>
          <a:solidFill>
            <a:srgbClr val="29B8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DB8C7FF-F665-1DD6-300B-0793249FF48C}"/>
              </a:ext>
            </a:extLst>
          </p:cNvPr>
          <p:cNvSpPr txBox="1"/>
          <p:nvPr/>
        </p:nvSpPr>
        <p:spPr>
          <a:xfrm>
            <a:off x="2705100" y="2095500"/>
            <a:ext cx="1651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 b="1">
                <a:solidFill>
                  <a:srgbClr val="F7F8FA"/>
                </a:solidFill>
                <a:latin typeface="Arial" panose="020B0604020202020204" pitchFamily="34" charset="0"/>
              </a:rPr>
              <a:t>Uplift layer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E82A3A3-74DF-9496-3CEB-D11ABE147A8E}"/>
              </a:ext>
            </a:extLst>
          </p:cNvPr>
          <p:cNvSpPr txBox="1"/>
          <p:nvPr/>
        </p:nvSpPr>
        <p:spPr>
          <a:xfrm>
            <a:off x="2705100" y="2603500"/>
            <a:ext cx="17145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50" b="1">
                <a:solidFill>
                  <a:srgbClr val="29B8E8"/>
                </a:solidFill>
                <a:latin typeface="Arial" panose="020B0604020202020204" pitchFamily="34" charset="0"/>
              </a:rPr>
              <a:t>CATE cấp user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06A8D5E-C78C-9683-C319-87C7CA9AF3C5}"/>
              </a:ext>
            </a:extLst>
          </p:cNvPr>
          <p:cNvSpPr txBox="1"/>
          <p:nvPr/>
        </p:nvSpPr>
        <p:spPr>
          <a:xfrm>
            <a:off x="2705100" y="3009900"/>
            <a:ext cx="17145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050">
                <a:solidFill>
                  <a:srgbClr val="B7C2D1"/>
                </a:solidFill>
                <a:latin typeface="Arial" panose="020B0604020202020204" pitchFamily="34" charset="0"/>
              </a:rPr>
              <a:t>Xếp hạng response cá nhân</a:t>
            </a:r>
            <a:endParaRPr lang="en-US" sz="1050">
              <a:solidFill>
                <a:srgbClr val="B7C2D1"/>
              </a:solidFill>
              <a:latin typeface="Arial" panose="020B0604020202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589CB0E-644B-E4B7-38D9-758E4A2F1DBC}"/>
              </a:ext>
            </a:extLst>
          </p:cNvPr>
          <p:cNvSpPr txBox="1"/>
          <p:nvPr/>
        </p:nvSpPr>
        <p:spPr>
          <a:xfrm>
            <a:off x="4673600" y="1600200"/>
            <a:ext cx="4318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 b="1">
                <a:solidFill>
                  <a:srgbClr val="25D0A2"/>
                </a:solidFill>
                <a:latin typeface="Arial" panose="020B0604020202020204" pitchFamily="34" charset="0"/>
              </a:rPr>
              <a:t>03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EBAFC43-C627-D8F8-C8B9-CA5C11A823BC}"/>
              </a:ext>
            </a:extLst>
          </p:cNvPr>
          <p:cNvSpPr/>
          <p:nvPr/>
        </p:nvSpPr>
        <p:spPr>
          <a:xfrm>
            <a:off x="4673600" y="1917700"/>
            <a:ext cx="1549400" cy="38100"/>
          </a:xfrm>
          <a:prstGeom prst="rect">
            <a:avLst/>
          </a:prstGeom>
          <a:solidFill>
            <a:srgbClr val="25D0A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D2EDC14-28AD-76B3-D5E8-3C58370A6EFB}"/>
              </a:ext>
            </a:extLst>
          </p:cNvPr>
          <p:cNvSpPr txBox="1"/>
          <p:nvPr/>
        </p:nvSpPr>
        <p:spPr>
          <a:xfrm>
            <a:off x="4673600" y="2095500"/>
            <a:ext cx="1651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 b="1">
                <a:solidFill>
                  <a:srgbClr val="F7F8FA"/>
                </a:solidFill>
                <a:latin typeface="Arial" panose="020B0604020202020204" pitchFamily="34" charset="0"/>
              </a:rPr>
              <a:t>Economics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2880A89-0984-F875-BAAE-09DA362ADD42}"/>
              </a:ext>
            </a:extLst>
          </p:cNvPr>
          <p:cNvSpPr txBox="1"/>
          <p:nvPr/>
        </p:nvSpPr>
        <p:spPr>
          <a:xfrm>
            <a:off x="4673600" y="2603500"/>
            <a:ext cx="17145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50" b="1">
                <a:solidFill>
                  <a:srgbClr val="25D0A2"/>
                </a:solidFill>
                <a:latin typeface="Arial" panose="020B0604020202020204" pitchFamily="34" charset="0"/>
              </a:rPr>
              <a:t>EV &gt; 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C420CF8-A781-8749-2950-271B25FB71CE}"/>
              </a:ext>
            </a:extLst>
          </p:cNvPr>
          <p:cNvSpPr txBox="1"/>
          <p:nvPr/>
        </p:nvSpPr>
        <p:spPr>
          <a:xfrm>
            <a:off x="4673600" y="3009900"/>
            <a:ext cx="17145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50">
                <a:solidFill>
                  <a:srgbClr val="B7C2D1"/>
                </a:solidFill>
                <a:latin typeface="Arial" panose="020B0604020202020204" pitchFamily="34" charset="0"/>
              </a:rPr>
              <a:t>Trừ đầy đủ promotion burn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11E33DA-C151-2BCA-12CE-E62FB7A10B50}"/>
              </a:ext>
            </a:extLst>
          </p:cNvPr>
          <p:cNvSpPr txBox="1"/>
          <p:nvPr/>
        </p:nvSpPr>
        <p:spPr>
          <a:xfrm>
            <a:off x="6642100" y="1600200"/>
            <a:ext cx="4318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 b="1">
                <a:solidFill>
                  <a:srgbClr val="E978C6"/>
                </a:solidFill>
                <a:latin typeface="Arial" panose="020B0604020202020204" pitchFamily="34" charset="0"/>
              </a:rPr>
              <a:t>04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7E427E3-89F5-2573-19A6-8AA750DDBA06}"/>
              </a:ext>
            </a:extLst>
          </p:cNvPr>
          <p:cNvSpPr/>
          <p:nvPr/>
        </p:nvSpPr>
        <p:spPr>
          <a:xfrm>
            <a:off x="6642100" y="1917700"/>
            <a:ext cx="1549400" cy="38100"/>
          </a:xfrm>
          <a:prstGeom prst="rect">
            <a:avLst/>
          </a:prstGeom>
          <a:solidFill>
            <a:srgbClr val="E978C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101DEDF-9720-69D8-7F47-38D02DBC4CDE}"/>
              </a:ext>
            </a:extLst>
          </p:cNvPr>
          <p:cNvSpPr txBox="1"/>
          <p:nvPr/>
        </p:nvSpPr>
        <p:spPr>
          <a:xfrm>
            <a:off x="6642100" y="2095500"/>
            <a:ext cx="1651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 b="1">
                <a:solidFill>
                  <a:srgbClr val="F7F8FA"/>
                </a:solidFill>
                <a:latin typeface="Arial" panose="020B0604020202020204" pitchFamily="34" charset="0"/>
              </a:rPr>
              <a:t>Dashboard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9FC1FBA-186A-9300-80E2-69948348A221}"/>
              </a:ext>
            </a:extLst>
          </p:cNvPr>
          <p:cNvSpPr txBox="1"/>
          <p:nvPr/>
        </p:nvSpPr>
        <p:spPr>
          <a:xfrm>
            <a:off x="6642100" y="2603500"/>
            <a:ext cx="17145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50" b="1">
                <a:solidFill>
                  <a:srgbClr val="E978C6"/>
                </a:solidFill>
                <a:latin typeface="Arial" panose="020B0604020202020204" pitchFamily="34" charset="0"/>
              </a:rPr>
              <a:t>Policy simulator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8F1AF07-B7C9-1D2A-4459-3DFB51E9A584}"/>
              </a:ext>
            </a:extLst>
          </p:cNvPr>
          <p:cNvSpPr txBox="1"/>
          <p:nvPr/>
        </p:nvSpPr>
        <p:spPr>
          <a:xfrm>
            <a:off x="6642100" y="3009900"/>
            <a:ext cx="17145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50">
                <a:solidFill>
                  <a:srgbClr val="B7C2D1"/>
                </a:solidFill>
                <a:latin typeface="Arial" panose="020B0604020202020204" pitchFamily="34" charset="0"/>
              </a:rPr>
              <a:t>So sánh policy theo assumptions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12F33B8-6257-627B-C1B0-6BBE922824C2}"/>
              </a:ext>
            </a:extLst>
          </p:cNvPr>
          <p:cNvSpPr txBox="1"/>
          <p:nvPr/>
        </p:nvSpPr>
        <p:spPr>
          <a:xfrm>
            <a:off x="736600" y="4000500"/>
            <a:ext cx="76708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00" b="1">
                <a:solidFill>
                  <a:srgbClr val="29B8E8"/>
                </a:solidFill>
                <a:latin typeface="Arial" panose="020B0604020202020204" pitchFamily="34" charset="0"/>
              </a:rPr>
              <a:t>Mass • Segment • Uplift • Profit targeting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D1E5230-C36B-7AB7-ED0E-328153F7341E}"/>
              </a:ext>
            </a:extLst>
          </p:cNvPr>
          <p:cNvSpPr/>
          <p:nvPr/>
        </p:nvSpPr>
        <p:spPr>
          <a:xfrm>
            <a:off x="736600" y="4305300"/>
            <a:ext cx="7670800" cy="25400"/>
          </a:xfrm>
          <a:prstGeom prst="rect">
            <a:avLst/>
          </a:prstGeom>
          <a:solidFill>
            <a:srgbClr val="29B8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71261E9-2094-8F64-670F-63D2C3DB2E89}"/>
              </a:ext>
            </a:extLst>
          </p:cNvPr>
          <p:cNvSpPr/>
          <p:nvPr/>
        </p:nvSpPr>
        <p:spPr>
          <a:xfrm>
            <a:off x="736600" y="4584700"/>
            <a:ext cx="3286171" cy="330200"/>
          </a:xfrm>
          <a:prstGeom prst="rect">
            <a:avLst/>
          </a:prstGeom>
          <a:solidFill>
            <a:srgbClr val="29B8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180A434-CC93-6942-3707-F546EFFF23B7}"/>
              </a:ext>
            </a:extLst>
          </p:cNvPr>
          <p:cNvSpPr/>
          <p:nvPr/>
        </p:nvSpPr>
        <p:spPr>
          <a:xfrm>
            <a:off x="4022771" y="4584700"/>
            <a:ext cx="2063828" cy="330200"/>
          </a:xfrm>
          <a:prstGeom prst="rect">
            <a:avLst/>
          </a:prstGeom>
          <a:solidFill>
            <a:srgbClr val="25D0A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F19A3EEF-23AD-E6B1-C44D-DDAC3762628C}"/>
              </a:ext>
            </a:extLst>
          </p:cNvPr>
          <p:cNvSpPr/>
          <p:nvPr/>
        </p:nvSpPr>
        <p:spPr>
          <a:xfrm>
            <a:off x="6086599" y="4584700"/>
            <a:ext cx="1027888" cy="330200"/>
          </a:xfrm>
          <a:prstGeom prst="rect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EF9154C6-AEC5-F081-5717-0FCCE10BB50A}"/>
              </a:ext>
            </a:extLst>
          </p:cNvPr>
          <p:cNvSpPr/>
          <p:nvPr/>
        </p:nvSpPr>
        <p:spPr>
          <a:xfrm>
            <a:off x="7114487" y="4584700"/>
            <a:ext cx="1016764" cy="330200"/>
          </a:xfrm>
          <a:prstGeom prst="rect">
            <a:avLst/>
          </a:prstGeom>
          <a:solidFill>
            <a:srgbClr val="E978C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C55E8C3A-DC4B-9F2E-C28A-81FBE182828D}"/>
              </a:ext>
            </a:extLst>
          </p:cNvPr>
          <p:cNvSpPr/>
          <p:nvPr/>
        </p:nvSpPr>
        <p:spPr>
          <a:xfrm>
            <a:off x="8131251" y="4584700"/>
            <a:ext cx="276149" cy="330200"/>
          </a:xfrm>
          <a:prstGeom prst="rect">
            <a:avLst/>
          </a:prstGeom>
          <a:solidFill>
            <a:srgbClr val="FFB4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1045E439-98EC-4D66-5AAA-4604B0BB0FD2}"/>
              </a:ext>
            </a:extLst>
          </p:cNvPr>
          <p:cNvSpPr/>
          <p:nvPr/>
        </p:nvSpPr>
        <p:spPr>
          <a:xfrm>
            <a:off x="736600" y="5143500"/>
            <a:ext cx="101600" cy="101600"/>
          </a:xfrm>
          <a:prstGeom prst="ellipse">
            <a:avLst/>
          </a:prstGeom>
          <a:solidFill>
            <a:srgbClr val="29B8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E7DC613-37B7-1E28-E613-FB44D5F5373F}"/>
              </a:ext>
            </a:extLst>
          </p:cNvPr>
          <p:cNvSpPr txBox="1"/>
          <p:nvPr/>
        </p:nvSpPr>
        <p:spPr>
          <a:xfrm>
            <a:off x="889000" y="5067300"/>
            <a:ext cx="1460500" cy="482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50">
                <a:solidFill>
                  <a:srgbClr val="F7F8FA"/>
                </a:solidFill>
                <a:latin typeface="Arial" panose="020B0604020202020204" pitchFamily="34" charset="0"/>
              </a:rPr>
              <a:t>Tab 1
Business problem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AEBB1882-F3FB-58DA-97A5-A3B92971D23E}"/>
              </a:ext>
            </a:extLst>
          </p:cNvPr>
          <p:cNvSpPr/>
          <p:nvPr/>
        </p:nvSpPr>
        <p:spPr>
          <a:xfrm>
            <a:off x="2921000" y="5143500"/>
            <a:ext cx="101600" cy="101600"/>
          </a:xfrm>
          <a:prstGeom prst="ellipse">
            <a:avLst/>
          </a:prstGeom>
          <a:solidFill>
            <a:srgbClr val="25D0A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1891B91-D1D7-445F-47B7-D3F901444B41}"/>
              </a:ext>
            </a:extLst>
          </p:cNvPr>
          <p:cNvSpPr txBox="1"/>
          <p:nvPr/>
        </p:nvSpPr>
        <p:spPr>
          <a:xfrm>
            <a:off x="3073400" y="5067300"/>
            <a:ext cx="1460500" cy="482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50">
                <a:solidFill>
                  <a:srgbClr val="F7F8FA"/>
                </a:solidFill>
                <a:latin typeface="Arial" panose="020B0604020202020204" pitchFamily="34" charset="0"/>
              </a:rPr>
              <a:t>Tab 2
Causal evidence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D5DA63A1-FD26-FDAF-F85B-3D4112D8C003}"/>
              </a:ext>
            </a:extLst>
          </p:cNvPr>
          <p:cNvSpPr/>
          <p:nvPr/>
        </p:nvSpPr>
        <p:spPr>
          <a:xfrm>
            <a:off x="4737100" y="5143500"/>
            <a:ext cx="101600" cy="101600"/>
          </a:xfrm>
          <a:prstGeom prst="ellipse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B26A291-68F1-26EB-FD4B-47C90CC31C90}"/>
              </a:ext>
            </a:extLst>
          </p:cNvPr>
          <p:cNvSpPr txBox="1"/>
          <p:nvPr/>
        </p:nvSpPr>
        <p:spPr>
          <a:xfrm>
            <a:off x="4889500" y="5067300"/>
            <a:ext cx="1460500" cy="482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950">
                <a:solidFill>
                  <a:srgbClr val="F7F8FA"/>
                </a:solidFill>
                <a:latin typeface="Arial" panose="020B0604020202020204" pitchFamily="34" charset="0"/>
              </a:rPr>
              <a:t>Tab 3
CATE / Qini / EV</a:t>
            </a:r>
            <a:endParaRPr lang="en-US" sz="950">
              <a:solidFill>
                <a:srgbClr val="F7F8FA"/>
              </a:solidFill>
              <a:latin typeface="Arial" panose="020B0604020202020204" pitchFamily="34" charset="0"/>
            </a:endParaRP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CA627EF7-7527-7109-F24E-D0963BE69880}"/>
              </a:ext>
            </a:extLst>
          </p:cNvPr>
          <p:cNvSpPr/>
          <p:nvPr/>
        </p:nvSpPr>
        <p:spPr>
          <a:xfrm>
            <a:off x="6197600" y="5143500"/>
            <a:ext cx="101600" cy="101600"/>
          </a:xfrm>
          <a:prstGeom prst="ellipse">
            <a:avLst/>
          </a:prstGeom>
          <a:solidFill>
            <a:srgbClr val="E978C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A5E697D-2D46-9399-CB99-F4321B5D7CE0}"/>
              </a:ext>
            </a:extLst>
          </p:cNvPr>
          <p:cNvSpPr txBox="1"/>
          <p:nvPr/>
        </p:nvSpPr>
        <p:spPr>
          <a:xfrm>
            <a:off x="6350000" y="5067300"/>
            <a:ext cx="1460500" cy="482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50">
                <a:solidFill>
                  <a:srgbClr val="F7F8FA"/>
                </a:solidFill>
                <a:latin typeface="Arial" panose="020B0604020202020204" pitchFamily="34" charset="0"/>
              </a:rPr>
              <a:t>Tab 4
Policy simulator</a:t>
            </a: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1842FDCD-3D2A-F78A-1C52-6C5AC6E6E739}"/>
              </a:ext>
            </a:extLst>
          </p:cNvPr>
          <p:cNvSpPr/>
          <p:nvPr/>
        </p:nvSpPr>
        <p:spPr>
          <a:xfrm>
            <a:off x="7429500" y="5143500"/>
            <a:ext cx="101600" cy="101600"/>
          </a:xfrm>
          <a:prstGeom prst="ellipse">
            <a:avLst/>
          </a:prstGeom>
          <a:solidFill>
            <a:srgbClr val="FFB4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A40F409-9106-BAFC-CCB1-33BD3CDBC10D}"/>
              </a:ext>
            </a:extLst>
          </p:cNvPr>
          <p:cNvSpPr txBox="1"/>
          <p:nvPr/>
        </p:nvSpPr>
        <p:spPr>
          <a:xfrm>
            <a:off x="7581900" y="5067300"/>
            <a:ext cx="1460500" cy="482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50">
                <a:solidFill>
                  <a:srgbClr val="F7F8FA"/>
                </a:solidFill>
                <a:latin typeface="Arial" panose="020B0604020202020204" pitchFamily="34" charset="0"/>
              </a:rPr>
              <a:t>Tab 5
Robustness limits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8E1B589-FCAA-A3F7-35E6-54BC262D039F}"/>
              </a:ext>
            </a:extLst>
          </p:cNvPr>
          <p:cNvSpPr txBox="1"/>
          <p:nvPr/>
        </p:nvSpPr>
        <p:spPr>
          <a:xfrm>
            <a:off x="736600" y="5765800"/>
            <a:ext cx="7874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vi-VN" sz="950">
                <a:solidFill>
                  <a:srgbClr val="B7C2D1"/>
                </a:solidFill>
                <a:latin typeface="Arial" panose="020B0604020202020204" pitchFamily="34" charset="0"/>
              </a:rPr>
              <a:t>Chuyển giao phù hợp: dashboard để mentor/PM kiểm tra assumptions, không phải công cụ rollout tự động.</a:t>
            </a:r>
            <a:endParaRPr lang="en-US" sz="950">
              <a:solidFill>
                <a:srgbClr val="B7C2D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13498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781572FF-C7A7-C560-8DE6-12EBD1B5C79C}"/>
              </a:ext>
            </a:extLst>
          </p:cNvPr>
          <p:cNvSpPr/>
          <p:nvPr/>
        </p:nvSpPr>
        <p:spPr>
          <a:xfrm>
            <a:off x="365760" y="0"/>
            <a:ext cx="137160" cy="6858000"/>
          </a:xfrm>
          <a:prstGeom prst="rect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SlideTitle">
            <a:extLst>
              <a:ext uri="{FF2B5EF4-FFF2-40B4-BE49-F238E27FC236}">
                <a16:creationId xmlns:a16="http://schemas.microsoft.com/office/drawing/2014/main" id="{DA1E75B0-77EC-D01C-0F7D-3DCE229FD49B}"/>
              </a:ext>
            </a:extLst>
          </p:cNvPr>
          <p:cNvSpPr txBox="1"/>
          <p:nvPr/>
        </p:nvSpPr>
        <p:spPr>
          <a:xfrm>
            <a:off x="736600" y="228600"/>
            <a:ext cx="81534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vi-VN" sz="2800" b="1">
                <a:solidFill>
                  <a:srgbClr val="F7F8FA"/>
                </a:solidFill>
                <a:latin typeface="Arial" panose="020B0604020202020204" pitchFamily="34" charset="0"/>
              </a:rPr>
              <a:t>Kết luận: đủ để xin pilot, chưa đủ để rollout</a:t>
            </a:r>
            <a:endParaRPr lang="en-US" sz="2800" b="1">
              <a:solidFill>
                <a:srgbClr val="F7F8FA"/>
              </a:solidFill>
              <a:latin typeface="Arial" panose="020B0604020202020204" pitchFamily="34" charset="0"/>
            </a:endParaRPr>
          </a:p>
        </p:txBody>
      </p:sp>
      <p:sp>
        <p:nvSpPr>
          <p:cNvPr id="25" name="SlideSubtitle">
            <a:extLst>
              <a:ext uri="{FF2B5EF4-FFF2-40B4-BE49-F238E27FC236}">
                <a16:creationId xmlns:a16="http://schemas.microsoft.com/office/drawing/2014/main" id="{D44A3F1E-F946-2112-CCA5-7DF652FC262C}"/>
              </a:ext>
            </a:extLst>
          </p:cNvPr>
          <p:cNvSpPr txBox="1"/>
          <p:nvPr/>
        </p:nvSpPr>
        <p:spPr>
          <a:xfrm>
            <a:off x="736600" y="762000"/>
            <a:ext cx="8001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vi-VN" sz="1700">
                <a:solidFill>
                  <a:srgbClr val="F7F8FA"/>
                </a:solidFill>
                <a:latin typeface="Arial" panose="020B0604020202020204" pitchFamily="34" charset="0"/>
              </a:rPr>
              <a:t>Giá trị của project là decision pipeline end-to-end với phạm vi synthetic được nói rõ</a:t>
            </a:r>
            <a:endParaRPr lang="en-US" sz="1700">
              <a:solidFill>
                <a:srgbClr val="F7F8FA"/>
              </a:solidFill>
              <a:latin typeface="Arial" panose="020B060402020202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F5DAC4D-74CF-01D2-0C79-9AB35B36AC7C}"/>
              </a:ext>
            </a:extLst>
          </p:cNvPr>
          <p:cNvSpPr/>
          <p:nvPr/>
        </p:nvSpPr>
        <p:spPr>
          <a:xfrm>
            <a:off x="736600" y="1193800"/>
            <a:ext cx="2286000" cy="38100"/>
          </a:xfrm>
          <a:prstGeom prst="rect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AE9DE6F-A7A3-7DDA-35D1-28E14EBE13DE}"/>
              </a:ext>
            </a:extLst>
          </p:cNvPr>
          <p:cNvSpPr/>
          <p:nvPr/>
        </p:nvSpPr>
        <p:spPr>
          <a:xfrm>
            <a:off x="365760" y="6217920"/>
            <a:ext cx="8778240" cy="365760"/>
          </a:xfrm>
          <a:prstGeom prst="rect">
            <a:avLst/>
          </a:prstGeom>
          <a:solidFill>
            <a:srgbClr val="2459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D31D825-DF41-5FC4-B0BB-2DE69FFD2B86}"/>
              </a:ext>
            </a:extLst>
          </p:cNvPr>
          <p:cNvSpPr txBox="1"/>
          <p:nvPr/>
        </p:nvSpPr>
        <p:spPr>
          <a:xfrm>
            <a:off x="546100" y="6299200"/>
            <a:ext cx="4953000" cy="215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850">
                <a:solidFill>
                  <a:srgbClr val="F7F8FA"/>
                </a:solidFill>
                <a:latin typeface="Arial" panose="020B0604020202020204" pitchFamily="34" charset="0"/>
              </a:rPr>
              <a:t>GSM Promotion Experimentation • Mentor Rehearsal • Data Science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B149B5A-EBEF-EC8A-47D6-C0C3048C82D8}"/>
              </a:ext>
            </a:extLst>
          </p:cNvPr>
          <p:cNvSpPr/>
          <p:nvPr/>
        </p:nvSpPr>
        <p:spPr>
          <a:xfrm>
            <a:off x="365760" y="6583680"/>
            <a:ext cx="8778240" cy="274320"/>
          </a:xfrm>
          <a:prstGeom prst="rect">
            <a:avLst/>
          </a:prstGeom>
          <a:solidFill>
            <a:srgbClr val="0A142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703E532-011E-59A1-1525-576C95A0AF0E}"/>
              </a:ext>
            </a:extLst>
          </p:cNvPr>
          <p:cNvSpPr txBox="1"/>
          <p:nvPr/>
        </p:nvSpPr>
        <p:spPr>
          <a:xfrm>
            <a:off x="546100" y="6604000"/>
            <a:ext cx="3302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800">
                <a:solidFill>
                  <a:srgbClr val="F7F8FA"/>
                </a:solidFill>
                <a:latin typeface="Arial" panose="020B0604020202020204" pitchFamily="34" charset="0"/>
              </a:rPr>
              <a:t>Uplift Modeling &amp; Profit-aware Targeting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38D166D-4891-490D-9BD4-82F9CFD7F454}"/>
              </a:ext>
            </a:extLst>
          </p:cNvPr>
          <p:cNvSpPr txBox="1"/>
          <p:nvPr/>
        </p:nvSpPr>
        <p:spPr>
          <a:xfrm>
            <a:off x="8318500" y="6604000"/>
            <a:ext cx="6731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850" b="1">
                <a:solidFill>
                  <a:srgbClr val="F7F8FA"/>
                </a:solidFill>
                <a:latin typeface="Arial" panose="020B0604020202020204" pitchFamily="34" charset="0"/>
              </a:rPr>
              <a:t>06 / 06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1EECB91-CB87-1D08-F8A2-EDA37524B3EF}"/>
              </a:ext>
            </a:extLst>
          </p:cNvPr>
          <p:cNvSpPr txBox="1"/>
          <p:nvPr/>
        </p:nvSpPr>
        <p:spPr>
          <a:xfrm>
            <a:off x="736600" y="1765300"/>
            <a:ext cx="22352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 b="1">
                <a:solidFill>
                  <a:srgbClr val="25D0A2"/>
                </a:solidFill>
                <a:latin typeface="Arial" panose="020B0604020202020204" pitchFamily="34" charset="0"/>
              </a:rPr>
              <a:t>Đã chứng minh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6D24F57-5D6E-B1E4-6624-1327C845EF85}"/>
              </a:ext>
            </a:extLst>
          </p:cNvPr>
          <p:cNvSpPr/>
          <p:nvPr/>
        </p:nvSpPr>
        <p:spPr>
          <a:xfrm>
            <a:off x="736600" y="2133600"/>
            <a:ext cx="2209800" cy="38100"/>
          </a:xfrm>
          <a:prstGeom prst="rect">
            <a:avLst/>
          </a:prstGeom>
          <a:solidFill>
            <a:srgbClr val="25D0A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6F3B1D4-B663-BBED-3817-63CDB1573ED0}"/>
              </a:ext>
            </a:extLst>
          </p:cNvPr>
          <p:cNvSpPr txBox="1"/>
          <p:nvPr/>
        </p:nvSpPr>
        <p:spPr>
          <a:xfrm>
            <a:off x="736600" y="2438400"/>
            <a:ext cx="2235200" cy="165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20">
                <a:solidFill>
                  <a:srgbClr val="F7F8FA"/>
                </a:solidFill>
                <a:latin typeface="Arial" panose="020B0604020202020204" pitchFamily="34" charset="0"/>
              </a:rPr>
              <a:t>End-to-end causal sandbox
Synthetic ground truth Y0/Y1/CATE
Policy logic chuyển uplift thành profit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96AB50E-B34A-EABA-687A-543DA0D0C5BF}"/>
              </a:ext>
            </a:extLst>
          </p:cNvPr>
          <p:cNvSpPr txBox="1"/>
          <p:nvPr/>
        </p:nvSpPr>
        <p:spPr>
          <a:xfrm>
            <a:off x="3479800" y="1765300"/>
            <a:ext cx="22352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vi-VN" sz="1400" b="1">
                <a:solidFill>
                  <a:srgbClr val="FFB44D"/>
                </a:solidFill>
                <a:latin typeface="Arial" panose="020B0604020202020204" pitchFamily="34" charset="0"/>
              </a:rPr>
              <a:t>Chưa chứng minh</a:t>
            </a:r>
            <a:endParaRPr lang="en-US" sz="1400" b="1">
              <a:solidFill>
                <a:srgbClr val="FFB44D"/>
              </a:solidFill>
              <a:latin typeface="Arial" panose="020B0604020202020204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3CA3148-6A56-DF01-766F-47A008849850}"/>
              </a:ext>
            </a:extLst>
          </p:cNvPr>
          <p:cNvSpPr/>
          <p:nvPr/>
        </p:nvSpPr>
        <p:spPr>
          <a:xfrm>
            <a:off x="3479800" y="2133600"/>
            <a:ext cx="2209800" cy="38100"/>
          </a:xfrm>
          <a:prstGeom prst="rect">
            <a:avLst/>
          </a:prstGeom>
          <a:solidFill>
            <a:srgbClr val="FFB4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46F6DBB-23F5-5D49-2511-F9BB320DF4A6}"/>
              </a:ext>
            </a:extLst>
          </p:cNvPr>
          <p:cNvSpPr txBox="1"/>
          <p:nvPr/>
        </p:nvSpPr>
        <p:spPr>
          <a:xfrm>
            <a:off x="3479800" y="2438400"/>
            <a:ext cx="2235200" cy="165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20">
                <a:solidFill>
                  <a:srgbClr val="F7F8FA"/>
                </a:solidFill>
                <a:latin typeface="Arial" panose="020B0604020202020204" pitchFamily="34" charset="0"/>
              </a:rPr>
              <a:t>Response trên dữ liệu GSM thật
ROI production
Stability dưới drift và marketplace interference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BAB9A5D-84EF-AAC0-DDDE-B4EE043F9D92}"/>
              </a:ext>
            </a:extLst>
          </p:cNvPr>
          <p:cNvSpPr txBox="1"/>
          <p:nvPr/>
        </p:nvSpPr>
        <p:spPr>
          <a:xfrm>
            <a:off x="6223000" y="1765300"/>
            <a:ext cx="22352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vi-VN" sz="1400" b="1">
                <a:solidFill>
                  <a:srgbClr val="29B8E8"/>
                </a:solidFill>
                <a:latin typeface="Arial" panose="020B0604020202020204" pitchFamily="34" charset="0"/>
              </a:rPr>
              <a:t>Bước tiếp theo</a:t>
            </a:r>
            <a:endParaRPr lang="en-US" sz="1400" b="1">
              <a:solidFill>
                <a:srgbClr val="29B8E8"/>
              </a:solidFill>
              <a:latin typeface="Arial" panose="020B0604020202020204" pitchFamily="34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F7A5000-4689-1E34-1952-EE1305C863F1}"/>
              </a:ext>
            </a:extLst>
          </p:cNvPr>
          <p:cNvSpPr/>
          <p:nvPr/>
        </p:nvSpPr>
        <p:spPr>
          <a:xfrm>
            <a:off x="6223000" y="2133600"/>
            <a:ext cx="2209800" cy="38100"/>
          </a:xfrm>
          <a:prstGeom prst="rect">
            <a:avLst/>
          </a:prstGeom>
          <a:solidFill>
            <a:srgbClr val="29B8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02F8D82-3B73-1263-133A-3410AF584D6F}"/>
              </a:ext>
            </a:extLst>
          </p:cNvPr>
          <p:cNvSpPr txBox="1"/>
          <p:nvPr/>
        </p:nvSpPr>
        <p:spPr>
          <a:xfrm>
            <a:off x="6223000" y="2438400"/>
            <a:ext cx="2235200" cy="165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20">
                <a:solidFill>
                  <a:srgbClr val="F7F8FA"/>
                </a:solidFill>
                <a:latin typeface="Arial" panose="020B0604020202020204" pitchFamily="34" charset="0"/>
              </a:rPr>
              <a:t>Randomized pilot quy mô nhỏ
Budget cap + stop-loss
SRM, balance, guardrails vận hành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2EE91205-03A8-A998-9F82-57B4CE4B27B6}"/>
              </a:ext>
            </a:extLst>
          </p:cNvPr>
          <p:cNvCxnSpPr/>
          <p:nvPr/>
        </p:nvCxnSpPr>
        <p:spPr>
          <a:xfrm>
            <a:off x="3213100" y="2209800"/>
            <a:ext cx="0" cy="2082800"/>
          </a:xfrm>
          <a:prstGeom prst="line">
            <a:avLst/>
          </a:prstGeom>
          <a:ln w="12700">
            <a:solidFill>
              <a:srgbClr val="3446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DB349F78-46B4-337E-8994-80E73C1FD0EE}"/>
              </a:ext>
            </a:extLst>
          </p:cNvPr>
          <p:cNvCxnSpPr/>
          <p:nvPr/>
        </p:nvCxnSpPr>
        <p:spPr>
          <a:xfrm>
            <a:off x="5956300" y="2209800"/>
            <a:ext cx="0" cy="2082800"/>
          </a:xfrm>
          <a:prstGeom prst="line">
            <a:avLst/>
          </a:prstGeom>
          <a:ln w="12700">
            <a:solidFill>
              <a:srgbClr val="3446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96D8A853-41C8-E29F-575E-1D92B175AC5C}"/>
              </a:ext>
            </a:extLst>
          </p:cNvPr>
          <p:cNvSpPr/>
          <p:nvPr/>
        </p:nvSpPr>
        <p:spPr>
          <a:xfrm>
            <a:off x="736600" y="4737100"/>
            <a:ext cx="7696200" cy="952500"/>
          </a:xfrm>
          <a:prstGeom prst="roundRect">
            <a:avLst/>
          </a:prstGeom>
          <a:solidFill>
            <a:srgbClr val="1727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EEEF7CE-C400-AC48-426B-41ED0418FDD5}"/>
              </a:ext>
            </a:extLst>
          </p:cNvPr>
          <p:cNvSpPr txBox="1"/>
          <p:nvPr/>
        </p:nvSpPr>
        <p:spPr>
          <a:xfrm>
            <a:off x="990600" y="4902200"/>
            <a:ext cx="26035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50" b="1">
                <a:solidFill>
                  <a:srgbClr val="FFC000"/>
                </a:solidFill>
                <a:latin typeface="Arial" panose="020B0604020202020204" pitchFamily="34" charset="0"/>
              </a:rPr>
              <a:t>Mentor phản biện giúp 3 điểm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F3FB299-EB64-3506-16A4-713CDE230A36}"/>
              </a:ext>
            </a:extLst>
          </p:cNvPr>
          <p:cNvSpPr txBox="1"/>
          <p:nvPr/>
        </p:nvSpPr>
        <p:spPr>
          <a:xfrm>
            <a:off x="990600" y="5232400"/>
            <a:ext cx="7112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 b="1">
                <a:solidFill>
                  <a:srgbClr val="F7F8FA"/>
                </a:solidFill>
                <a:latin typeface="Arial" panose="020B0604020202020204" pitchFamily="34" charset="0"/>
              </a:rPr>
              <a:t>Logic chọn model  •  Economics assumptions  •  Pilot guardrails</a:t>
            </a:r>
          </a:p>
        </p:txBody>
      </p:sp>
    </p:spTree>
    <p:extLst>
      <p:ext uri="{BB962C8B-B14F-4D97-AF65-F5344CB8AC3E}">
        <p14:creationId xmlns:p14="http://schemas.microsoft.com/office/powerpoint/2010/main" val="32409136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A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E6CE4B18-0AA5-29A4-6561-9CC38ECA94B8}"/>
              </a:ext>
            </a:extLst>
          </p:cNvPr>
          <p:cNvSpPr/>
          <p:nvPr/>
        </p:nvSpPr>
        <p:spPr>
          <a:xfrm>
            <a:off x="365760" y="0"/>
            <a:ext cx="137160" cy="6858000"/>
          </a:xfrm>
          <a:prstGeom prst="rect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SlideTitle">
            <a:extLst>
              <a:ext uri="{FF2B5EF4-FFF2-40B4-BE49-F238E27FC236}">
                <a16:creationId xmlns:a16="http://schemas.microsoft.com/office/drawing/2014/main" id="{AC7DAC4F-E712-4394-1295-EBFD65ABBA51}"/>
              </a:ext>
            </a:extLst>
          </p:cNvPr>
          <p:cNvSpPr txBox="1"/>
          <p:nvPr/>
        </p:nvSpPr>
        <p:spPr>
          <a:xfrm>
            <a:off x="736600" y="228600"/>
            <a:ext cx="81534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600" b="1">
                <a:solidFill>
                  <a:srgbClr val="F7F8FA"/>
                </a:solidFill>
                <a:latin typeface="Arial" panose="020B0604020202020204" pitchFamily="34" charset="0"/>
              </a:rPr>
              <a:t>Appendix A1 — A/A false-positive check</a:t>
            </a:r>
          </a:p>
        </p:txBody>
      </p:sp>
      <p:sp>
        <p:nvSpPr>
          <p:cNvPr id="25" name="SlideSubtitle">
            <a:extLst>
              <a:ext uri="{FF2B5EF4-FFF2-40B4-BE49-F238E27FC236}">
                <a16:creationId xmlns:a16="http://schemas.microsoft.com/office/drawing/2014/main" id="{331F6DF7-9F3C-D33B-B930-51F399E62246}"/>
              </a:ext>
            </a:extLst>
          </p:cNvPr>
          <p:cNvSpPr txBox="1"/>
          <p:nvPr/>
        </p:nvSpPr>
        <p:spPr>
          <a:xfrm>
            <a:off x="736600" y="762000"/>
            <a:ext cx="8001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700">
                <a:solidFill>
                  <a:srgbClr val="F7F8FA"/>
                </a:solidFill>
                <a:latin typeface="Arial" panose="020B0604020202020204" pitchFamily="34" charset="0"/>
              </a:rPr>
              <a:t>Kiểm tra pipeline dưới true effect bằng 0 trước khi đọc A/B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B5DE78D-35A2-A8A2-0B78-13C2FC0E6B37}"/>
              </a:ext>
            </a:extLst>
          </p:cNvPr>
          <p:cNvSpPr/>
          <p:nvPr/>
        </p:nvSpPr>
        <p:spPr>
          <a:xfrm>
            <a:off x="736600" y="1193800"/>
            <a:ext cx="2286000" cy="38100"/>
          </a:xfrm>
          <a:prstGeom prst="rect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4154239-2522-A35C-B51B-8C0D8B8DADAF}"/>
              </a:ext>
            </a:extLst>
          </p:cNvPr>
          <p:cNvSpPr/>
          <p:nvPr/>
        </p:nvSpPr>
        <p:spPr>
          <a:xfrm>
            <a:off x="365760" y="6217920"/>
            <a:ext cx="8778240" cy="365760"/>
          </a:xfrm>
          <a:prstGeom prst="rect">
            <a:avLst/>
          </a:prstGeom>
          <a:solidFill>
            <a:srgbClr val="2459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D1297D5-B762-CEBE-CECC-409B5008D2D0}"/>
              </a:ext>
            </a:extLst>
          </p:cNvPr>
          <p:cNvSpPr txBox="1"/>
          <p:nvPr/>
        </p:nvSpPr>
        <p:spPr>
          <a:xfrm>
            <a:off x="546100" y="6299200"/>
            <a:ext cx="4953000" cy="215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850">
                <a:solidFill>
                  <a:srgbClr val="F7F8FA"/>
                </a:solidFill>
                <a:latin typeface="Arial" panose="020B0604020202020204" pitchFamily="34" charset="0"/>
              </a:rPr>
              <a:t>GSM Promotion Experimentation • Mentor Rehearsal • Data Science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BB48417-4E71-C4A5-007B-D92102EE2FC8}"/>
              </a:ext>
            </a:extLst>
          </p:cNvPr>
          <p:cNvSpPr/>
          <p:nvPr/>
        </p:nvSpPr>
        <p:spPr>
          <a:xfrm>
            <a:off x="365760" y="6583680"/>
            <a:ext cx="8778240" cy="274320"/>
          </a:xfrm>
          <a:prstGeom prst="rect">
            <a:avLst/>
          </a:prstGeom>
          <a:solidFill>
            <a:srgbClr val="0A142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B73D1F7-D1B9-E41F-1745-473B19B2F974}"/>
              </a:ext>
            </a:extLst>
          </p:cNvPr>
          <p:cNvSpPr txBox="1"/>
          <p:nvPr/>
        </p:nvSpPr>
        <p:spPr>
          <a:xfrm>
            <a:off x="546100" y="6604000"/>
            <a:ext cx="3302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800">
                <a:solidFill>
                  <a:srgbClr val="F7F8FA"/>
                </a:solidFill>
                <a:latin typeface="Arial" panose="020B0604020202020204" pitchFamily="34" charset="0"/>
              </a:rPr>
              <a:t>Uplift Modeling &amp; Profit-aware Targeting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DF43D22-6A50-7D91-FA10-8FA4958A60AA}"/>
              </a:ext>
            </a:extLst>
          </p:cNvPr>
          <p:cNvSpPr txBox="1"/>
          <p:nvPr/>
        </p:nvSpPr>
        <p:spPr>
          <a:xfrm>
            <a:off x="8318500" y="6604000"/>
            <a:ext cx="6731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850" b="1">
                <a:solidFill>
                  <a:srgbClr val="F7F8FA"/>
                </a:solidFill>
                <a:latin typeface="Arial" panose="020B0604020202020204" pitchFamily="34" charset="0"/>
              </a:rPr>
              <a:t>A1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9591F1C-C42B-F8DB-7E8C-BD56B899A69C}"/>
              </a:ext>
            </a:extLst>
          </p:cNvPr>
          <p:cNvSpPr txBox="1"/>
          <p:nvPr/>
        </p:nvSpPr>
        <p:spPr>
          <a:xfrm>
            <a:off x="863600" y="1676400"/>
            <a:ext cx="2286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00" b="1">
                <a:solidFill>
                  <a:srgbClr val="FFC000"/>
                </a:solidFill>
                <a:latin typeface="Arial" panose="020B0604020202020204" pitchFamily="34" charset="0"/>
              </a:rPr>
              <a:t>Thiết lập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DEE0AB7-F9A1-E00C-71E8-241D27A5D8F7}"/>
              </a:ext>
            </a:extLst>
          </p:cNvPr>
          <p:cNvSpPr/>
          <p:nvPr/>
        </p:nvSpPr>
        <p:spPr>
          <a:xfrm>
            <a:off x="863600" y="1981200"/>
            <a:ext cx="2286000" cy="25400"/>
          </a:xfrm>
          <a:prstGeom prst="rect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527CAA0-FD3B-DBEE-17DC-5C80D12FBA83}"/>
              </a:ext>
            </a:extLst>
          </p:cNvPr>
          <p:cNvSpPr txBox="1"/>
          <p:nvPr/>
        </p:nvSpPr>
        <p:spPr>
          <a:xfrm>
            <a:off x="863600" y="2222500"/>
            <a:ext cx="2286000" cy="1092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F7F8FA"/>
                </a:solidFill>
                <a:latin typeface="Arial" panose="020B0604020202020204" pitchFamily="34" charset="0"/>
              </a:rPr>
              <a:t>5.000 Monte Carlo runs
Random split 50/50
</a:t>
            </a:r>
            <a:r>
              <a:rPr lang="el-GR" sz="1400">
                <a:solidFill>
                  <a:srgbClr val="F7F8FA"/>
                </a:solidFill>
                <a:latin typeface="Arial" panose="020B0604020202020204" pitchFamily="34" charset="0"/>
              </a:rPr>
              <a:t>α = 5%</a:t>
            </a:r>
            <a:endParaRPr lang="en-US" sz="1400">
              <a:solidFill>
                <a:srgbClr val="F7F8FA"/>
              </a:solidFill>
              <a:latin typeface="Arial" panose="020B0604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D8BD5A4-D336-FF1E-8B7D-F09A100FEF07}"/>
              </a:ext>
            </a:extLst>
          </p:cNvPr>
          <p:cNvSpPr txBox="1"/>
          <p:nvPr/>
        </p:nvSpPr>
        <p:spPr>
          <a:xfrm>
            <a:off x="3632200" y="2019300"/>
            <a:ext cx="2032000" cy="889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3800" b="1">
                <a:solidFill>
                  <a:srgbClr val="25D0A2"/>
                </a:solidFill>
                <a:latin typeface="Arial" panose="020B0604020202020204" pitchFamily="34" charset="0"/>
              </a:rPr>
              <a:t>5,08%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061AE74-7F58-CC88-823E-C148E0837C45}"/>
              </a:ext>
            </a:extLst>
          </p:cNvPr>
          <p:cNvSpPr txBox="1"/>
          <p:nvPr/>
        </p:nvSpPr>
        <p:spPr>
          <a:xfrm>
            <a:off x="3632200" y="2870200"/>
            <a:ext cx="2032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200" b="1">
                <a:solidFill>
                  <a:srgbClr val="B7C2D1"/>
                </a:solidFill>
                <a:latin typeface="Arial" panose="020B0604020202020204" pitchFamily="34" charset="0"/>
              </a:rPr>
              <a:t>False Positive Rate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8F41843-B6A6-3D3E-42C9-1416F4F5681D}"/>
              </a:ext>
            </a:extLst>
          </p:cNvPr>
          <p:cNvSpPr txBox="1"/>
          <p:nvPr/>
        </p:nvSpPr>
        <p:spPr>
          <a:xfrm>
            <a:off x="6172200" y="1676400"/>
            <a:ext cx="21082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00" b="1">
                <a:solidFill>
                  <a:srgbClr val="29B8E8"/>
                </a:solidFill>
                <a:latin typeface="Arial" panose="020B0604020202020204" pitchFamily="34" charset="0"/>
              </a:rPr>
              <a:t>Kiểm tra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474613E-9EF2-B4F5-FC83-C588BB09319A}"/>
              </a:ext>
            </a:extLst>
          </p:cNvPr>
          <p:cNvSpPr/>
          <p:nvPr/>
        </p:nvSpPr>
        <p:spPr>
          <a:xfrm>
            <a:off x="6172200" y="1981200"/>
            <a:ext cx="2108200" cy="25400"/>
          </a:xfrm>
          <a:prstGeom prst="rect">
            <a:avLst/>
          </a:prstGeom>
          <a:solidFill>
            <a:srgbClr val="29B8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A418E0B-5453-46B6-93DD-4302270D9843}"/>
              </a:ext>
            </a:extLst>
          </p:cNvPr>
          <p:cNvSpPr txBox="1"/>
          <p:nvPr/>
        </p:nvSpPr>
        <p:spPr>
          <a:xfrm>
            <a:off x="6172200" y="2222500"/>
            <a:ext cx="2108200" cy="1092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F7F8FA"/>
                </a:solidFill>
                <a:latin typeface="Arial" panose="020B0604020202020204" pitchFamily="34" charset="0"/>
              </a:rPr>
              <a:t>SRM alert rate: 5,26%
Binomial p-value: 0,3988
Balance threshold |SMD| &lt; 0,1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E59B8605-9A4B-0758-42D0-1D8E76D8E668}"/>
              </a:ext>
            </a:extLst>
          </p:cNvPr>
          <p:cNvSpPr/>
          <p:nvPr/>
        </p:nvSpPr>
        <p:spPr>
          <a:xfrm>
            <a:off x="863600" y="4051300"/>
            <a:ext cx="7416800" cy="965200"/>
          </a:xfrm>
          <a:prstGeom prst="roundRect">
            <a:avLst/>
          </a:prstGeom>
          <a:solidFill>
            <a:srgbClr val="1727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D121FAF-71B0-3BE0-BB3C-19B9FA050E75}"/>
              </a:ext>
            </a:extLst>
          </p:cNvPr>
          <p:cNvSpPr txBox="1"/>
          <p:nvPr/>
        </p:nvSpPr>
        <p:spPr>
          <a:xfrm>
            <a:off x="1117600" y="4241800"/>
            <a:ext cx="69088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vi-VN" sz="1500" b="1">
                <a:solidFill>
                  <a:srgbClr val="F7F8FA"/>
                </a:solidFill>
                <a:latin typeface="Arial" panose="020B0604020202020204" pitchFamily="34" charset="0"/>
              </a:rPr>
              <a:t>FPR và SRM nằm gần mức kỳ vọng: không phát hiện calibration issue đáng kể trong settings synthetic đã thử.</a:t>
            </a:r>
            <a:endParaRPr lang="en-US" sz="1500" b="1">
              <a:solidFill>
                <a:srgbClr val="F7F8FA"/>
              </a:solidFill>
              <a:latin typeface="Arial" panose="020B060402020202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B69FD9B-5761-E738-4F0F-0F7B9B2F4F67}"/>
              </a:ext>
            </a:extLst>
          </p:cNvPr>
          <p:cNvSpPr txBox="1"/>
          <p:nvPr/>
        </p:nvSpPr>
        <p:spPr>
          <a:xfrm>
            <a:off x="863600" y="5397500"/>
            <a:ext cx="74168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000" b="1">
                <a:solidFill>
                  <a:srgbClr val="FFB44D"/>
                </a:solidFill>
                <a:latin typeface="Arial" panose="020B0604020202020204" pitchFamily="34" charset="0"/>
              </a:rPr>
              <a:t>Không diễn giải A/A synthetic là bằng chứng production correctness.</a:t>
            </a:r>
          </a:p>
        </p:txBody>
      </p:sp>
    </p:spTree>
    <p:extLst>
      <p:ext uri="{BB962C8B-B14F-4D97-AF65-F5344CB8AC3E}">
        <p14:creationId xmlns:p14="http://schemas.microsoft.com/office/powerpoint/2010/main" val="11259970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405ABF9-6F83-DCC2-2062-CEAB280D245F}"/>
              </a:ext>
            </a:extLst>
          </p:cNvPr>
          <p:cNvSpPr/>
          <p:nvPr/>
        </p:nvSpPr>
        <p:spPr>
          <a:xfrm>
            <a:off x="365760" y="0"/>
            <a:ext cx="137160" cy="6858000"/>
          </a:xfrm>
          <a:prstGeom prst="rect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SlideTitle">
            <a:extLst>
              <a:ext uri="{FF2B5EF4-FFF2-40B4-BE49-F238E27FC236}">
                <a16:creationId xmlns:a16="http://schemas.microsoft.com/office/drawing/2014/main" id="{7C3EDBA6-1D87-6F32-EC15-53B07F31880F}"/>
              </a:ext>
            </a:extLst>
          </p:cNvPr>
          <p:cNvSpPr txBox="1"/>
          <p:nvPr/>
        </p:nvSpPr>
        <p:spPr>
          <a:xfrm>
            <a:off x="736600" y="228600"/>
            <a:ext cx="81534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800" b="1">
                <a:solidFill>
                  <a:srgbClr val="F7F8FA"/>
                </a:solidFill>
                <a:latin typeface="Arial" panose="020B0604020202020204" pitchFamily="34" charset="0"/>
              </a:rPr>
              <a:t>Appendix A2 — A/B: ATE dương nhưng ROI âm</a:t>
            </a:r>
          </a:p>
        </p:txBody>
      </p:sp>
      <p:sp>
        <p:nvSpPr>
          <p:cNvPr id="22" name="SlideSubtitle">
            <a:extLst>
              <a:ext uri="{FF2B5EF4-FFF2-40B4-BE49-F238E27FC236}">
                <a16:creationId xmlns:a16="http://schemas.microsoft.com/office/drawing/2014/main" id="{E78B4983-B40E-A8B2-EFDF-13EDD35F5C5D}"/>
              </a:ext>
            </a:extLst>
          </p:cNvPr>
          <p:cNvSpPr txBox="1"/>
          <p:nvPr/>
        </p:nvSpPr>
        <p:spPr>
          <a:xfrm>
            <a:off x="736600" y="762000"/>
            <a:ext cx="8001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vi-VN" sz="1700">
                <a:solidFill>
                  <a:srgbClr val="F7F8FA"/>
                </a:solidFill>
                <a:latin typeface="Arial" panose="020B0604020202020204" pitchFamily="34" charset="0"/>
              </a:rPr>
              <a:t>Randomized A/B trả lời effect trung bình; economics cần policy sâu hơn</a:t>
            </a:r>
            <a:endParaRPr lang="en-US" sz="1700">
              <a:solidFill>
                <a:srgbClr val="F7F8FA"/>
              </a:solidFill>
              <a:latin typeface="Arial" panose="020B06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9788C32-E6E5-D670-5983-A40127F9E2E4}"/>
              </a:ext>
            </a:extLst>
          </p:cNvPr>
          <p:cNvSpPr/>
          <p:nvPr/>
        </p:nvSpPr>
        <p:spPr>
          <a:xfrm>
            <a:off x="736600" y="1193800"/>
            <a:ext cx="2286000" cy="38100"/>
          </a:xfrm>
          <a:prstGeom prst="rect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1ABBD10-D3BE-4F5C-E522-0CF6D71FC0F5}"/>
              </a:ext>
            </a:extLst>
          </p:cNvPr>
          <p:cNvSpPr/>
          <p:nvPr/>
        </p:nvSpPr>
        <p:spPr>
          <a:xfrm>
            <a:off x="365760" y="6217920"/>
            <a:ext cx="8778240" cy="365760"/>
          </a:xfrm>
          <a:prstGeom prst="rect">
            <a:avLst/>
          </a:prstGeom>
          <a:solidFill>
            <a:srgbClr val="2459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1230D7-597C-109C-C458-0D13098E456D}"/>
              </a:ext>
            </a:extLst>
          </p:cNvPr>
          <p:cNvSpPr txBox="1"/>
          <p:nvPr/>
        </p:nvSpPr>
        <p:spPr>
          <a:xfrm>
            <a:off x="546100" y="6299200"/>
            <a:ext cx="4953000" cy="215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850">
                <a:solidFill>
                  <a:srgbClr val="F7F8FA"/>
                </a:solidFill>
                <a:latin typeface="Arial" panose="020B0604020202020204" pitchFamily="34" charset="0"/>
              </a:rPr>
              <a:t>GSM Promotion Experimentation • Mentor Rehearsal • Data Science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97DEC90-25FB-0FD3-F270-CE9636D872AA}"/>
              </a:ext>
            </a:extLst>
          </p:cNvPr>
          <p:cNvSpPr/>
          <p:nvPr/>
        </p:nvSpPr>
        <p:spPr>
          <a:xfrm>
            <a:off x="365760" y="6583680"/>
            <a:ext cx="8778240" cy="274320"/>
          </a:xfrm>
          <a:prstGeom prst="rect">
            <a:avLst/>
          </a:prstGeom>
          <a:solidFill>
            <a:srgbClr val="0A142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DAFDFD2-E798-4732-42F0-9389AE91C58F}"/>
              </a:ext>
            </a:extLst>
          </p:cNvPr>
          <p:cNvSpPr txBox="1"/>
          <p:nvPr/>
        </p:nvSpPr>
        <p:spPr>
          <a:xfrm>
            <a:off x="546100" y="6604000"/>
            <a:ext cx="3302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800">
                <a:solidFill>
                  <a:srgbClr val="F7F8FA"/>
                </a:solidFill>
                <a:latin typeface="Arial" panose="020B0604020202020204" pitchFamily="34" charset="0"/>
              </a:rPr>
              <a:t>Uplift Modeling &amp; Profit-aware Targeting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64423AA-A4CB-C108-A1F9-04EE1F950321}"/>
              </a:ext>
            </a:extLst>
          </p:cNvPr>
          <p:cNvSpPr txBox="1"/>
          <p:nvPr/>
        </p:nvSpPr>
        <p:spPr>
          <a:xfrm>
            <a:off x="8318500" y="6604000"/>
            <a:ext cx="6731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850" b="1">
                <a:solidFill>
                  <a:srgbClr val="F7F8FA"/>
                </a:solidFill>
                <a:latin typeface="Arial" panose="020B0604020202020204" pitchFamily="34" charset="0"/>
              </a:rPr>
              <a:t>A2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F42A67C-8A31-A2B5-863C-8552843F5942}"/>
              </a:ext>
            </a:extLst>
          </p:cNvPr>
          <p:cNvSpPr txBox="1"/>
          <p:nvPr/>
        </p:nvSpPr>
        <p:spPr>
          <a:xfrm>
            <a:off x="736600" y="1549400"/>
            <a:ext cx="23495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00" b="1">
                <a:solidFill>
                  <a:srgbClr val="25D0A2"/>
                </a:solidFill>
                <a:latin typeface="Arial" panose="020B0604020202020204" pitchFamily="34" charset="0"/>
              </a:rPr>
              <a:t>Tác động trung bình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72BD8CE-78D7-B982-212A-13439337259C}"/>
              </a:ext>
            </a:extLst>
          </p:cNvPr>
          <p:cNvSpPr/>
          <p:nvPr/>
        </p:nvSpPr>
        <p:spPr>
          <a:xfrm>
            <a:off x="736600" y="1854200"/>
            <a:ext cx="2349500" cy="25400"/>
          </a:xfrm>
          <a:prstGeom prst="rect">
            <a:avLst/>
          </a:prstGeom>
          <a:solidFill>
            <a:srgbClr val="25D0A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3CE9F0F-6CA8-0B55-5A00-8F541AE4C9F1}"/>
              </a:ext>
            </a:extLst>
          </p:cNvPr>
          <p:cNvSpPr txBox="1"/>
          <p:nvPr/>
        </p:nvSpPr>
        <p:spPr>
          <a:xfrm>
            <a:off x="736600" y="2095500"/>
            <a:ext cx="24130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4000" b="1">
                <a:solidFill>
                  <a:srgbClr val="25D0A2"/>
                </a:solidFill>
                <a:latin typeface="Arial" panose="020B0604020202020204" pitchFamily="34" charset="0"/>
              </a:rPr>
              <a:t>+0,95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796D42F-B3F4-ADC0-9272-9D060B7C05A4}"/>
              </a:ext>
            </a:extLst>
          </p:cNvPr>
          <p:cNvSpPr txBox="1"/>
          <p:nvPr/>
        </p:nvSpPr>
        <p:spPr>
          <a:xfrm>
            <a:off x="736600" y="2933700"/>
            <a:ext cx="2413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 b="1">
                <a:solidFill>
                  <a:srgbClr val="F7F8FA"/>
                </a:solidFill>
                <a:latin typeface="Arial" panose="020B0604020202020204" pitchFamily="34" charset="0"/>
              </a:rPr>
              <a:t>chuyến / khách hàng / 30 ngày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6DD3BFF-A473-FA4C-CEA5-7D568F775E73}"/>
              </a:ext>
            </a:extLst>
          </p:cNvPr>
          <p:cNvSpPr txBox="1"/>
          <p:nvPr/>
        </p:nvSpPr>
        <p:spPr>
          <a:xfrm>
            <a:off x="736600" y="3632200"/>
            <a:ext cx="24130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00">
                <a:solidFill>
                  <a:srgbClr val="B7C2D1"/>
                </a:solidFill>
                <a:latin typeface="Arial" panose="020B0604020202020204" pitchFamily="34" charset="0"/>
              </a:rPr>
              <a:t>95% CI: [0,76; 1,14]
Khoảng tin cậy hoàn toàn &gt; 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F708583-7EE3-106D-7345-86852E1F5932}"/>
              </a:ext>
            </a:extLst>
          </p:cNvPr>
          <p:cNvSpPr txBox="1"/>
          <p:nvPr/>
        </p:nvSpPr>
        <p:spPr>
          <a:xfrm>
            <a:off x="736600" y="4445000"/>
            <a:ext cx="2413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>
                <a:solidFill>
                  <a:srgbClr val="B7C2D1"/>
                </a:solidFill>
                <a:latin typeface="Arial" panose="020B0604020202020204" pitchFamily="34" charset="0"/>
              </a:rPr>
              <a:t>ATE đã hiệu chỉnh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A1BF640-4CED-56E0-3486-CBD5FC601ADE}"/>
              </a:ext>
            </a:extLst>
          </p:cNvPr>
          <p:cNvSpPr txBox="1"/>
          <p:nvPr/>
        </p:nvSpPr>
        <p:spPr>
          <a:xfrm>
            <a:off x="3581400" y="1549400"/>
            <a:ext cx="4826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vi-VN" sz="1200" b="1">
                <a:solidFill>
                  <a:srgbClr val="FF5D66"/>
                </a:solidFill>
                <a:latin typeface="Arial" panose="020B0604020202020204" pitchFamily="34" charset="0"/>
              </a:rPr>
              <a:t>Cùng persona: ATE dương | ROI âm</a:t>
            </a:r>
            <a:endParaRPr lang="en-US" sz="1200" b="1">
              <a:solidFill>
                <a:srgbClr val="FF5D66"/>
              </a:solidFill>
              <a:latin typeface="Arial" panose="020B0604020202020204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1FABB01-3071-45AD-CDE4-9E2F9D0F0C5F}"/>
              </a:ext>
            </a:extLst>
          </p:cNvPr>
          <p:cNvSpPr/>
          <p:nvPr/>
        </p:nvSpPr>
        <p:spPr>
          <a:xfrm>
            <a:off x="3581400" y="1854200"/>
            <a:ext cx="4826000" cy="25400"/>
          </a:xfrm>
          <a:prstGeom prst="rect">
            <a:avLst/>
          </a:prstGeom>
          <a:solidFill>
            <a:srgbClr val="FF5D6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3F87A7E-D404-C618-42C2-DC5A3FFDF3AD}"/>
              </a:ext>
            </a:extLst>
          </p:cNvPr>
          <p:cNvSpPr txBox="1"/>
          <p:nvPr/>
        </p:nvSpPr>
        <p:spPr>
          <a:xfrm>
            <a:off x="3581400" y="2006600"/>
            <a:ext cx="190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50" b="1">
                <a:solidFill>
                  <a:srgbClr val="B7C2D1"/>
                </a:solidFill>
                <a:latin typeface="Arial" panose="020B0604020202020204" pitchFamily="34" charset="0"/>
              </a:rPr>
              <a:t>Persona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76974E4-3B6F-333C-CE55-9AABF13C5927}"/>
              </a:ext>
            </a:extLst>
          </p:cNvPr>
          <p:cNvSpPr txBox="1"/>
          <p:nvPr/>
        </p:nvSpPr>
        <p:spPr>
          <a:xfrm>
            <a:off x="5524500" y="2006600"/>
            <a:ext cx="6096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950" b="1">
                <a:solidFill>
                  <a:srgbClr val="B7C2D1"/>
                </a:solidFill>
                <a:latin typeface="Arial" panose="020B0604020202020204" pitchFamily="34" charset="0"/>
              </a:rPr>
              <a:t>ATE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D17D945-D228-5E71-F04E-8E416C6FBEB5}"/>
              </a:ext>
            </a:extLst>
          </p:cNvPr>
          <p:cNvSpPr txBox="1"/>
          <p:nvPr/>
        </p:nvSpPr>
        <p:spPr>
          <a:xfrm>
            <a:off x="7239000" y="2006600"/>
            <a:ext cx="11684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950" b="1">
                <a:solidFill>
                  <a:srgbClr val="B7C2D1"/>
                </a:solidFill>
                <a:latin typeface="Arial" panose="020B0604020202020204" pitchFamily="34" charset="0"/>
              </a:rPr>
              <a:t>ROI  →  0%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6F8A9FF-F5BF-7F59-C798-DA732CDC62B2}"/>
              </a:ext>
            </a:extLst>
          </p:cNvPr>
          <p:cNvCxnSpPr/>
          <p:nvPr/>
        </p:nvCxnSpPr>
        <p:spPr>
          <a:xfrm>
            <a:off x="8407400" y="2235200"/>
            <a:ext cx="0" cy="2768600"/>
          </a:xfrm>
          <a:prstGeom prst="line">
            <a:avLst/>
          </a:prstGeom>
          <a:ln w="12700">
            <a:solidFill>
              <a:srgbClr val="6071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DF052010-C74D-0824-A31A-06D6190F8953}"/>
              </a:ext>
            </a:extLst>
          </p:cNvPr>
          <p:cNvSpPr txBox="1"/>
          <p:nvPr/>
        </p:nvSpPr>
        <p:spPr>
          <a:xfrm>
            <a:off x="3581400" y="2374900"/>
            <a:ext cx="18415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50" b="1">
                <a:solidFill>
                  <a:srgbClr val="F7F8FA"/>
                </a:solidFill>
                <a:latin typeface="Arial" panose="020B0604020202020204" pitchFamily="34" charset="0"/>
              </a:rPr>
              <a:t>Suburban Card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FF8601D-C574-6174-FA59-1A9DE8426BA2}"/>
              </a:ext>
            </a:extLst>
          </p:cNvPr>
          <p:cNvSpPr txBox="1"/>
          <p:nvPr/>
        </p:nvSpPr>
        <p:spPr>
          <a:xfrm>
            <a:off x="5473700" y="2374900"/>
            <a:ext cx="6604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050" b="1">
                <a:solidFill>
                  <a:srgbClr val="25D0A2"/>
                </a:solidFill>
                <a:latin typeface="Arial" panose="020B0604020202020204" pitchFamily="34" charset="0"/>
              </a:rPr>
              <a:t>+1,22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82BE74F-8BEE-9B62-5BD9-D50B7BEA7B21}"/>
              </a:ext>
            </a:extLst>
          </p:cNvPr>
          <p:cNvSpPr/>
          <p:nvPr/>
        </p:nvSpPr>
        <p:spPr>
          <a:xfrm>
            <a:off x="8234759" y="2387600"/>
            <a:ext cx="172641" cy="190500"/>
          </a:xfrm>
          <a:prstGeom prst="rect">
            <a:avLst/>
          </a:prstGeom>
          <a:solidFill>
            <a:srgbClr val="FF5D6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552228D-D3F4-71ED-2330-76553D653F6E}"/>
              </a:ext>
            </a:extLst>
          </p:cNvPr>
          <p:cNvSpPr txBox="1"/>
          <p:nvPr/>
        </p:nvSpPr>
        <p:spPr>
          <a:xfrm>
            <a:off x="6292453" y="2374900"/>
            <a:ext cx="762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950" b="1">
                <a:solidFill>
                  <a:srgbClr val="F7F8FA"/>
                </a:solidFill>
                <a:latin typeface="Arial" panose="020B0604020202020204" pitchFamily="34" charset="0"/>
              </a:rPr>
              <a:t>-7,5%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F212E33-2D55-9C24-F2DB-5847C5B1368D}"/>
              </a:ext>
            </a:extLst>
          </p:cNvPr>
          <p:cNvSpPr txBox="1"/>
          <p:nvPr/>
        </p:nvSpPr>
        <p:spPr>
          <a:xfrm>
            <a:off x="3581400" y="2895600"/>
            <a:ext cx="18415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50">
                <a:solidFill>
                  <a:srgbClr val="F7F8FA"/>
                </a:solidFill>
                <a:latin typeface="Arial" panose="020B0604020202020204" pitchFamily="34" charset="0"/>
              </a:rPr>
              <a:t>Suburban Cash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62AA266-A154-5203-5EC7-488DF2849E9D}"/>
              </a:ext>
            </a:extLst>
          </p:cNvPr>
          <p:cNvSpPr txBox="1"/>
          <p:nvPr/>
        </p:nvSpPr>
        <p:spPr>
          <a:xfrm>
            <a:off x="5473700" y="2895600"/>
            <a:ext cx="6604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050" b="1">
                <a:solidFill>
                  <a:srgbClr val="25D0A2"/>
                </a:solidFill>
                <a:latin typeface="Arial" panose="020B0604020202020204" pitchFamily="34" charset="0"/>
              </a:rPr>
              <a:t>+0,86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8EDC441-A8DC-22E7-FA6E-2F926B134F03}"/>
              </a:ext>
            </a:extLst>
          </p:cNvPr>
          <p:cNvSpPr/>
          <p:nvPr/>
        </p:nvSpPr>
        <p:spPr>
          <a:xfrm>
            <a:off x="8147288" y="2908300"/>
            <a:ext cx="260112" cy="190500"/>
          </a:xfrm>
          <a:prstGeom prst="rect">
            <a:avLst/>
          </a:prstGeom>
          <a:solidFill>
            <a:srgbClr val="FF5D6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0818B0D-740C-636A-0616-165ACF39BE08}"/>
              </a:ext>
            </a:extLst>
          </p:cNvPr>
          <p:cNvSpPr txBox="1"/>
          <p:nvPr/>
        </p:nvSpPr>
        <p:spPr>
          <a:xfrm>
            <a:off x="6263296" y="2895600"/>
            <a:ext cx="762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950" b="1">
                <a:solidFill>
                  <a:srgbClr val="F7F8FA"/>
                </a:solidFill>
                <a:latin typeface="Arial" panose="020B0604020202020204" pitchFamily="34" charset="0"/>
              </a:rPr>
              <a:t>-11,3%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D2EAD53-FF2B-D8E2-B4F1-A2A3BCB31DB3}"/>
              </a:ext>
            </a:extLst>
          </p:cNvPr>
          <p:cNvSpPr txBox="1"/>
          <p:nvPr/>
        </p:nvSpPr>
        <p:spPr>
          <a:xfrm>
            <a:off x="3581400" y="3416300"/>
            <a:ext cx="18415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50">
                <a:solidFill>
                  <a:srgbClr val="F7F8FA"/>
                </a:solidFill>
                <a:latin typeface="Arial" panose="020B0604020202020204" pitchFamily="34" charset="0"/>
              </a:rPr>
              <a:t>Rain Riders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2448447-7F65-C7D1-4822-584E544F3D4C}"/>
              </a:ext>
            </a:extLst>
          </p:cNvPr>
          <p:cNvSpPr txBox="1"/>
          <p:nvPr/>
        </p:nvSpPr>
        <p:spPr>
          <a:xfrm>
            <a:off x="5473700" y="3416300"/>
            <a:ext cx="6604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050" b="1">
                <a:solidFill>
                  <a:srgbClr val="25D0A2"/>
                </a:solidFill>
                <a:latin typeface="Arial" panose="020B0604020202020204" pitchFamily="34" charset="0"/>
              </a:rPr>
              <a:t>+1,12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61BC198-C2E7-597B-1FED-8863877630F2}"/>
              </a:ext>
            </a:extLst>
          </p:cNvPr>
          <p:cNvSpPr/>
          <p:nvPr/>
        </p:nvSpPr>
        <p:spPr>
          <a:xfrm>
            <a:off x="7046992" y="3429000"/>
            <a:ext cx="1360408" cy="190500"/>
          </a:xfrm>
          <a:prstGeom prst="rect">
            <a:avLst/>
          </a:prstGeom>
          <a:solidFill>
            <a:srgbClr val="FF5D6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6D32BAA-8C49-E2A5-2351-F1280B939A08}"/>
              </a:ext>
            </a:extLst>
          </p:cNvPr>
          <p:cNvSpPr txBox="1"/>
          <p:nvPr/>
        </p:nvSpPr>
        <p:spPr>
          <a:xfrm>
            <a:off x="5896531" y="3416300"/>
            <a:ext cx="762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950" b="1">
                <a:solidFill>
                  <a:srgbClr val="F7F8FA"/>
                </a:solidFill>
                <a:latin typeface="Arial" panose="020B0604020202020204" pitchFamily="34" charset="0"/>
              </a:rPr>
              <a:t>-59,1%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6E9A22F-30B0-315B-5786-5A43A0CE37C1}"/>
              </a:ext>
            </a:extLst>
          </p:cNvPr>
          <p:cNvSpPr txBox="1"/>
          <p:nvPr/>
        </p:nvSpPr>
        <p:spPr>
          <a:xfrm>
            <a:off x="3581400" y="3937000"/>
            <a:ext cx="18415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50">
                <a:solidFill>
                  <a:srgbClr val="F7F8FA"/>
                </a:solidFill>
                <a:latin typeface="Arial" panose="020B0604020202020204" pitchFamily="34" charset="0"/>
              </a:rPr>
              <a:t>Airport Business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1547180-36BE-0F7F-44D3-95A8C847F90B}"/>
              </a:ext>
            </a:extLst>
          </p:cNvPr>
          <p:cNvSpPr txBox="1"/>
          <p:nvPr/>
        </p:nvSpPr>
        <p:spPr>
          <a:xfrm>
            <a:off x="5473700" y="3937000"/>
            <a:ext cx="6604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050" b="1">
                <a:solidFill>
                  <a:srgbClr val="25D0A2"/>
                </a:solidFill>
                <a:latin typeface="Arial" panose="020B0604020202020204" pitchFamily="34" charset="0"/>
              </a:rPr>
              <a:t>+0,79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AD5FB43-36D6-8DFF-EE27-E5DFA6BDE452}"/>
              </a:ext>
            </a:extLst>
          </p:cNvPr>
          <p:cNvSpPr/>
          <p:nvPr/>
        </p:nvSpPr>
        <p:spPr>
          <a:xfrm>
            <a:off x="6952615" y="3949700"/>
            <a:ext cx="1454785" cy="190500"/>
          </a:xfrm>
          <a:prstGeom prst="rect">
            <a:avLst/>
          </a:prstGeom>
          <a:solidFill>
            <a:srgbClr val="FF5D6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AE35DC2-93BE-D669-220D-16948C3F900D}"/>
              </a:ext>
            </a:extLst>
          </p:cNvPr>
          <p:cNvSpPr txBox="1"/>
          <p:nvPr/>
        </p:nvSpPr>
        <p:spPr>
          <a:xfrm>
            <a:off x="5865072" y="3937000"/>
            <a:ext cx="762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950" b="1">
                <a:solidFill>
                  <a:srgbClr val="F7F8FA"/>
                </a:solidFill>
                <a:latin typeface="Arial" panose="020B0604020202020204" pitchFamily="34" charset="0"/>
              </a:rPr>
              <a:t>-63,2%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7A3A388-0605-D859-0EC3-262568BD7D13}"/>
              </a:ext>
            </a:extLst>
          </p:cNvPr>
          <p:cNvSpPr txBox="1"/>
          <p:nvPr/>
        </p:nvSpPr>
        <p:spPr>
          <a:xfrm>
            <a:off x="3581400" y="4457700"/>
            <a:ext cx="18415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50">
                <a:solidFill>
                  <a:srgbClr val="F7F8FA"/>
                </a:solidFill>
                <a:latin typeface="Arial" panose="020B0604020202020204" pitchFamily="34" charset="0"/>
              </a:rPr>
              <a:t>Urban Regulars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BF9564B-BB1A-F84E-F842-3AAFD8891358}"/>
              </a:ext>
            </a:extLst>
          </p:cNvPr>
          <p:cNvSpPr txBox="1"/>
          <p:nvPr/>
        </p:nvSpPr>
        <p:spPr>
          <a:xfrm>
            <a:off x="5473700" y="4457700"/>
            <a:ext cx="6604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050" b="1">
                <a:solidFill>
                  <a:srgbClr val="25D0A2"/>
                </a:solidFill>
                <a:latin typeface="Arial" panose="020B0604020202020204" pitchFamily="34" charset="0"/>
              </a:rPr>
              <a:t>+0,84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5971F47-3F1A-AE4E-C11A-F06BD445ECB4}"/>
              </a:ext>
            </a:extLst>
          </p:cNvPr>
          <p:cNvSpPr/>
          <p:nvPr/>
        </p:nvSpPr>
        <p:spPr>
          <a:xfrm>
            <a:off x="6724729" y="4470400"/>
            <a:ext cx="1682671" cy="190500"/>
          </a:xfrm>
          <a:prstGeom prst="rect">
            <a:avLst/>
          </a:prstGeom>
          <a:solidFill>
            <a:srgbClr val="FF5D6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718E201-222B-12A6-999B-97D0F3723C17}"/>
              </a:ext>
            </a:extLst>
          </p:cNvPr>
          <p:cNvSpPr txBox="1"/>
          <p:nvPr/>
        </p:nvSpPr>
        <p:spPr>
          <a:xfrm>
            <a:off x="5789110" y="4457700"/>
            <a:ext cx="762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950" b="1">
                <a:solidFill>
                  <a:srgbClr val="F7F8FA"/>
                </a:solidFill>
                <a:latin typeface="Arial" panose="020B0604020202020204" pitchFamily="34" charset="0"/>
              </a:rPr>
              <a:t>-73,1%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1DC3CFE1-BD68-8341-667B-7D4E8F15A320}"/>
              </a:ext>
            </a:extLst>
          </p:cNvPr>
          <p:cNvSpPr/>
          <p:nvPr/>
        </p:nvSpPr>
        <p:spPr>
          <a:xfrm>
            <a:off x="736600" y="5359400"/>
            <a:ext cx="7670800" cy="558800"/>
          </a:xfrm>
          <a:prstGeom prst="roundRect">
            <a:avLst/>
          </a:prstGeom>
          <a:solidFill>
            <a:srgbClr val="1727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A0B9FDD-58D2-A0A9-2032-C22A415D8B5C}"/>
              </a:ext>
            </a:extLst>
          </p:cNvPr>
          <p:cNvSpPr txBox="1"/>
          <p:nvPr/>
        </p:nvSpPr>
        <p:spPr>
          <a:xfrm>
            <a:off x="965200" y="5524500"/>
            <a:ext cx="7239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 b="1">
                <a:solidFill>
                  <a:srgbClr val="F7F8FA"/>
                </a:solidFill>
                <a:latin typeface="Arial" panose="020B0604020202020204" pitchFamily="34" charset="0"/>
              </a:rPr>
              <a:t>Response ≠ Profit  →  cần CATE cấp user + Expected Value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8C02AF2-10DE-0872-EB2E-F2B6DA2BA7A3}"/>
              </a:ext>
            </a:extLst>
          </p:cNvPr>
          <p:cNvSpPr txBox="1"/>
          <p:nvPr/>
        </p:nvSpPr>
        <p:spPr>
          <a:xfrm>
            <a:off x="3581400" y="5054600"/>
            <a:ext cx="4826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820">
                <a:solidFill>
                  <a:srgbClr val="B7C2D1"/>
                </a:solidFill>
                <a:latin typeface="Arial" panose="020B0604020202020204" pitchFamily="34" charset="0"/>
              </a:rPr>
              <a:t>ATE adjusted từ randomized outcome; ROI dùng synthetic Y0/Y1 benchmark.</a:t>
            </a:r>
          </a:p>
        </p:txBody>
      </p:sp>
    </p:spTree>
    <p:extLst>
      <p:ext uri="{BB962C8B-B14F-4D97-AF65-F5344CB8AC3E}">
        <p14:creationId xmlns:p14="http://schemas.microsoft.com/office/powerpoint/2010/main" val="39461234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D8C6D080-A199-F355-65C4-DE3D9FE8C4AD}"/>
              </a:ext>
            </a:extLst>
          </p:cNvPr>
          <p:cNvSpPr/>
          <p:nvPr/>
        </p:nvSpPr>
        <p:spPr>
          <a:xfrm>
            <a:off x="365760" y="0"/>
            <a:ext cx="137160" cy="6858000"/>
          </a:xfrm>
          <a:prstGeom prst="rect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SlideTitle">
            <a:extLst>
              <a:ext uri="{FF2B5EF4-FFF2-40B4-BE49-F238E27FC236}">
                <a16:creationId xmlns:a16="http://schemas.microsoft.com/office/drawing/2014/main" id="{F01A5468-CC9E-34FD-B53D-355F7C691CC0}"/>
              </a:ext>
            </a:extLst>
          </p:cNvPr>
          <p:cNvSpPr txBox="1"/>
          <p:nvPr/>
        </p:nvSpPr>
        <p:spPr>
          <a:xfrm>
            <a:off x="736600" y="228600"/>
            <a:ext cx="81534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900" b="1">
                <a:solidFill>
                  <a:srgbClr val="F7F8FA"/>
                </a:solidFill>
                <a:latin typeface="Arial" panose="020B0604020202020204" pitchFamily="34" charset="0"/>
              </a:rPr>
              <a:t>Appendix A3 — Qini và model champion</a:t>
            </a:r>
          </a:p>
        </p:txBody>
      </p:sp>
      <p:sp>
        <p:nvSpPr>
          <p:cNvPr id="22" name="SlideSubtitle">
            <a:extLst>
              <a:ext uri="{FF2B5EF4-FFF2-40B4-BE49-F238E27FC236}">
                <a16:creationId xmlns:a16="http://schemas.microsoft.com/office/drawing/2014/main" id="{21EE2EE6-53CB-34ED-9C59-55253B2F82A0}"/>
              </a:ext>
            </a:extLst>
          </p:cNvPr>
          <p:cNvSpPr txBox="1"/>
          <p:nvPr/>
        </p:nvSpPr>
        <p:spPr>
          <a:xfrm>
            <a:off x="736600" y="762000"/>
            <a:ext cx="8001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700">
                <a:solidFill>
                  <a:srgbClr val="F7F8FA"/>
                </a:solidFill>
                <a:latin typeface="Arial" panose="020B0604020202020204" pitchFamily="34" charset="0"/>
              </a:rPr>
              <a:t>Qini đánh giá ranking uplift, không phải calibration tuyệt đối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09CA441-CAB9-EF61-0D59-52ED1B9E6B1A}"/>
              </a:ext>
            </a:extLst>
          </p:cNvPr>
          <p:cNvSpPr/>
          <p:nvPr/>
        </p:nvSpPr>
        <p:spPr>
          <a:xfrm>
            <a:off x="736600" y="1193800"/>
            <a:ext cx="2286000" cy="38100"/>
          </a:xfrm>
          <a:prstGeom prst="rect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928ADC9-53AC-D1A2-C413-F65D9F20344A}"/>
              </a:ext>
            </a:extLst>
          </p:cNvPr>
          <p:cNvSpPr/>
          <p:nvPr/>
        </p:nvSpPr>
        <p:spPr>
          <a:xfrm>
            <a:off x="365760" y="6217920"/>
            <a:ext cx="8778240" cy="365760"/>
          </a:xfrm>
          <a:prstGeom prst="rect">
            <a:avLst/>
          </a:prstGeom>
          <a:solidFill>
            <a:srgbClr val="2459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6DF9BE8-A6C3-1676-B63D-FC8A96E84DD8}"/>
              </a:ext>
            </a:extLst>
          </p:cNvPr>
          <p:cNvSpPr txBox="1"/>
          <p:nvPr/>
        </p:nvSpPr>
        <p:spPr>
          <a:xfrm>
            <a:off x="546100" y="6299200"/>
            <a:ext cx="4953000" cy="215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850">
                <a:solidFill>
                  <a:srgbClr val="F7F8FA"/>
                </a:solidFill>
                <a:latin typeface="Arial" panose="020B0604020202020204" pitchFamily="34" charset="0"/>
              </a:rPr>
              <a:t>GSM Promotion Experimentation • Mentor Rehearsal • Data Science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DC9F3B1-51A9-CB57-B8BE-8F4FA3BE8D87}"/>
              </a:ext>
            </a:extLst>
          </p:cNvPr>
          <p:cNvSpPr/>
          <p:nvPr/>
        </p:nvSpPr>
        <p:spPr>
          <a:xfrm>
            <a:off x="365760" y="6583680"/>
            <a:ext cx="8778240" cy="274320"/>
          </a:xfrm>
          <a:prstGeom prst="rect">
            <a:avLst/>
          </a:prstGeom>
          <a:solidFill>
            <a:srgbClr val="0A142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40929FF-D7F2-A96C-91EF-5EA53EF5685A}"/>
              </a:ext>
            </a:extLst>
          </p:cNvPr>
          <p:cNvSpPr txBox="1"/>
          <p:nvPr/>
        </p:nvSpPr>
        <p:spPr>
          <a:xfrm>
            <a:off x="546100" y="6604000"/>
            <a:ext cx="3302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800">
                <a:solidFill>
                  <a:srgbClr val="F7F8FA"/>
                </a:solidFill>
                <a:latin typeface="Arial" panose="020B0604020202020204" pitchFamily="34" charset="0"/>
              </a:rPr>
              <a:t>Uplift Modeling &amp; Profit-aware Targeting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12B5799-591D-9A73-6676-211A41F41F41}"/>
              </a:ext>
            </a:extLst>
          </p:cNvPr>
          <p:cNvSpPr txBox="1"/>
          <p:nvPr/>
        </p:nvSpPr>
        <p:spPr>
          <a:xfrm>
            <a:off x="8318500" y="6604000"/>
            <a:ext cx="6731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850" b="1">
                <a:solidFill>
                  <a:srgbClr val="F7F8FA"/>
                </a:solidFill>
                <a:latin typeface="Arial" panose="020B0604020202020204" pitchFamily="34" charset="0"/>
              </a:rPr>
              <a:t>A3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A66FD9A-0DA3-C393-4E9F-F0879AFD10CE}"/>
              </a:ext>
            </a:extLst>
          </p:cNvPr>
          <p:cNvSpPr txBox="1"/>
          <p:nvPr/>
        </p:nvSpPr>
        <p:spPr>
          <a:xfrm>
            <a:off x="736600" y="1549400"/>
            <a:ext cx="2794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00" b="1">
                <a:solidFill>
                  <a:srgbClr val="29B8E8"/>
                </a:solidFill>
                <a:latin typeface="Arial" panose="020B0604020202020204" pitchFamily="34" charset="0"/>
              </a:rPr>
              <a:t>Qini Coefficient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703E435-D29E-896E-FF1D-74045E500674}"/>
              </a:ext>
            </a:extLst>
          </p:cNvPr>
          <p:cNvSpPr/>
          <p:nvPr/>
        </p:nvSpPr>
        <p:spPr>
          <a:xfrm>
            <a:off x="736600" y="1854200"/>
            <a:ext cx="2794000" cy="25400"/>
          </a:xfrm>
          <a:prstGeom prst="rect">
            <a:avLst/>
          </a:prstGeom>
          <a:solidFill>
            <a:srgbClr val="29B8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D53135D-40F7-3930-0019-3A9307E1660D}"/>
              </a:ext>
            </a:extLst>
          </p:cNvPr>
          <p:cNvSpPr txBox="1"/>
          <p:nvPr/>
        </p:nvSpPr>
        <p:spPr>
          <a:xfrm>
            <a:off x="736600" y="2235200"/>
            <a:ext cx="11684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50" b="1">
                <a:solidFill>
                  <a:srgbClr val="F7F8FA"/>
                </a:solidFill>
                <a:latin typeface="Arial" panose="020B0604020202020204" pitchFamily="34" charset="0"/>
              </a:rPr>
              <a:t>R-Learner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A3B49AE-C9C6-D54A-ED6B-96ABC47CF9DB}"/>
              </a:ext>
            </a:extLst>
          </p:cNvPr>
          <p:cNvSpPr/>
          <p:nvPr/>
        </p:nvSpPr>
        <p:spPr>
          <a:xfrm>
            <a:off x="2032000" y="2247900"/>
            <a:ext cx="1217676" cy="203200"/>
          </a:xfrm>
          <a:prstGeom prst="rect">
            <a:avLst/>
          </a:prstGeom>
          <a:solidFill>
            <a:srgbClr val="29B8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06F9787-F699-D330-8090-95805892F0CB}"/>
              </a:ext>
            </a:extLst>
          </p:cNvPr>
          <p:cNvSpPr txBox="1"/>
          <p:nvPr/>
        </p:nvSpPr>
        <p:spPr>
          <a:xfrm>
            <a:off x="3313176" y="2235200"/>
            <a:ext cx="6096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50" b="1">
                <a:solidFill>
                  <a:srgbClr val="29B8E8"/>
                </a:solidFill>
                <a:latin typeface="Arial" panose="020B0604020202020204" pitchFamily="34" charset="0"/>
              </a:rPr>
              <a:t>0,188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721386E-40BB-6D65-FA87-789C175CE701}"/>
              </a:ext>
            </a:extLst>
          </p:cNvPr>
          <p:cNvSpPr txBox="1"/>
          <p:nvPr/>
        </p:nvSpPr>
        <p:spPr>
          <a:xfrm>
            <a:off x="736600" y="2768600"/>
            <a:ext cx="11684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50">
                <a:solidFill>
                  <a:srgbClr val="F7F8FA"/>
                </a:solidFill>
                <a:latin typeface="Arial" panose="020B0604020202020204" pitchFamily="34" charset="0"/>
              </a:rPr>
              <a:t>S-Learner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51C6AAE-929E-0BCF-C48A-A77B733F404C}"/>
              </a:ext>
            </a:extLst>
          </p:cNvPr>
          <p:cNvSpPr/>
          <p:nvPr/>
        </p:nvSpPr>
        <p:spPr>
          <a:xfrm>
            <a:off x="2032000" y="2781300"/>
            <a:ext cx="990981" cy="203200"/>
          </a:xfrm>
          <a:prstGeom prst="rect">
            <a:avLst/>
          </a:prstGeom>
          <a:solidFill>
            <a:srgbClr val="25D0A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16FCB6D-B1CA-8A45-059D-DFC31E0425D0}"/>
              </a:ext>
            </a:extLst>
          </p:cNvPr>
          <p:cNvSpPr txBox="1"/>
          <p:nvPr/>
        </p:nvSpPr>
        <p:spPr>
          <a:xfrm>
            <a:off x="3086481" y="2768600"/>
            <a:ext cx="6096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50" b="1">
                <a:solidFill>
                  <a:srgbClr val="25D0A2"/>
                </a:solidFill>
                <a:latin typeface="Arial" panose="020B0604020202020204" pitchFamily="34" charset="0"/>
              </a:rPr>
              <a:t>0,153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8F88498-2033-F507-F5C7-2EAD0A138FCF}"/>
              </a:ext>
            </a:extLst>
          </p:cNvPr>
          <p:cNvSpPr txBox="1"/>
          <p:nvPr/>
        </p:nvSpPr>
        <p:spPr>
          <a:xfrm>
            <a:off x="736600" y="3302000"/>
            <a:ext cx="11684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50">
                <a:solidFill>
                  <a:srgbClr val="F7F8FA"/>
                </a:solidFill>
                <a:latin typeface="Arial" panose="020B0604020202020204" pitchFamily="34" charset="0"/>
              </a:rPr>
              <a:t>DR-Learner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7967DB3-6EF6-DAD8-5C23-632A669D4EAB}"/>
              </a:ext>
            </a:extLst>
          </p:cNvPr>
          <p:cNvSpPr/>
          <p:nvPr/>
        </p:nvSpPr>
        <p:spPr>
          <a:xfrm>
            <a:off x="2032000" y="3314700"/>
            <a:ext cx="893826" cy="203200"/>
          </a:xfrm>
          <a:prstGeom prst="rect">
            <a:avLst/>
          </a:prstGeom>
          <a:solidFill>
            <a:srgbClr val="E978C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8379B58-EFDD-D6BE-BFA4-DC833D78E03C}"/>
              </a:ext>
            </a:extLst>
          </p:cNvPr>
          <p:cNvSpPr txBox="1"/>
          <p:nvPr/>
        </p:nvSpPr>
        <p:spPr>
          <a:xfrm>
            <a:off x="2989326" y="3302000"/>
            <a:ext cx="6096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50" b="1">
                <a:solidFill>
                  <a:srgbClr val="E978C6"/>
                </a:solidFill>
                <a:latin typeface="Arial" panose="020B0604020202020204" pitchFamily="34" charset="0"/>
              </a:rPr>
              <a:t>0,138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7833720-58A2-4018-56D1-026A2FB1DD34}"/>
              </a:ext>
            </a:extLst>
          </p:cNvPr>
          <p:cNvSpPr txBox="1"/>
          <p:nvPr/>
        </p:nvSpPr>
        <p:spPr>
          <a:xfrm>
            <a:off x="736600" y="3835400"/>
            <a:ext cx="11684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50">
                <a:solidFill>
                  <a:srgbClr val="F7F8FA"/>
                </a:solidFill>
                <a:latin typeface="Arial" panose="020B0604020202020204" pitchFamily="34" charset="0"/>
              </a:rPr>
              <a:t>X-Learner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12AEE43-4F2B-D529-A4A3-3AFA3820DB9B}"/>
              </a:ext>
            </a:extLst>
          </p:cNvPr>
          <p:cNvSpPr/>
          <p:nvPr/>
        </p:nvSpPr>
        <p:spPr>
          <a:xfrm>
            <a:off x="2032000" y="3848100"/>
            <a:ext cx="246126" cy="203200"/>
          </a:xfrm>
          <a:prstGeom prst="rect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6C89F7D-7A9E-7580-A054-049F50696D61}"/>
              </a:ext>
            </a:extLst>
          </p:cNvPr>
          <p:cNvSpPr txBox="1"/>
          <p:nvPr/>
        </p:nvSpPr>
        <p:spPr>
          <a:xfrm>
            <a:off x="2341626" y="3835400"/>
            <a:ext cx="6096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50" b="1">
                <a:solidFill>
                  <a:srgbClr val="FFC000"/>
                </a:solidFill>
                <a:latin typeface="Arial" panose="020B0604020202020204" pitchFamily="34" charset="0"/>
              </a:rPr>
              <a:t>0,038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4CA80F6-AF56-A2D5-F79B-74DF39E94A8E}"/>
              </a:ext>
            </a:extLst>
          </p:cNvPr>
          <p:cNvSpPr txBox="1"/>
          <p:nvPr/>
        </p:nvSpPr>
        <p:spPr>
          <a:xfrm>
            <a:off x="736600" y="4368800"/>
            <a:ext cx="11684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50">
                <a:solidFill>
                  <a:srgbClr val="F7F8FA"/>
                </a:solidFill>
                <a:latin typeface="Arial" panose="020B0604020202020204" pitchFamily="34" charset="0"/>
              </a:rPr>
              <a:t>T-Learner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38EF85B-486C-548E-EE1D-648D3FF35709}"/>
              </a:ext>
            </a:extLst>
          </p:cNvPr>
          <p:cNvSpPr/>
          <p:nvPr/>
        </p:nvSpPr>
        <p:spPr>
          <a:xfrm>
            <a:off x="2032000" y="4381500"/>
            <a:ext cx="1486263" cy="203200"/>
          </a:xfrm>
          <a:prstGeom prst="rect">
            <a:avLst/>
          </a:prstGeom>
          <a:solidFill>
            <a:srgbClr val="FF5D6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9014654-B283-12AA-7C0B-756825C82857}"/>
              </a:ext>
            </a:extLst>
          </p:cNvPr>
          <p:cNvSpPr txBox="1"/>
          <p:nvPr/>
        </p:nvSpPr>
        <p:spPr>
          <a:xfrm>
            <a:off x="3581763" y="4368800"/>
            <a:ext cx="6096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50" b="1">
                <a:solidFill>
                  <a:srgbClr val="FF5D66"/>
                </a:solidFill>
                <a:latin typeface="Arial" panose="020B0604020202020204" pitchFamily="34" charset="0"/>
              </a:rPr>
              <a:t>-0,320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1B88C6E6-161A-9959-F7EB-39EA7CCD319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0500" y="1714500"/>
            <a:ext cx="4699000" cy="3302000"/>
          </a:xfrm>
          <a:prstGeom prst="rect">
            <a:avLst/>
          </a:prstGeom>
        </p:spPr>
      </p:pic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BCA3BA64-C525-B561-D85C-6EAD5D933446}"/>
              </a:ext>
            </a:extLst>
          </p:cNvPr>
          <p:cNvSpPr/>
          <p:nvPr/>
        </p:nvSpPr>
        <p:spPr>
          <a:xfrm>
            <a:off x="736600" y="5397500"/>
            <a:ext cx="7962900" cy="533400"/>
          </a:xfrm>
          <a:prstGeom prst="roundRect">
            <a:avLst/>
          </a:prstGeom>
          <a:solidFill>
            <a:srgbClr val="1727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36369A2-BD39-B603-45F6-74C924FF8201}"/>
              </a:ext>
            </a:extLst>
          </p:cNvPr>
          <p:cNvSpPr txBox="1"/>
          <p:nvPr/>
        </p:nvSpPr>
        <p:spPr>
          <a:xfrm>
            <a:off x="965200" y="5549900"/>
            <a:ext cx="7493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vi-VN" sz="1450" b="1">
                <a:solidFill>
                  <a:srgbClr val="F7F8FA"/>
                </a:solidFill>
                <a:latin typeface="Arial" panose="020B0604020202020204" pitchFamily="34" charset="0"/>
              </a:rPr>
              <a:t>R-Learner-style có ranking signal tốt nhất trong snapshot; vẫn cần calibration và pilot thật.</a:t>
            </a:r>
            <a:endParaRPr lang="en-US" sz="1450" b="1">
              <a:solidFill>
                <a:srgbClr val="F7F8FA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78695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A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60C43F06-5AEA-C2B9-8704-012031FFABC1}"/>
              </a:ext>
            </a:extLst>
          </p:cNvPr>
          <p:cNvSpPr/>
          <p:nvPr/>
        </p:nvSpPr>
        <p:spPr>
          <a:xfrm>
            <a:off x="365760" y="0"/>
            <a:ext cx="137160" cy="6858000"/>
          </a:xfrm>
          <a:prstGeom prst="rect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SlideTitle">
            <a:extLst>
              <a:ext uri="{FF2B5EF4-FFF2-40B4-BE49-F238E27FC236}">
                <a16:creationId xmlns:a16="http://schemas.microsoft.com/office/drawing/2014/main" id="{FE915942-9615-A22E-A704-B174C1553D35}"/>
              </a:ext>
            </a:extLst>
          </p:cNvPr>
          <p:cNvSpPr txBox="1"/>
          <p:nvPr/>
        </p:nvSpPr>
        <p:spPr>
          <a:xfrm>
            <a:off x="736600" y="228600"/>
            <a:ext cx="81534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500" b="1">
                <a:solidFill>
                  <a:srgbClr val="F7F8FA"/>
                </a:solidFill>
                <a:latin typeface="Arial" panose="020B0604020202020204" pitchFamily="34" charset="0"/>
              </a:rPr>
              <a:t>Appendix A4 — Expected Value và policy economics</a:t>
            </a:r>
          </a:p>
        </p:txBody>
      </p:sp>
      <p:sp>
        <p:nvSpPr>
          <p:cNvPr id="21" name="SlideSubtitle">
            <a:extLst>
              <a:ext uri="{FF2B5EF4-FFF2-40B4-BE49-F238E27FC236}">
                <a16:creationId xmlns:a16="http://schemas.microsoft.com/office/drawing/2014/main" id="{18025FF7-2DA0-E972-BD6B-C0ADF06EA057}"/>
              </a:ext>
            </a:extLst>
          </p:cNvPr>
          <p:cNvSpPr txBox="1"/>
          <p:nvPr/>
        </p:nvSpPr>
        <p:spPr>
          <a:xfrm>
            <a:off x="736600" y="762000"/>
            <a:ext cx="8001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700">
                <a:solidFill>
                  <a:srgbClr val="F7F8FA"/>
                </a:solidFill>
                <a:latin typeface="Arial" panose="020B0604020202020204" pitchFamily="34" charset="0"/>
              </a:rPr>
              <a:t>CATE chỉ là incremental rides; quyết định cần trừ voucher burn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6F96CE3-9404-9155-50CF-EEC0BA301EE6}"/>
              </a:ext>
            </a:extLst>
          </p:cNvPr>
          <p:cNvSpPr/>
          <p:nvPr/>
        </p:nvSpPr>
        <p:spPr>
          <a:xfrm>
            <a:off x="736600" y="1193800"/>
            <a:ext cx="2286000" cy="38100"/>
          </a:xfrm>
          <a:prstGeom prst="rect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06AB4DE-4E08-F3FA-DE45-6D20008F2B4D}"/>
              </a:ext>
            </a:extLst>
          </p:cNvPr>
          <p:cNvSpPr/>
          <p:nvPr/>
        </p:nvSpPr>
        <p:spPr>
          <a:xfrm>
            <a:off x="365760" y="6217920"/>
            <a:ext cx="8778240" cy="365760"/>
          </a:xfrm>
          <a:prstGeom prst="rect">
            <a:avLst/>
          </a:prstGeom>
          <a:solidFill>
            <a:srgbClr val="2459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24FBC69-AD06-CAE7-AD74-CD17C4A70083}"/>
              </a:ext>
            </a:extLst>
          </p:cNvPr>
          <p:cNvSpPr txBox="1"/>
          <p:nvPr/>
        </p:nvSpPr>
        <p:spPr>
          <a:xfrm>
            <a:off x="546100" y="6299200"/>
            <a:ext cx="4953000" cy="215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850">
                <a:solidFill>
                  <a:srgbClr val="F7F8FA"/>
                </a:solidFill>
                <a:latin typeface="Arial" panose="020B0604020202020204" pitchFamily="34" charset="0"/>
              </a:rPr>
              <a:t>GSM Promotion Experimentation • Mentor Rehearsal • Data Science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BFBA420-96E0-860B-7918-52D11DF51D23}"/>
              </a:ext>
            </a:extLst>
          </p:cNvPr>
          <p:cNvSpPr/>
          <p:nvPr/>
        </p:nvSpPr>
        <p:spPr>
          <a:xfrm>
            <a:off x="365760" y="6583680"/>
            <a:ext cx="8778240" cy="274320"/>
          </a:xfrm>
          <a:prstGeom prst="rect">
            <a:avLst/>
          </a:prstGeom>
          <a:solidFill>
            <a:srgbClr val="0A142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084403D-34FE-99A0-5E01-C52832C460FE}"/>
              </a:ext>
            </a:extLst>
          </p:cNvPr>
          <p:cNvSpPr txBox="1"/>
          <p:nvPr/>
        </p:nvSpPr>
        <p:spPr>
          <a:xfrm>
            <a:off x="546100" y="6604000"/>
            <a:ext cx="3302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800">
                <a:solidFill>
                  <a:srgbClr val="F7F8FA"/>
                </a:solidFill>
                <a:latin typeface="Arial" panose="020B0604020202020204" pitchFamily="34" charset="0"/>
              </a:rPr>
              <a:t>Uplift Modeling &amp; Profit-aware Targeting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03A9DCE-8221-CB5D-9159-4C59FD684E43}"/>
              </a:ext>
            </a:extLst>
          </p:cNvPr>
          <p:cNvSpPr txBox="1"/>
          <p:nvPr/>
        </p:nvSpPr>
        <p:spPr>
          <a:xfrm>
            <a:off x="8318500" y="6604000"/>
            <a:ext cx="6731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850" b="1">
                <a:solidFill>
                  <a:srgbClr val="F7F8FA"/>
                </a:solidFill>
                <a:latin typeface="Arial" panose="020B0604020202020204" pitchFamily="34" charset="0"/>
              </a:rPr>
              <a:t>A4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8216495A-EE82-C71B-17F0-701F4C86C2BC}"/>
              </a:ext>
            </a:extLst>
          </p:cNvPr>
          <p:cNvSpPr/>
          <p:nvPr/>
        </p:nvSpPr>
        <p:spPr>
          <a:xfrm>
            <a:off x="863600" y="1752600"/>
            <a:ext cx="7416800" cy="1219200"/>
          </a:xfrm>
          <a:prstGeom prst="roundRect">
            <a:avLst/>
          </a:prstGeom>
          <a:solidFill>
            <a:srgbClr val="172746"/>
          </a:solidFill>
          <a:ln w="12700">
            <a:solidFill>
              <a:srgbClr val="3446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123CC13-3229-1BEB-ED6D-73691E1CD8E7}"/>
              </a:ext>
            </a:extLst>
          </p:cNvPr>
          <p:cNvSpPr txBox="1"/>
          <p:nvPr/>
        </p:nvSpPr>
        <p:spPr>
          <a:xfrm>
            <a:off x="1117600" y="2032000"/>
            <a:ext cx="6908800" cy="660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900" b="1">
                <a:solidFill>
                  <a:srgbClr val="F7F8FA"/>
                </a:solidFill>
                <a:latin typeface="Arial" panose="020B0604020202020204" pitchFamily="34" charset="0"/>
              </a:rPr>
              <a:t>EVᵢ = CATEᵢ × margin_per_rideᵢ − Ŷᵢ(1) × voucher_cost_per_rideᵢ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BB5E7E4-5D02-CA71-FB15-778F939F10B0}"/>
              </a:ext>
            </a:extLst>
          </p:cNvPr>
          <p:cNvSpPr txBox="1"/>
          <p:nvPr/>
        </p:nvSpPr>
        <p:spPr>
          <a:xfrm>
            <a:off x="863600" y="3441700"/>
            <a:ext cx="3302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00" b="1">
                <a:solidFill>
                  <a:srgbClr val="FFC000"/>
                </a:solidFill>
                <a:latin typeface="Arial" panose="020B0604020202020204" pitchFamily="34" charset="0"/>
              </a:rPr>
              <a:t>Assumptions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C63E5C9-6AA9-7743-4412-FEE74FEF201A}"/>
              </a:ext>
            </a:extLst>
          </p:cNvPr>
          <p:cNvSpPr/>
          <p:nvPr/>
        </p:nvSpPr>
        <p:spPr>
          <a:xfrm>
            <a:off x="863600" y="3746500"/>
            <a:ext cx="3302000" cy="25400"/>
          </a:xfrm>
          <a:prstGeom prst="rect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0DC6C65-3665-01ED-E203-F989ACF6626B}"/>
              </a:ext>
            </a:extLst>
          </p:cNvPr>
          <p:cNvSpPr txBox="1"/>
          <p:nvPr/>
        </p:nvSpPr>
        <p:spPr>
          <a:xfrm>
            <a:off x="863600" y="3924300"/>
            <a:ext cx="3429000" cy="1206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F7F8FA"/>
                </a:solidFill>
                <a:latin typeface="Arial" panose="020B0604020202020204" pitchFamily="34" charset="0"/>
              </a:rPr>
              <a:t>• Voucher rate: 15%, không cap
• Contribution margin: 70%
• Budget: $50.000, hiện không binding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901CC0C-E95A-4800-A3FA-ABD5EAAAEEE9}"/>
              </a:ext>
            </a:extLst>
          </p:cNvPr>
          <p:cNvSpPr txBox="1"/>
          <p:nvPr/>
        </p:nvSpPr>
        <p:spPr>
          <a:xfrm>
            <a:off x="4826000" y="3441700"/>
            <a:ext cx="34544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00" b="1">
                <a:solidFill>
                  <a:srgbClr val="E978C6"/>
                </a:solidFill>
                <a:latin typeface="Arial" panose="020B0604020202020204" pitchFamily="34" charset="0"/>
              </a:rPr>
              <a:t>Snapshot kết quả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8BC3E19-8841-DA82-8B2D-F4527A49F6C6}"/>
              </a:ext>
            </a:extLst>
          </p:cNvPr>
          <p:cNvSpPr/>
          <p:nvPr/>
        </p:nvSpPr>
        <p:spPr>
          <a:xfrm>
            <a:off x="4826000" y="3746500"/>
            <a:ext cx="3454400" cy="25400"/>
          </a:xfrm>
          <a:prstGeom prst="rect">
            <a:avLst/>
          </a:prstGeom>
          <a:solidFill>
            <a:srgbClr val="E978C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DB507D3-84FA-2A1B-CE15-1C6E5AE24451}"/>
              </a:ext>
            </a:extLst>
          </p:cNvPr>
          <p:cNvSpPr txBox="1"/>
          <p:nvPr/>
        </p:nvSpPr>
        <p:spPr>
          <a:xfrm>
            <a:off x="4826000" y="3924300"/>
            <a:ext cx="3454400" cy="1206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F7F8FA"/>
                </a:solidFill>
                <a:latin typeface="Arial" panose="020B0604020202020204" pitchFamily="34" charset="0"/>
              </a:rPr>
              <a:t>• Profit Targeting chọn 888 / 4.000 users
• Predicted profit ≈ $7.939
• Synthetic benchmark profit ≈ $7.060</a:t>
            </a:r>
          </a:p>
        </p:txBody>
      </p:sp>
    </p:spTree>
    <p:extLst>
      <p:ext uri="{BB962C8B-B14F-4D97-AF65-F5344CB8AC3E}">
        <p14:creationId xmlns:p14="http://schemas.microsoft.com/office/powerpoint/2010/main" val="7709551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1A27C1FC-2598-B46A-55D4-E0B245E26874}"/>
              </a:ext>
            </a:extLst>
          </p:cNvPr>
          <p:cNvSpPr/>
          <p:nvPr/>
        </p:nvSpPr>
        <p:spPr>
          <a:xfrm>
            <a:off x="365760" y="0"/>
            <a:ext cx="137160" cy="6858000"/>
          </a:xfrm>
          <a:prstGeom prst="rect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SlideTitle">
            <a:extLst>
              <a:ext uri="{FF2B5EF4-FFF2-40B4-BE49-F238E27FC236}">
                <a16:creationId xmlns:a16="http://schemas.microsoft.com/office/drawing/2014/main" id="{395E611B-B458-8156-03A3-DEB45D38EA26}"/>
              </a:ext>
            </a:extLst>
          </p:cNvPr>
          <p:cNvSpPr txBox="1"/>
          <p:nvPr/>
        </p:nvSpPr>
        <p:spPr>
          <a:xfrm>
            <a:off x="736600" y="228600"/>
            <a:ext cx="81534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800" b="1">
                <a:solidFill>
                  <a:srgbClr val="F7F8FA"/>
                </a:solidFill>
                <a:latin typeface="Arial" panose="020B0604020202020204" pitchFamily="34" charset="0"/>
              </a:rPr>
              <a:t>Appendix A5 — Stress test</a:t>
            </a:r>
          </a:p>
        </p:txBody>
      </p:sp>
      <p:sp>
        <p:nvSpPr>
          <p:cNvPr id="21" name="SlideSubtitle">
            <a:extLst>
              <a:ext uri="{FF2B5EF4-FFF2-40B4-BE49-F238E27FC236}">
                <a16:creationId xmlns:a16="http://schemas.microsoft.com/office/drawing/2014/main" id="{21058BFE-5E2F-7CC9-7416-1C4F7C1577EE}"/>
              </a:ext>
            </a:extLst>
          </p:cNvPr>
          <p:cNvSpPr txBox="1"/>
          <p:nvPr/>
        </p:nvSpPr>
        <p:spPr>
          <a:xfrm>
            <a:off x="736600" y="762000"/>
            <a:ext cx="8001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fr-FR" sz="1700">
                <a:solidFill>
                  <a:srgbClr val="F7F8FA"/>
                </a:solidFill>
                <a:latin typeface="Arial" panose="020B0604020202020204" pitchFamily="34" charset="0"/>
              </a:rPr>
              <a:t>False positive, sample imbalance và outcome noise trong synthetic scenarios</a:t>
            </a:r>
            <a:endParaRPr lang="en-US" sz="1700">
              <a:solidFill>
                <a:srgbClr val="F7F8FA"/>
              </a:solidFill>
              <a:latin typeface="Arial" panose="020B06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E302953-0626-7687-B5D2-C905793B55EC}"/>
              </a:ext>
            </a:extLst>
          </p:cNvPr>
          <p:cNvSpPr/>
          <p:nvPr/>
        </p:nvSpPr>
        <p:spPr>
          <a:xfrm>
            <a:off x="736600" y="1193800"/>
            <a:ext cx="2286000" cy="38100"/>
          </a:xfrm>
          <a:prstGeom prst="rect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D249B11-6625-E989-67B0-303577B2C0D9}"/>
              </a:ext>
            </a:extLst>
          </p:cNvPr>
          <p:cNvSpPr/>
          <p:nvPr/>
        </p:nvSpPr>
        <p:spPr>
          <a:xfrm>
            <a:off x="365760" y="6217920"/>
            <a:ext cx="8778240" cy="365760"/>
          </a:xfrm>
          <a:prstGeom prst="rect">
            <a:avLst/>
          </a:prstGeom>
          <a:solidFill>
            <a:srgbClr val="2459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0AFB217-A264-B3DA-D6A2-2FE26E47D558}"/>
              </a:ext>
            </a:extLst>
          </p:cNvPr>
          <p:cNvSpPr txBox="1"/>
          <p:nvPr/>
        </p:nvSpPr>
        <p:spPr>
          <a:xfrm>
            <a:off x="546100" y="6299200"/>
            <a:ext cx="4953000" cy="215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850">
                <a:solidFill>
                  <a:srgbClr val="F7F8FA"/>
                </a:solidFill>
                <a:latin typeface="Arial" panose="020B0604020202020204" pitchFamily="34" charset="0"/>
              </a:rPr>
              <a:t>GSM Promotion Experimentation • Mentor Rehearsal • Data Science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F6731E2-F597-0869-B761-93F8CA2584B6}"/>
              </a:ext>
            </a:extLst>
          </p:cNvPr>
          <p:cNvSpPr/>
          <p:nvPr/>
        </p:nvSpPr>
        <p:spPr>
          <a:xfrm>
            <a:off x="365760" y="6583680"/>
            <a:ext cx="8778240" cy="274320"/>
          </a:xfrm>
          <a:prstGeom prst="rect">
            <a:avLst/>
          </a:prstGeom>
          <a:solidFill>
            <a:srgbClr val="0A142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B193E9F-9C0A-EF77-2008-FE9825D607D4}"/>
              </a:ext>
            </a:extLst>
          </p:cNvPr>
          <p:cNvSpPr txBox="1"/>
          <p:nvPr/>
        </p:nvSpPr>
        <p:spPr>
          <a:xfrm>
            <a:off x="546100" y="6604000"/>
            <a:ext cx="3302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800">
                <a:solidFill>
                  <a:srgbClr val="F7F8FA"/>
                </a:solidFill>
                <a:latin typeface="Arial" panose="020B0604020202020204" pitchFamily="34" charset="0"/>
              </a:rPr>
              <a:t>Uplift Modeling &amp; Profit-aware Targeting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ABA6D47-EFB0-900C-B398-A03C6C585A2E}"/>
              </a:ext>
            </a:extLst>
          </p:cNvPr>
          <p:cNvSpPr txBox="1"/>
          <p:nvPr/>
        </p:nvSpPr>
        <p:spPr>
          <a:xfrm>
            <a:off x="8318500" y="6604000"/>
            <a:ext cx="6731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850" b="1">
                <a:solidFill>
                  <a:srgbClr val="F7F8FA"/>
                </a:solidFill>
                <a:latin typeface="Arial" panose="020B0604020202020204" pitchFamily="34" charset="0"/>
              </a:rPr>
              <a:t>A5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B93F47E-83A9-BCDE-9F84-6E8A9BDEC1D3}"/>
              </a:ext>
            </a:extLst>
          </p:cNvPr>
          <p:cNvSpPr txBox="1"/>
          <p:nvPr/>
        </p:nvSpPr>
        <p:spPr>
          <a:xfrm>
            <a:off x="1041400" y="1600200"/>
            <a:ext cx="1905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 b="1">
                <a:solidFill>
                  <a:srgbClr val="B7C2D1"/>
                </a:solidFill>
                <a:latin typeface="Arial" panose="020B0604020202020204" pitchFamily="34" charset="0"/>
              </a:rPr>
              <a:t>Stress test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A6AB516-E839-CEE7-FED6-8BB0331BEA62}"/>
              </a:ext>
            </a:extLst>
          </p:cNvPr>
          <p:cNvSpPr txBox="1"/>
          <p:nvPr/>
        </p:nvSpPr>
        <p:spPr>
          <a:xfrm>
            <a:off x="3492500" y="1600200"/>
            <a:ext cx="2159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 b="1">
                <a:solidFill>
                  <a:srgbClr val="B7C2D1"/>
                </a:solidFill>
                <a:latin typeface="Arial" panose="020B0604020202020204" pitchFamily="34" charset="0"/>
              </a:rPr>
              <a:t>Kết quả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BF68940-635B-1E09-C0D8-17BE9D12F67E}"/>
              </a:ext>
            </a:extLst>
          </p:cNvPr>
          <p:cNvSpPr txBox="1"/>
          <p:nvPr/>
        </p:nvSpPr>
        <p:spPr>
          <a:xfrm>
            <a:off x="6223000" y="1600200"/>
            <a:ext cx="2159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 b="1">
                <a:solidFill>
                  <a:srgbClr val="B7C2D1"/>
                </a:solidFill>
                <a:latin typeface="Arial" panose="020B0604020202020204" pitchFamily="34" charset="0"/>
              </a:rPr>
              <a:t>Diễn giải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C3A2AF2D-68D1-E43C-4499-26500F50D027}"/>
              </a:ext>
            </a:extLst>
          </p:cNvPr>
          <p:cNvSpPr/>
          <p:nvPr/>
        </p:nvSpPr>
        <p:spPr>
          <a:xfrm>
            <a:off x="787400" y="2095500"/>
            <a:ext cx="342900" cy="342900"/>
          </a:xfrm>
          <a:prstGeom prst="ellipse">
            <a:avLst/>
          </a:prstGeom>
          <a:solidFill>
            <a:srgbClr val="25D0A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7967174-207F-15A9-CE74-FB70ED7516EC}"/>
              </a:ext>
            </a:extLst>
          </p:cNvPr>
          <p:cNvSpPr txBox="1"/>
          <p:nvPr/>
        </p:nvSpPr>
        <p:spPr>
          <a:xfrm>
            <a:off x="863600" y="2171700"/>
            <a:ext cx="1905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900" b="1">
                <a:solidFill>
                  <a:srgbClr val="0A1423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C9BC6CC-2085-FE45-B343-1239AD37DA89}"/>
              </a:ext>
            </a:extLst>
          </p:cNvPr>
          <p:cNvSpPr txBox="1"/>
          <p:nvPr/>
        </p:nvSpPr>
        <p:spPr>
          <a:xfrm>
            <a:off x="1282700" y="2146300"/>
            <a:ext cx="19685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00" b="1">
                <a:solidFill>
                  <a:srgbClr val="F7F8FA"/>
                </a:solidFill>
                <a:latin typeface="Arial" panose="020B0604020202020204" pitchFamily="34" charset="0"/>
              </a:rPr>
              <a:t>A/A • 5.000 runs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DFE28FC-BCAA-84B1-82F0-69C6CB49C11E}"/>
              </a:ext>
            </a:extLst>
          </p:cNvPr>
          <p:cNvSpPr txBox="1"/>
          <p:nvPr/>
        </p:nvSpPr>
        <p:spPr>
          <a:xfrm>
            <a:off x="3492500" y="2146300"/>
            <a:ext cx="23495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50" b="1">
                <a:solidFill>
                  <a:srgbClr val="25D0A2"/>
                </a:solidFill>
                <a:latin typeface="Arial" panose="020B0604020202020204" pitchFamily="34" charset="0"/>
              </a:rPr>
              <a:t>FPR 5,04%  ≈  alpha 5%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B57AA32-DF71-0911-A291-EBFAC3A8CD88}"/>
              </a:ext>
            </a:extLst>
          </p:cNvPr>
          <p:cNvSpPr txBox="1"/>
          <p:nvPr/>
        </p:nvSpPr>
        <p:spPr>
          <a:xfrm>
            <a:off x="6223000" y="2146300"/>
            <a:ext cx="22225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50">
                <a:solidFill>
                  <a:srgbClr val="F7F8FA"/>
                </a:solidFill>
                <a:latin typeface="Arial" panose="020B0604020202020204" pitchFamily="34" charset="0"/>
              </a:rPr>
              <a:t>False-positive đúng mức thiết kế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3EB35BB-7610-FDD0-EB8B-4464830CAE09}"/>
              </a:ext>
            </a:extLst>
          </p:cNvPr>
          <p:cNvCxnSpPr/>
          <p:nvPr/>
        </p:nvCxnSpPr>
        <p:spPr>
          <a:xfrm>
            <a:off x="736600" y="2870200"/>
            <a:ext cx="7670800" cy="0"/>
          </a:xfrm>
          <a:prstGeom prst="line">
            <a:avLst/>
          </a:prstGeom>
          <a:ln w="12700">
            <a:solidFill>
              <a:srgbClr val="3446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>
            <a:extLst>
              <a:ext uri="{FF2B5EF4-FFF2-40B4-BE49-F238E27FC236}">
                <a16:creationId xmlns:a16="http://schemas.microsoft.com/office/drawing/2014/main" id="{00A0E810-4B5B-4ACB-0D17-AE74F5338BBC}"/>
              </a:ext>
            </a:extLst>
          </p:cNvPr>
          <p:cNvSpPr/>
          <p:nvPr/>
        </p:nvSpPr>
        <p:spPr>
          <a:xfrm>
            <a:off x="787400" y="3136900"/>
            <a:ext cx="342900" cy="342900"/>
          </a:xfrm>
          <a:prstGeom prst="ellipse">
            <a:avLst/>
          </a:prstGeom>
          <a:solidFill>
            <a:srgbClr val="FFB4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CACE849-934B-3419-4A78-3BB7A393B116}"/>
              </a:ext>
            </a:extLst>
          </p:cNvPr>
          <p:cNvSpPr txBox="1"/>
          <p:nvPr/>
        </p:nvSpPr>
        <p:spPr>
          <a:xfrm>
            <a:off x="863600" y="3213100"/>
            <a:ext cx="1905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900" b="1">
                <a:solidFill>
                  <a:srgbClr val="0A1423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51B57B7-EA72-4D85-2976-5324761444A6}"/>
              </a:ext>
            </a:extLst>
          </p:cNvPr>
          <p:cNvSpPr txBox="1"/>
          <p:nvPr/>
        </p:nvSpPr>
        <p:spPr>
          <a:xfrm>
            <a:off x="1282700" y="3187700"/>
            <a:ext cx="19685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00" b="1">
                <a:solidFill>
                  <a:srgbClr val="F7F8FA"/>
                </a:solidFill>
                <a:latin typeface="Arial" panose="020B0604020202020204" pitchFamily="34" charset="0"/>
              </a:rPr>
              <a:t>Treatment 10/90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7D225BD-6A19-BC46-1879-044686B5314A}"/>
              </a:ext>
            </a:extLst>
          </p:cNvPr>
          <p:cNvSpPr txBox="1"/>
          <p:nvPr/>
        </p:nvSpPr>
        <p:spPr>
          <a:xfrm>
            <a:off x="3492500" y="3187700"/>
            <a:ext cx="23495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50" b="1">
                <a:solidFill>
                  <a:srgbClr val="FFB44D"/>
                </a:solidFill>
                <a:latin typeface="Arial" panose="020B0604020202020204" pitchFamily="34" charset="0"/>
              </a:rPr>
              <a:t>SD 0,157 vs 0,093  (+69%)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2F3AB36-7BFE-C2ED-38F5-2D190AA9D3FA}"/>
              </a:ext>
            </a:extLst>
          </p:cNvPr>
          <p:cNvSpPr txBox="1"/>
          <p:nvPr/>
        </p:nvSpPr>
        <p:spPr>
          <a:xfrm>
            <a:off x="6223000" y="3187700"/>
            <a:ext cx="22225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50">
                <a:solidFill>
                  <a:srgbClr val="F7F8FA"/>
                </a:solidFill>
                <a:latin typeface="Arial" panose="020B0604020202020204" pitchFamily="34" charset="0"/>
              </a:rPr>
              <a:t>Bias nhỏ; uncertainty tăng rõ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3BBB88B7-48BB-C956-A593-A6D2982A42C6}"/>
              </a:ext>
            </a:extLst>
          </p:cNvPr>
          <p:cNvCxnSpPr/>
          <p:nvPr/>
        </p:nvCxnSpPr>
        <p:spPr>
          <a:xfrm>
            <a:off x="736600" y="3911600"/>
            <a:ext cx="7670800" cy="0"/>
          </a:xfrm>
          <a:prstGeom prst="line">
            <a:avLst/>
          </a:prstGeom>
          <a:ln w="12700">
            <a:solidFill>
              <a:srgbClr val="3446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057FBE17-A3B9-1BD9-097F-BE7D676127D7}"/>
              </a:ext>
            </a:extLst>
          </p:cNvPr>
          <p:cNvSpPr/>
          <p:nvPr/>
        </p:nvSpPr>
        <p:spPr>
          <a:xfrm>
            <a:off x="787400" y="4178300"/>
            <a:ext cx="342900" cy="342900"/>
          </a:xfrm>
          <a:prstGeom prst="ellipse">
            <a:avLst/>
          </a:prstGeom>
          <a:solidFill>
            <a:srgbClr val="29B8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EAE0C4C-984A-6572-CD3B-5FC50A9A3AE9}"/>
              </a:ext>
            </a:extLst>
          </p:cNvPr>
          <p:cNvSpPr txBox="1"/>
          <p:nvPr/>
        </p:nvSpPr>
        <p:spPr>
          <a:xfrm>
            <a:off x="863600" y="4254500"/>
            <a:ext cx="1905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900" b="1">
                <a:solidFill>
                  <a:srgbClr val="0A1423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AA78CAB-43D4-9723-09C3-86D7C3704CFE}"/>
              </a:ext>
            </a:extLst>
          </p:cNvPr>
          <p:cNvSpPr txBox="1"/>
          <p:nvPr/>
        </p:nvSpPr>
        <p:spPr>
          <a:xfrm>
            <a:off x="1282700" y="4229100"/>
            <a:ext cx="19685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00" b="1">
                <a:solidFill>
                  <a:srgbClr val="F7F8FA"/>
                </a:solidFill>
                <a:latin typeface="Arial" panose="020B0604020202020204" pitchFamily="34" charset="0"/>
              </a:rPr>
              <a:t>Gaussian noise SD=1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2194C7A-1969-FBE0-B7A5-6EE84F17C1AB}"/>
              </a:ext>
            </a:extLst>
          </p:cNvPr>
          <p:cNvSpPr txBox="1"/>
          <p:nvPr/>
        </p:nvSpPr>
        <p:spPr>
          <a:xfrm>
            <a:off x="3492500" y="4229100"/>
            <a:ext cx="23495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50" b="1">
                <a:solidFill>
                  <a:srgbClr val="29B8E8"/>
                </a:solidFill>
                <a:latin typeface="Arial" panose="020B0604020202020204" pitchFamily="34" charset="0"/>
              </a:rPr>
              <a:t>SD 0,092 vs 0,091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472ECB-481D-1C87-2A14-21E7499A92DA}"/>
              </a:ext>
            </a:extLst>
          </p:cNvPr>
          <p:cNvSpPr txBox="1"/>
          <p:nvPr/>
        </p:nvSpPr>
        <p:spPr>
          <a:xfrm>
            <a:off x="6223000" y="4229100"/>
            <a:ext cx="22225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50">
                <a:solidFill>
                  <a:srgbClr val="F7F8FA"/>
                </a:solidFill>
                <a:latin typeface="Arial" panose="020B0604020202020204" pitchFamily="34" charset="0"/>
              </a:rPr>
              <a:t>Uncertainty chỉ tăng nhẹ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5A0464CF-AAD5-590A-1B2F-1E99485E9F40}"/>
              </a:ext>
            </a:extLst>
          </p:cNvPr>
          <p:cNvSpPr/>
          <p:nvPr/>
        </p:nvSpPr>
        <p:spPr>
          <a:xfrm>
            <a:off x="736600" y="5346700"/>
            <a:ext cx="7670800" cy="558800"/>
          </a:xfrm>
          <a:prstGeom prst="roundRect">
            <a:avLst/>
          </a:prstGeom>
          <a:solidFill>
            <a:srgbClr val="111C30"/>
          </a:solidFill>
          <a:ln w="12700">
            <a:solidFill>
              <a:srgbClr val="FFB4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237A001-E745-F918-A6F1-6DBE1CD35D8A}"/>
              </a:ext>
            </a:extLst>
          </p:cNvPr>
          <p:cNvSpPr txBox="1"/>
          <p:nvPr/>
        </p:nvSpPr>
        <p:spPr>
          <a:xfrm>
            <a:off x="965200" y="5435600"/>
            <a:ext cx="72136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vi-VN" sz="1250" b="1">
                <a:solidFill>
                  <a:srgbClr val="FFB44D"/>
                </a:solidFill>
                <a:latin typeface="Arial" panose="020B0604020202020204" pitchFamily="34" charset="0"/>
              </a:rPr>
              <a:t>Kết luận đúng phạm vi: robust trong scenarios synthetic đã thử, chưa phải production validation.</a:t>
            </a:r>
            <a:endParaRPr lang="en-US" sz="1250" b="1">
              <a:solidFill>
                <a:srgbClr val="FFB44D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25584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2088</Words>
  <Application>Microsoft Office PowerPoint</Application>
  <PresentationFormat>On-screen Show (4:3)</PresentationFormat>
  <Paragraphs>254</Paragraphs>
  <Slides>12</Slides>
  <Notes>12</Notes>
  <HiddenSlides>3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Bui Van Thai</dc:creator>
  <cp:lastModifiedBy>Bui Van Thai</cp:lastModifiedBy>
  <cp:revision>11</cp:revision>
  <dcterms:created xsi:type="dcterms:W3CDTF">2026-08-20T07:31:59Z</dcterms:created>
  <dcterms:modified xsi:type="dcterms:W3CDTF">2026-08-21T02:54:18Z</dcterms:modified>
</cp:coreProperties>
</file>